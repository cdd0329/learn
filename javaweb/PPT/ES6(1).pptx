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9" r:id="rId2"/>
    <p:sldId id="282" r:id="rId3"/>
    <p:sldId id="284" r:id="rId4"/>
    <p:sldId id="285" r:id="rId5"/>
    <p:sldId id="286" r:id="rId6"/>
    <p:sldId id="287" r:id="rId7"/>
    <p:sldId id="288" r:id="rId8"/>
    <p:sldId id="289" r:id="rId9"/>
    <p:sldId id="291" r:id="rId10"/>
    <p:sldId id="283" r:id="rId11"/>
    <p:sldId id="290" r:id="rId12"/>
    <p:sldId id="292" r:id="rId13"/>
    <p:sldId id="294" r:id="rId14"/>
    <p:sldId id="295" r:id="rId15"/>
    <p:sldId id="296" r:id="rId16"/>
    <p:sldId id="297" r:id="rId17"/>
    <p:sldId id="298" r:id="rId18"/>
    <p:sldId id="293" r:id="rId19"/>
    <p:sldId id="299" r:id="rId20"/>
    <p:sldId id="300" r:id="rId21"/>
    <p:sldId id="303" r:id="rId22"/>
    <p:sldId id="301" r:id="rId23"/>
    <p:sldId id="302" r:id="rId24"/>
    <p:sldId id="304" r:id="rId25"/>
    <p:sldId id="305" r:id="rId26"/>
    <p:sldId id="306" r:id="rId27"/>
    <p:sldId id="307" r:id="rId28"/>
    <p:sldId id="308" r:id="rId29"/>
    <p:sldId id="309" r:id="rId30"/>
    <p:sldId id="310" r:id="rId31"/>
    <p:sldId id="311" r:id="rId3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1pPr>
    <a:lvl2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2pPr>
    <a:lvl3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3pPr>
    <a:lvl4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4pPr>
    <a:lvl5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5pPr>
    <a:lvl6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6pPr>
    <a:lvl7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7pPr>
    <a:lvl8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8pPr>
    <a:lvl9pPr marL="0" marR="0" indent="0" algn="l" defTabSz="914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defRPr kumimoji="0" sz="3200" b="0" i="0" u="none" strike="noStrike" cap="none" spc="0" normalizeH="0" baseline="0">
        <a:ln>
          <a:noFill/>
        </a:ln>
        <a:solidFill>
          <a:srgbClr val="404040"/>
        </a:solidFill>
        <a:effectLst/>
        <a:uFillTx/>
        <a:latin typeface="+mn-lt"/>
        <a:ea typeface="+mn-ea"/>
        <a:cs typeface="+mn-cs"/>
        <a:sym typeface="PingFang SC Regular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886"/>
    <a:srgbClr val="F5C1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4"/>
  </p:normalViewPr>
  <p:slideViewPr>
    <p:cSldViewPr snapToGrid="0">
      <p:cViewPr varScale="1">
        <p:scale>
          <a:sx n="64" d="100"/>
          <a:sy n="64" d="100"/>
        </p:scale>
        <p:origin x="90" y="2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559603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PingFang SC Regular"/>
      </a:defRPr>
    </a:lvl1pPr>
    <a:lvl2pPr indent="228600" latinLnBrk="0">
      <a:defRPr sz="1200">
        <a:latin typeface="+mn-lt"/>
        <a:ea typeface="+mn-ea"/>
        <a:cs typeface="+mn-cs"/>
        <a:sym typeface="PingFang SC Regular"/>
      </a:defRPr>
    </a:lvl2pPr>
    <a:lvl3pPr indent="457200" latinLnBrk="0">
      <a:defRPr sz="1200">
        <a:latin typeface="+mn-lt"/>
        <a:ea typeface="+mn-ea"/>
        <a:cs typeface="+mn-cs"/>
        <a:sym typeface="PingFang SC Regular"/>
      </a:defRPr>
    </a:lvl3pPr>
    <a:lvl4pPr indent="685800" latinLnBrk="0">
      <a:defRPr sz="1200">
        <a:latin typeface="+mn-lt"/>
        <a:ea typeface="+mn-ea"/>
        <a:cs typeface="+mn-cs"/>
        <a:sym typeface="PingFang SC Regular"/>
      </a:defRPr>
    </a:lvl4pPr>
    <a:lvl5pPr indent="914400" latinLnBrk="0">
      <a:defRPr sz="1200">
        <a:latin typeface="+mn-lt"/>
        <a:ea typeface="+mn-ea"/>
        <a:cs typeface="+mn-cs"/>
        <a:sym typeface="PingFang SC Regular"/>
      </a:defRPr>
    </a:lvl5pPr>
    <a:lvl6pPr indent="1143000" latinLnBrk="0">
      <a:defRPr sz="1200">
        <a:latin typeface="+mn-lt"/>
        <a:ea typeface="+mn-ea"/>
        <a:cs typeface="+mn-cs"/>
        <a:sym typeface="PingFang SC Regular"/>
      </a:defRPr>
    </a:lvl6pPr>
    <a:lvl7pPr indent="1371600" latinLnBrk="0">
      <a:defRPr sz="1200">
        <a:latin typeface="+mn-lt"/>
        <a:ea typeface="+mn-ea"/>
        <a:cs typeface="+mn-cs"/>
        <a:sym typeface="PingFang SC Regular"/>
      </a:defRPr>
    </a:lvl7pPr>
    <a:lvl8pPr indent="1600200" latinLnBrk="0">
      <a:defRPr sz="1200">
        <a:latin typeface="+mn-lt"/>
        <a:ea typeface="+mn-ea"/>
        <a:cs typeface="+mn-cs"/>
        <a:sym typeface="PingFang SC Regular"/>
      </a:defRPr>
    </a:lvl8pPr>
    <a:lvl9pPr indent="1828800" latinLnBrk="0">
      <a:defRPr sz="1200">
        <a:latin typeface="+mn-lt"/>
        <a:ea typeface="+mn-ea"/>
        <a:cs typeface="+mn-cs"/>
        <a:sym typeface="PingFang SC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65354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5161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9766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5302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025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6983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69082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43611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2236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323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5849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87623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02587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3060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50895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283940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0327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67822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84860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9940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9310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8498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97065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115063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91684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4587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696431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86745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3371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503182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588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1pPr>
            <a:lvl2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2pPr>
            <a:lvl3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3pPr>
            <a:lvl4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4pPr>
            <a:lvl5pPr marL="0" indent="0">
              <a:buSzTx/>
              <a:buFontTx/>
              <a:buNone/>
              <a:defRPr sz="2400">
                <a:latin typeface="PingFang SC Semibold"/>
                <a:ea typeface="PingFang SC Semibold"/>
                <a:cs typeface="PingFang SC Semibold"/>
                <a:sym typeface="PingFang SC Semibold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32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3200">
                <a:solidFill>
                  <a:srgbClr val="FFFFFF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3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组合 24"/>
          <p:cNvGrpSpPr/>
          <p:nvPr/>
        </p:nvGrpSpPr>
        <p:grpSpPr>
          <a:xfrm>
            <a:off x="3343270" y="2276472"/>
            <a:ext cx="5602297" cy="2057404"/>
            <a:chOff x="-1" y="-1"/>
            <a:chExt cx="5602296" cy="2057403"/>
          </a:xfrm>
        </p:grpSpPr>
        <p:sp>
          <p:nvSpPr>
            <p:cNvPr id="110" name="任意多边形 8"/>
            <p:cNvSpPr/>
            <p:nvPr/>
          </p:nvSpPr>
          <p:spPr>
            <a:xfrm>
              <a:off x="1409702" y="-2"/>
              <a:ext cx="1376367" cy="1377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549"/>
                  </a:moveTo>
                  <a:cubicBezTo>
                    <a:pt x="6243" y="2549"/>
                    <a:pt x="2549" y="6243"/>
                    <a:pt x="2549" y="10800"/>
                  </a:cubicBezTo>
                  <a:cubicBezTo>
                    <a:pt x="2549" y="15357"/>
                    <a:pt x="6243" y="19051"/>
                    <a:pt x="10800" y="19051"/>
                  </a:cubicBezTo>
                  <a:cubicBezTo>
                    <a:pt x="15357" y="19051"/>
                    <a:pt x="19051" y="15357"/>
                    <a:pt x="19051" y="10800"/>
                  </a:cubicBezTo>
                  <a:cubicBezTo>
                    <a:pt x="19051" y="6243"/>
                    <a:pt x="15357" y="2549"/>
                    <a:pt x="10800" y="2549"/>
                  </a:cubicBezTo>
                  <a:close/>
                  <a:moveTo>
                    <a:pt x="10800" y="0"/>
                  </a:move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1F4E79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1" name="椭圆 9"/>
            <p:cNvSpPr/>
            <p:nvPr/>
          </p:nvSpPr>
          <p:spPr>
            <a:xfrm>
              <a:off x="1490665" y="84139"/>
              <a:ext cx="1214443" cy="1214442"/>
            </a:xfrm>
            <a:prstGeom prst="ellipse">
              <a:avLst/>
            </a:prstGeom>
            <a:noFill/>
            <a:ln w="12700" cap="flat">
              <a:solidFill>
                <a:srgbClr val="9DC3E6"/>
              </a:solidFill>
              <a:prstDash val="dash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2" name="任意多边形 12"/>
            <p:cNvSpPr/>
            <p:nvPr/>
          </p:nvSpPr>
          <p:spPr>
            <a:xfrm>
              <a:off x="2817815" y="1587"/>
              <a:ext cx="1376365" cy="1376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549"/>
                  </a:moveTo>
                  <a:cubicBezTo>
                    <a:pt x="6243" y="2549"/>
                    <a:pt x="2549" y="6243"/>
                    <a:pt x="2549" y="10800"/>
                  </a:cubicBezTo>
                  <a:cubicBezTo>
                    <a:pt x="2549" y="15357"/>
                    <a:pt x="6243" y="19051"/>
                    <a:pt x="10800" y="19051"/>
                  </a:cubicBezTo>
                  <a:cubicBezTo>
                    <a:pt x="15357" y="19051"/>
                    <a:pt x="19051" y="15357"/>
                    <a:pt x="19051" y="10800"/>
                  </a:cubicBezTo>
                  <a:cubicBezTo>
                    <a:pt x="19051" y="6243"/>
                    <a:pt x="15357" y="2549"/>
                    <a:pt x="10800" y="2549"/>
                  </a:cubicBezTo>
                  <a:close/>
                  <a:moveTo>
                    <a:pt x="10800" y="0"/>
                  </a:move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1F4E79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3" name="椭圆 13"/>
            <p:cNvSpPr/>
            <p:nvPr/>
          </p:nvSpPr>
          <p:spPr>
            <a:xfrm>
              <a:off x="2892427" y="76201"/>
              <a:ext cx="1214441" cy="1214438"/>
            </a:xfrm>
            <a:prstGeom prst="ellipse">
              <a:avLst/>
            </a:prstGeom>
            <a:noFill/>
            <a:ln w="12700" cap="flat">
              <a:solidFill>
                <a:srgbClr val="9DC3E6"/>
              </a:solidFill>
              <a:prstDash val="dash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4" name="任意多边形 16"/>
            <p:cNvSpPr/>
            <p:nvPr/>
          </p:nvSpPr>
          <p:spPr>
            <a:xfrm>
              <a:off x="4225928" y="1587"/>
              <a:ext cx="1376368" cy="13763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549"/>
                  </a:moveTo>
                  <a:cubicBezTo>
                    <a:pt x="6243" y="2549"/>
                    <a:pt x="2549" y="6243"/>
                    <a:pt x="2549" y="10800"/>
                  </a:cubicBezTo>
                  <a:cubicBezTo>
                    <a:pt x="2549" y="15357"/>
                    <a:pt x="6243" y="19051"/>
                    <a:pt x="10800" y="19051"/>
                  </a:cubicBezTo>
                  <a:cubicBezTo>
                    <a:pt x="15357" y="19051"/>
                    <a:pt x="19051" y="15357"/>
                    <a:pt x="19051" y="10800"/>
                  </a:cubicBezTo>
                  <a:cubicBezTo>
                    <a:pt x="19051" y="6243"/>
                    <a:pt x="15357" y="2549"/>
                    <a:pt x="10800" y="2549"/>
                  </a:cubicBezTo>
                  <a:close/>
                  <a:moveTo>
                    <a:pt x="10800" y="0"/>
                  </a:move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1F4E79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5" name="椭圆 17"/>
            <p:cNvSpPr/>
            <p:nvPr/>
          </p:nvSpPr>
          <p:spPr>
            <a:xfrm>
              <a:off x="4306891" y="76201"/>
              <a:ext cx="1214443" cy="1214438"/>
            </a:xfrm>
            <a:prstGeom prst="ellipse">
              <a:avLst/>
            </a:prstGeom>
            <a:noFill/>
            <a:ln w="12700" cap="flat">
              <a:solidFill>
                <a:srgbClr val="9DC3E6"/>
              </a:solidFill>
              <a:prstDash val="dash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6" name="任意多边形 20"/>
            <p:cNvSpPr/>
            <p:nvPr/>
          </p:nvSpPr>
          <p:spPr>
            <a:xfrm>
              <a:off x="-2" y="-2"/>
              <a:ext cx="1377955" cy="13779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549"/>
                  </a:moveTo>
                  <a:cubicBezTo>
                    <a:pt x="6243" y="2549"/>
                    <a:pt x="2549" y="6243"/>
                    <a:pt x="2549" y="10800"/>
                  </a:cubicBezTo>
                  <a:cubicBezTo>
                    <a:pt x="2549" y="15357"/>
                    <a:pt x="6243" y="19051"/>
                    <a:pt x="10800" y="19051"/>
                  </a:cubicBezTo>
                  <a:cubicBezTo>
                    <a:pt x="15357" y="19051"/>
                    <a:pt x="19051" y="15357"/>
                    <a:pt x="19051" y="10800"/>
                  </a:cubicBezTo>
                  <a:cubicBezTo>
                    <a:pt x="19051" y="6243"/>
                    <a:pt x="15357" y="2549"/>
                    <a:pt x="10800" y="2549"/>
                  </a:cubicBezTo>
                  <a:close/>
                  <a:moveTo>
                    <a:pt x="10800" y="0"/>
                  </a:move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>
              <a:outerShdw blurRad="50800" dist="38100" dir="2700000" rotWithShape="0">
                <a:srgbClr val="1F4E79">
                  <a:alpha val="4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7" name="椭圆 21"/>
            <p:cNvSpPr/>
            <p:nvPr/>
          </p:nvSpPr>
          <p:spPr>
            <a:xfrm>
              <a:off x="80962" y="84139"/>
              <a:ext cx="1216032" cy="1214442"/>
            </a:xfrm>
            <a:prstGeom prst="ellipse">
              <a:avLst/>
            </a:prstGeom>
            <a:noFill/>
            <a:ln w="12700" cap="flat">
              <a:solidFill>
                <a:srgbClr val="9DC3E6"/>
              </a:solidFill>
              <a:prstDash val="dash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0000"/>
                </a:lnSpc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8" name="直接连接符 22"/>
            <p:cNvSpPr/>
            <p:nvPr/>
          </p:nvSpPr>
          <p:spPr>
            <a:xfrm>
              <a:off x="80964" y="2057402"/>
              <a:ext cx="5500694" cy="1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endParaRPr/>
            </a:p>
          </p:txBody>
        </p:sp>
        <p:sp>
          <p:nvSpPr>
            <p:cNvPr id="119" name="直接连接符 23"/>
            <p:cNvSpPr/>
            <p:nvPr/>
          </p:nvSpPr>
          <p:spPr>
            <a:xfrm>
              <a:off x="80964" y="1633539"/>
              <a:ext cx="5500694" cy="4"/>
            </a:xfrm>
            <a:prstGeom prst="line">
              <a:avLst/>
            </a:prstGeom>
            <a:noFill/>
            <a:ln w="635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lnSpc>
                  <a:spcPct val="100000"/>
                </a:lnSpc>
                <a:defRPr sz="1800">
                  <a:solidFill>
                    <a:srgbClr val="000000"/>
                  </a:solidFill>
                </a:defRPr>
              </a:pPr>
              <a:endParaRPr/>
            </a:p>
          </p:txBody>
        </p:sp>
      </p:grpSp>
      <p:sp>
        <p:nvSpPr>
          <p:cNvPr id="12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3424239" y="4421625"/>
            <a:ext cx="5602290" cy="1338266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12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3362400" y="3927600"/>
            <a:ext cx="5742003" cy="399603"/>
          </a:xfrm>
          <a:prstGeom prst="rect">
            <a:avLst/>
          </a:prstGeom>
        </p:spPr>
        <p:txBody>
          <a:bodyPr anchor="ctr"/>
          <a:lstStyle>
            <a:lvl1pPr marL="0" indent="0" algn="ctr">
              <a:buSzTx/>
              <a:buFontTx/>
              <a:buNone/>
              <a:defRPr sz="2000">
                <a:latin typeface="Algerian"/>
                <a:ea typeface="Algerian"/>
                <a:cs typeface="Algerian"/>
                <a:sym typeface="Algerian"/>
              </a:defRPr>
            </a:lvl1pPr>
            <a:lvl2pPr marL="647700" indent="-190500" algn="ctr">
              <a:buFontTx/>
              <a:defRPr sz="2000">
                <a:latin typeface="Algerian"/>
                <a:ea typeface="Algerian"/>
                <a:cs typeface="Algerian"/>
                <a:sym typeface="Algerian"/>
              </a:defRPr>
            </a:lvl2pPr>
            <a:lvl3pPr marL="1143000" indent="-228600" algn="ctr">
              <a:buFontTx/>
              <a:defRPr sz="2000">
                <a:latin typeface="Algerian"/>
                <a:ea typeface="Algerian"/>
                <a:cs typeface="Algerian"/>
                <a:sym typeface="Algerian"/>
              </a:defRPr>
            </a:lvl3pPr>
            <a:lvl4pPr marL="1625600" indent="-254000" algn="ctr">
              <a:buFontTx/>
              <a:defRPr sz="2000">
                <a:latin typeface="Algerian"/>
                <a:ea typeface="Algerian"/>
                <a:cs typeface="Algerian"/>
                <a:sym typeface="Algerian"/>
              </a:defRPr>
            </a:lvl4pPr>
            <a:lvl5pPr marL="2082800" indent="-254000" algn="ctr">
              <a:buFontTx/>
              <a:defRPr sz="2000">
                <a:latin typeface="Algerian"/>
                <a:ea typeface="Algerian"/>
                <a:cs typeface="Algerian"/>
                <a:sym typeface="Algerian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838200" y="363599"/>
            <a:ext cx="10515600" cy="581040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1520" indent="-274320">
              <a:defRPr sz="2400"/>
            </a:lvl2pPr>
            <a:lvl3pPr marL="1219200" indent="-304800">
              <a:defRPr sz="2400"/>
            </a:lvl3pPr>
            <a:lvl4pPr marL="1676400" indent="-304800">
              <a:defRPr sz="2400"/>
            </a:lvl4pPr>
            <a:lvl5pPr marL="2133600" indent="-304800"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97112" y="6385244"/>
            <a:ext cx="256689" cy="3073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lnSpc>
                <a:spcPct val="100000"/>
              </a:lnSpc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PingFang SC Regular"/>
        <a:buChar char="•"/>
        <a:defRPr sz="2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PingFang SC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PingFang SC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69167" y="1408921"/>
            <a:ext cx="10620916" cy="31208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</a:pPr>
            <a:r>
              <a:rPr lang="en-US" altLang="zh-CN" dirty="0" smtClean="0"/>
              <a:t>  </a:t>
            </a:r>
            <a:r>
              <a:rPr lang="en-US" altLang="zh-CN" sz="2000" dirty="0" smtClean="0"/>
              <a:t>ES6</a:t>
            </a:r>
            <a:r>
              <a:rPr lang="zh-CN" altLang="en-US" sz="2000" dirty="0"/>
              <a:t>， 全称 </a:t>
            </a:r>
            <a:r>
              <a:rPr lang="en-US" altLang="zh-CN" sz="2000" dirty="0" err="1"/>
              <a:t>ECMAScript</a:t>
            </a:r>
            <a:r>
              <a:rPr lang="en-US" altLang="zh-CN" sz="2000" dirty="0"/>
              <a:t> 6.0 </a:t>
            </a:r>
            <a:r>
              <a:rPr lang="zh-CN" altLang="en-US" sz="2000" dirty="0"/>
              <a:t>，是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的下一个版本标准，</a:t>
            </a:r>
            <a:r>
              <a:rPr lang="en-US" altLang="zh-CN" sz="2000" dirty="0"/>
              <a:t>2015.06 </a:t>
            </a:r>
            <a:r>
              <a:rPr lang="zh-CN" altLang="en-US" sz="2000" dirty="0"/>
              <a:t>发版。</a:t>
            </a:r>
          </a:p>
          <a:p>
            <a:pPr latinLnBrk="1">
              <a:lnSpc>
                <a:spcPct val="150000"/>
              </a:lnSpc>
            </a:pPr>
            <a:r>
              <a:rPr lang="en-US" altLang="zh-CN" sz="2000" dirty="0" smtClean="0"/>
              <a:t>   ES6 </a:t>
            </a:r>
            <a:r>
              <a:rPr lang="zh-CN" altLang="en-US" sz="2000" dirty="0"/>
              <a:t>主要是为了解决 </a:t>
            </a:r>
            <a:r>
              <a:rPr lang="en-US" altLang="zh-CN" sz="2000" dirty="0"/>
              <a:t>ES5 </a:t>
            </a:r>
            <a:r>
              <a:rPr lang="zh-CN" altLang="en-US" sz="2000" dirty="0"/>
              <a:t>的先天不足，比如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里并没有类的概念，但是目前浏览器的 </a:t>
            </a:r>
            <a:r>
              <a:rPr lang="en-US" altLang="zh-CN" sz="2000" dirty="0"/>
              <a:t>JavaScript </a:t>
            </a:r>
            <a:r>
              <a:rPr lang="zh-CN" altLang="en-US" sz="2000" dirty="0"/>
              <a:t>是 </a:t>
            </a:r>
            <a:r>
              <a:rPr lang="en-US" altLang="zh-CN" sz="2000" dirty="0"/>
              <a:t>ES5 </a:t>
            </a:r>
            <a:r>
              <a:rPr lang="zh-CN" altLang="en-US" sz="2000" dirty="0"/>
              <a:t>版本，大多数高版本的浏览器也支持 </a:t>
            </a:r>
            <a:r>
              <a:rPr lang="en-US" altLang="zh-CN" sz="2000" dirty="0"/>
              <a:t>ES6</a:t>
            </a:r>
            <a:r>
              <a:rPr lang="zh-CN" altLang="en-US" sz="2000" dirty="0"/>
              <a:t>，不过只实现了 </a:t>
            </a:r>
            <a:r>
              <a:rPr lang="en-US" altLang="zh-CN" sz="2000" dirty="0"/>
              <a:t>ES6 </a:t>
            </a:r>
            <a:r>
              <a:rPr lang="zh-CN" altLang="en-US" sz="2000" dirty="0"/>
              <a:t>的部分特性和功能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latinLnBrk="1">
              <a:lnSpc>
                <a:spcPct val="150000"/>
              </a:lnSpc>
            </a:pPr>
            <a:r>
              <a:rPr lang="en-US" altLang="zh-CN" sz="2000" dirty="0" smtClean="0"/>
              <a:t>   </a:t>
            </a:r>
            <a:r>
              <a:rPr lang="zh-CN" altLang="en-US" sz="2000" dirty="0" smtClean="0"/>
              <a:t>具体介绍</a:t>
            </a:r>
            <a:r>
              <a:rPr lang="en-US" altLang="zh-CN" sz="2000" dirty="0" smtClean="0"/>
              <a:t>:https</a:t>
            </a:r>
            <a:r>
              <a:rPr lang="en-US" altLang="zh-CN" sz="2000" dirty="0"/>
              <a:t>://www.runoob.com/w3cnote/es6-tutorial.html</a:t>
            </a:r>
            <a:endParaRPr lang="zh-CN" altLang="en-US" sz="2000" dirty="0"/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35700" y="271983"/>
            <a:ext cx="2040943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ES6</a:t>
            </a:r>
            <a:r>
              <a:rPr lang="zh-CN" altLang="en-US" b="1" dirty="0" smtClean="0"/>
              <a:t>新特性</a:t>
            </a:r>
            <a:endParaRPr lang="zh-CN" altLang="en-US" b="1" dirty="0"/>
          </a:p>
        </p:txBody>
      </p:sp>
      <p:sp>
        <p:nvSpPr>
          <p:cNvPr id="14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970382"/>
            <a:ext cx="10039739" cy="439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 smtClean="0"/>
              <a:t>    </a:t>
            </a:r>
            <a:r>
              <a:rPr lang="zh-CN" altLang="en-US" sz="1800" dirty="0" smtClean="0"/>
              <a:t>在</a:t>
            </a:r>
            <a:r>
              <a:rPr lang="en-US" altLang="zh-CN" sz="1800" dirty="0" err="1"/>
              <a:t>js</a:t>
            </a:r>
            <a:r>
              <a:rPr lang="zh-CN" altLang="en-US" sz="1800" dirty="0"/>
              <a:t>中 </a:t>
            </a:r>
            <a:r>
              <a:rPr lang="zh-CN" altLang="en-US" sz="1800" dirty="0" smtClean="0"/>
              <a:t>通常</a:t>
            </a:r>
            <a:r>
              <a:rPr lang="zh-CN" altLang="en-US" sz="1800" dirty="0"/>
              <a:t>使用 </a:t>
            </a:r>
            <a:r>
              <a:rPr lang="en-US" altLang="zh-CN" sz="1800" dirty="0" err="1"/>
              <a:t>var</a:t>
            </a:r>
            <a:r>
              <a:rPr lang="zh-CN" altLang="en-US" sz="1800" dirty="0"/>
              <a:t>会发生变量提升，即脚本开始运行时，变量已经存在了，但是没有值，所以会输出</a:t>
            </a:r>
            <a:r>
              <a:rPr lang="en-US" altLang="zh-CN" sz="1800" dirty="0" smtClean="0"/>
              <a:t>undefined</a:t>
            </a:r>
            <a:r>
              <a:rPr lang="en-US" altLang="zh-CN" sz="1800" dirty="0"/>
              <a:t>:</a:t>
            </a:r>
            <a:endParaRPr lang="en-US" altLang="zh-CN" sz="1800" dirty="0" smtClean="0"/>
          </a:p>
          <a:p>
            <a:r>
              <a:rPr lang="en-US" altLang="zh-CN" sz="1800" dirty="0"/>
              <a:t> </a:t>
            </a:r>
            <a:r>
              <a:rPr lang="en-US" altLang="zh-CN" sz="1800" dirty="0" smtClean="0"/>
              <a:t> </a:t>
            </a:r>
          </a:p>
          <a:p>
            <a:r>
              <a:rPr lang="en-US" altLang="zh-CN" sz="1800" dirty="0"/>
              <a:t> </a:t>
            </a:r>
            <a:r>
              <a:rPr lang="en-US" altLang="zh-CN" sz="1800" dirty="0" smtClean="0"/>
              <a:t>   </a:t>
            </a:r>
            <a:r>
              <a:rPr lang="zh-CN" altLang="en-US" sz="1800" dirty="0" smtClean="0">
                <a:solidFill>
                  <a:srgbClr val="0070C0"/>
                </a:solidFill>
              </a:rPr>
              <a:t>常用</a:t>
            </a:r>
            <a:r>
              <a:rPr lang="zh-CN" altLang="en-US" sz="1800" dirty="0">
                <a:solidFill>
                  <a:srgbClr val="0070C0"/>
                </a:solidFill>
              </a:rPr>
              <a:t>写法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    </a:t>
            </a:r>
            <a:r>
              <a:rPr lang="en-US" altLang="zh-CN" sz="1800" dirty="0" err="1">
                <a:solidFill>
                  <a:srgbClr val="0070C0"/>
                </a:solidFill>
              </a:rPr>
              <a:t>var</a:t>
            </a:r>
            <a:r>
              <a:rPr lang="en-US" altLang="zh-CN" sz="1800" dirty="0">
                <a:solidFill>
                  <a:srgbClr val="0070C0"/>
                </a:solidFill>
              </a:rPr>
              <a:t> a=1;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    console.log("</a:t>
            </a:r>
            <a:r>
              <a:rPr lang="zh-CN" altLang="en-US" sz="1800" dirty="0">
                <a:solidFill>
                  <a:srgbClr val="0070C0"/>
                </a:solidFill>
              </a:rPr>
              <a:t>常用写法</a:t>
            </a:r>
            <a:r>
              <a:rPr lang="en-US" altLang="zh-CN" sz="1800" dirty="0">
                <a:solidFill>
                  <a:srgbClr val="0070C0"/>
                </a:solidFill>
              </a:rPr>
              <a:t>a="+a);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/>
            </a:r>
            <a:br>
              <a:rPr lang="en-US" altLang="zh-CN" sz="1800" dirty="0">
                <a:solidFill>
                  <a:srgbClr val="0070C0"/>
                </a:solidFill>
              </a:rPr>
            </a:br>
            <a:r>
              <a:rPr lang="en-US" altLang="zh-CN" sz="1800" dirty="0">
                <a:solidFill>
                  <a:srgbClr val="0070C0"/>
                </a:solidFill>
              </a:rPr>
              <a:t>    </a:t>
            </a:r>
            <a:r>
              <a:rPr lang="en-US" altLang="zh-CN" sz="1800" dirty="0" smtClean="0">
                <a:solidFill>
                  <a:srgbClr val="0070C0"/>
                </a:solidFill>
              </a:rPr>
              <a:t> </a:t>
            </a:r>
            <a:r>
              <a:rPr lang="zh-CN" altLang="en-US" sz="1800" dirty="0" smtClean="0">
                <a:solidFill>
                  <a:srgbClr val="0070C0"/>
                </a:solidFill>
              </a:rPr>
              <a:t>变量</a:t>
            </a:r>
            <a:r>
              <a:rPr lang="zh-CN" altLang="en-US" sz="1800" dirty="0">
                <a:solidFill>
                  <a:srgbClr val="0070C0"/>
                </a:solidFill>
              </a:rPr>
              <a:t>提升</a:t>
            </a:r>
          </a:p>
          <a:p>
            <a:r>
              <a:rPr lang="zh-CN" altLang="en-US" sz="1800" dirty="0">
                <a:solidFill>
                  <a:srgbClr val="0070C0"/>
                </a:solidFill>
              </a:rPr>
              <a:t>    </a:t>
            </a:r>
            <a:r>
              <a:rPr lang="en-US" altLang="zh-CN" sz="1800" dirty="0">
                <a:solidFill>
                  <a:srgbClr val="0070C0"/>
                </a:solidFill>
              </a:rPr>
              <a:t>console.log("</a:t>
            </a:r>
            <a:r>
              <a:rPr lang="zh-CN" altLang="en-US" sz="1800" dirty="0">
                <a:solidFill>
                  <a:srgbClr val="0070C0"/>
                </a:solidFill>
              </a:rPr>
              <a:t>变量提升</a:t>
            </a:r>
            <a:r>
              <a:rPr lang="en-US" altLang="zh-CN" sz="1800" dirty="0">
                <a:solidFill>
                  <a:srgbClr val="0070C0"/>
                </a:solidFill>
              </a:rPr>
              <a:t>b="+b);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    </a:t>
            </a:r>
            <a:r>
              <a:rPr lang="en-US" altLang="zh-CN" sz="1800" dirty="0" err="1">
                <a:solidFill>
                  <a:srgbClr val="0070C0"/>
                </a:solidFill>
              </a:rPr>
              <a:t>var</a:t>
            </a:r>
            <a:r>
              <a:rPr lang="en-US" altLang="zh-CN" sz="1800" dirty="0">
                <a:solidFill>
                  <a:srgbClr val="0070C0"/>
                </a:solidFill>
              </a:rPr>
              <a:t> b=2;</a:t>
            </a:r>
          </a:p>
          <a:p>
            <a:r>
              <a:rPr lang="en-US" altLang="zh-CN" sz="1800" dirty="0">
                <a:solidFill>
                  <a:srgbClr val="0070C0"/>
                </a:solidFill>
              </a:rPr>
              <a:t>    console.log("</a:t>
            </a:r>
            <a:r>
              <a:rPr lang="zh-CN" altLang="en-US" sz="1800" dirty="0">
                <a:solidFill>
                  <a:srgbClr val="0070C0"/>
                </a:solidFill>
              </a:rPr>
              <a:t>正常打印</a:t>
            </a:r>
            <a:r>
              <a:rPr lang="en-US" altLang="zh-CN" sz="1800" dirty="0">
                <a:solidFill>
                  <a:srgbClr val="0070C0"/>
                </a:solidFill>
              </a:rPr>
              <a:t>="+b);</a:t>
            </a:r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25655" y="281037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5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076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8617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 smtClean="0"/>
              <a:t>    </a:t>
            </a:r>
            <a:r>
              <a:rPr lang="zh-CN" altLang="en-US" sz="2000" dirty="0" smtClean="0"/>
              <a:t>而</a:t>
            </a:r>
            <a:r>
              <a:rPr lang="en-US" altLang="zh-CN" sz="2000" dirty="0"/>
              <a:t>let</a:t>
            </a:r>
            <a:r>
              <a:rPr lang="zh-CN" altLang="en-US" sz="2000" dirty="0"/>
              <a:t>不会发生变量提升</a:t>
            </a:r>
            <a:r>
              <a:rPr lang="en-US" altLang="zh-CN" sz="2000" dirty="0"/>
              <a:t>,</a:t>
            </a:r>
            <a:r>
              <a:rPr lang="zh-CN" altLang="en-US" sz="2000" dirty="0"/>
              <a:t>这表示在声明它之前，变量是不存在的，这时如果用到它，就会抛出一个</a:t>
            </a:r>
            <a:r>
              <a:rPr lang="zh-CN" altLang="en-US" sz="2000" dirty="0" smtClean="0"/>
              <a:t>错误</a:t>
            </a:r>
            <a:r>
              <a:rPr lang="en-US" altLang="zh-CN" sz="2000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000" dirty="0" smtClean="0"/>
              <a:t>    </a:t>
            </a:r>
            <a:r>
              <a:rPr lang="en-US" altLang="zh-CN" sz="2000" dirty="0" smtClean="0">
                <a:solidFill>
                  <a:srgbClr val="0070C0"/>
                </a:solidFill>
              </a:rPr>
              <a:t>console.log</a:t>
            </a:r>
            <a:r>
              <a:rPr lang="en-US" altLang="zh-CN" sz="2000" dirty="0">
                <a:solidFill>
                  <a:srgbClr val="0070C0"/>
                </a:solidFill>
              </a:rPr>
              <a:t>("c="+c);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70C0"/>
                </a:solidFill>
              </a:rPr>
              <a:t>    let c=3</a:t>
            </a:r>
            <a:r>
              <a:rPr lang="en-US" altLang="zh-CN" sz="2000" dirty="0" smtClean="0">
                <a:solidFill>
                  <a:srgbClr val="0070C0"/>
                </a:solidFill>
              </a:rPr>
              <a:t>;</a:t>
            </a:r>
          </a:p>
          <a:p>
            <a:pPr>
              <a:lnSpc>
                <a:spcPct val="150000"/>
              </a:lnSpc>
            </a:pPr>
            <a:endParaRPr lang="en-US" altLang="zh-CN" sz="2000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0070C0"/>
                </a:solidFill>
              </a:rPr>
              <a:t>    </a:t>
            </a:r>
            <a:r>
              <a:rPr lang="zh-CN" altLang="en-US" sz="2000" dirty="0" smtClean="0">
                <a:solidFill>
                  <a:schemeClr val="tx1"/>
                </a:solidFill>
              </a:rPr>
              <a:t>块作用域</a:t>
            </a:r>
            <a:r>
              <a:rPr lang="en-US" altLang="zh-CN" sz="2000" dirty="0" smtClean="0">
                <a:solidFill>
                  <a:schemeClr val="tx1"/>
                </a:solidFill>
              </a:rPr>
              <a:t>: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  </a:t>
            </a:r>
            <a:r>
              <a:rPr lang="en-US" altLang="zh-CN" sz="2000" dirty="0" smtClean="0">
                <a:solidFill>
                  <a:srgbClr val="0070C0"/>
                </a:solidFill>
              </a:rPr>
              <a:t>  console.log(d);</a:t>
            </a:r>
          </a:p>
          <a:p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    if(1==1)</a:t>
            </a:r>
          </a:p>
          <a:p>
            <a:r>
              <a:rPr lang="en-US" altLang="zh-CN" sz="2000" dirty="0">
                <a:solidFill>
                  <a:srgbClr val="0070C0"/>
                </a:solidFill>
              </a:rPr>
              <a:t>    {</a:t>
            </a:r>
          </a:p>
          <a:p>
            <a:r>
              <a:rPr lang="en-US" altLang="zh-CN" sz="2000" dirty="0">
                <a:solidFill>
                  <a:srgbClr val="0070C0"/>
                </a:solidFill>
              </a:rPr>
              <a:t>        </a:t>
            </a:r>
            <a:r>
              <a:rPr lang="en-US" altLang="zh-CN" sz="2000" dirty="0" smtClean="0">
                <a:solidFill>
                  <a:srgbClr val="0070C0"/>
                </a:solidFill>
              </a:rPr>
              <a:t>let </a:t>
            </a:r>
            <a:r>
              <a:rPr lang="en-US" altLang="zh-CN" sz="2000" dirty="0">
                <a:solidFill>
                  <a:srgbClr val="0070C0"/>
                </a:solidFill>
              </a:rPr>
              <a:t>d=4</a:t>
            </a:r>
            <a:r>
              <a:rPr lang="en-US" altLang="zh-CN" sz="2000" dirty="0" smtClean="0">
                <a:solidFill>
                  <a:srgbClr val="0070C0"/>
                </a:solidFill>
              </a:rPr>
              <a:t>;//</a:t>
            </a:r>
            <a:r>
              <a:rPr lang="zh-CN" altLang="en-US" sz="2000" dirty="0" smtClean="0">
                <a:solidFill>
                  <a:srgbClr val="0070C0"/>
                </a:solidFill>
              </a:rPr>
              <a:t>只能在块中使用，在外面或者提前打印会报错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        </a:t>
            </a:r>
            <a:r>
              <a:rPr lang="en-US" altLang="zh-CN" sz="2000" dirty="0" err="1">
                <a:solidFill>
                  <a:srgbClr val="0070C0"/>
                </a:solidFill>
              </a:rPr>
              <a:t>var</a:t>
            </a:r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d=4</a:t>
            </a:r>
            <a:r>
              <a:rPr lang="en-US" altLang="zh-CN" sz="2000" dirty="0">
                <a:solidFill>
                  <a:srgbClr val="0070C0"/>
                </a:solidFill>
              </a:rPr>
              <a:t>;//</a:t>
            </a:r>
            <a:r>
              <a:rPr lang="zh-CN" altLang="en-US" sz="2000" dirty="0">
                <a:solidFill>
                  <a:srgbClr val="0070C0"/>
                </a:solidFill>
              </a:rPr>
              <a:t>提前打印不会报</a:t>
            </a:r>
            <a:r>
              <a:rPr lang="zh-CN" altLang="en-US" sz="2000" dirty="0" smtClean="0">
                <a:solidFill>
                  <a:srgbClr val="0070C0"/>
                </a:solidFill>
              </a:rPr>
              <a:t>错，在外面打印也不会报错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    </a:t>
            </a:r>
            <a:r>
              <a:rPr lang="en-US" altLang="zh-CN" sz="2000" dirty="0" smtClean="0">
                <a:solidFill>
                  <a:srgbClr val="0070C0"/>
                </a:solidFill>
              </a:rPr>
              <a:t>}</a:t>
            </a: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>console.log(d);</a:t>
            </a:r>
          </a:p>
          <a:p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44342" y="300568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937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 smtClean="0"/>
              <a:t>    </a:t>
            </a:r>
            <a:r>
              <a:rPr lang="en-US" altLang="zh-CN" sz="2000" dirty="0" smtClean="0"/>
              <a:t> </a:t>
            </a:r>
            <a:endParaRPr lang="en-US" altLang="zh-CN" sz="2000" dirty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25655" y="1265905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变量</a:t>
            </a:r>
            <a:r>
              <a:rPr lang="zh-CN" altLang="en-US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不能重复</a:t>
            </a:r>
            <a:r>
              <a:rPr lang="zh-CN" altLang="en-US" sz="2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定义</a:t>
            </a:r>
            <a:r>
              <a:rPr lang="en-US" altLang="zh-CN" sz="2800" b="1" dirty="0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endParaRPr lang="zh-CN" altLang="en-US" sz="2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zh-CN" altLang="en-US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800" dirty="0">
                <a:solidFill>
                  <a:srgbClr val="569CD6"/>
                </a:solidFill>
                <a:latin typeface="Consolas" panose="020B0609020204030204" pitchFamily="49" charset="0"/>
              </a:rPr>
              <a:t>let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dirty="0">
                <a:solidFill>
                  <a:srgbClr val="B5CEA8"/>
                </a:solidFill>
                <a:latin typeface="Consolas" panose="020B0609020204030204" pitchFamily="49" charset="0"/>
              </a:rPr>
              <a:t>1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800" dirty="0" err="1">
                <a:solidFill>
                  <a:srgbClr val="569CD6"/>
                </a:solidFill>
                <a:latin typeface="Consolas" panose="020B0609020204030204" pitchFamily="49" charset="0"/>
              </a:rPr>
              <a:t>var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800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2800" dirty="0">
                <a:solidFill>
                  <a:srgbClr val="B5CEA8"/>
                </a:solidFill>
                <a:latin typeface="Consolas" panose="020B0609020204030204" pitchFamily="49" charset="0"/>
              </a:rPr>
              <a:t>2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sz="2800" dirty="0">
                <a:solidFill>
                  <a:srgbClr val="9CDCFE"/>
                </a:solidFill>
                <a:latin typeface="Consolas" panose="020B0609020204030204" pitchFamily="49" charset="0"/>
              </a:rPr>
              <a:t>console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2800" dirty="0">
                <a:solidFill>
                  <a:srgbClr val="DCDCAA"/>
                </a:solidFill>
                <a:latin typeface="Consolas" panose="020B0609020204030204" pitchFamily="49" charset="0"/>
              </a:rPr>
              <a:t>log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9CDCFE"/>
                </a:solidFill>
                <a:latin typeface="Consolas" panose="020B0609020204030204" pitchFamily="49" charset="0"/>
              </a:rPr>
              <a:t>e</a:t>
            </a:r>
            <a:r>
              <a:rPr lang="en-US" altLang="zh-CN" sz="2800" dirty="0">
                <a:solidFill>
                  <a:srgbClr val="D4D4D4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525655" y="393654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8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356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53640" y="973708"/>
            <a:ext cx="10039739" cy="95564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    </a:t>
            </a:r>
            <a:r>
              <a:rPr lang="zh-CN" altLang="en-US" sz="1800" b="1" dirty="0" smtClean="0"/>
              <a:t>声明常量符合</a:t>
            </a:r>
            <a:r>
              <a:rPr lang="en-US" altLang="zh-CN" sz="1800" b="1" dirty="0"/>
              <a:t>let</a:t>
            </a:r>
            <a:r>
              <a:rPr lang="zh-CN" altLang="en-US" sz="1800" b="1" dirty="0"/>
              <a:t>的</a:t>
            </a:r>
            <a:r>
              <a:rPr lang="zh-CN" altLang="en-US" sz="1800" b="1" dirty="0" smtClean="0"/>
              <a:t>特性</a:t>
            </a:r>
            <a:r>
              <a:rPr lang="en-US" altLang="zh-CN" sz="1800" b="1" dirty="0" smtClean="0"/>
              <a:t>,</a:t>
            </a:r>
            <a:r>
              <a:rPr lang="zh-CN" altLang="en-US" sz="1800" b="1" dirty="0" smtClean="0"/>
              <a:t>包括不能重复定义，</a:t>
            </a:r>
            <a:r>
              <a:rPr lang="zh-CN" altLang="en-US" sz="1800" b="1" dirty="0"/>
              <a:t>但</a:t>
            </a:r>
            <a:r>
              <a:rPr lang="zh-CN" altLang="en-US" sz="1800" b="1" dirty="0" smtClean="0"/>
              <a:t>不能修改值</a:t>
            </a:r>
            <a:r>
              <a:rPr lang="en-US" altLang="zh-CN" sz="1800" b="1" dirty="0" smtClean="0"/>
              <a:t>:</a:t>
            </a:r>
            <a:endParaRPr lang="zh-CN" altLang="en-US" sz="1800" b="1" dirty="0"/>
          </a:p>
          <a:p>
            <a:r>
              <a:rPr lang="zh-CN" altLang="en-US" sz="1800" dirty="0"/>
              <a:t>     </a:t>
            </a:r>
            <a:endParaRPr lang="en-US" altLang="zh-CN" sz="1800" dirty="0" smtClean="0"/>
          </a:p>
          <a:p>
            <a:r>
              <a:rPr lang="en-US" altLang="zh-CN" sz="1800" dirty="0" smtClean="0"/>
              <a:t>     </a:t>
            </a: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F=1;</a:t>
            </a:r>
          </a:p>
          <a:p>
            <a:r>
              <a:rPr lang="en-US" altLang="zh-CN" sz="1800" dirty="0"/>
              <a:t>     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F=2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重复复制会报错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  </a:t>
            </a:r>
            <a:r>
              <a:rPr lang="en-US" altLang="zh-CN" sz="1800" dirty="0" smtClean="0"/>
              <a:t> </a:t>
            </a:r>
          </a:p>
          <a:p>
            <a:r>
              <a:rPr lang="en-US" altLang="zh-CN" sz="1800" dirty="0"/>
              <a:t> </a:t>
            </a:r>
            <a:r>
              <a:rPr lang="en-US" altLang="zh-CN" sz="1800" dirty="0" smtClean="0"/>
              <a:t>    console.log(F</a:t>
            </a:r>
            <a:r>
              <a:rPr lang="en-US" altLang="zh-CN" sz="1800" dirty="0"/>
              <a:t>);</a:t>
            </a:r>
          </a:p>
          <a:p>
            <a:r>
              <a:rPr lang="en-US" altLang="zh-CN" sz="1800" dirty="0"/>
              <a:t>    </a:t>
            </a:r>
            <a:r>
              <a:rPr lang="en-US" altLang="zh-CN" sz="1800" dirty="0" smtClean="0"/>
              <a:t> </a:t>
            </a: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F=2</a:t>
            </a:r>
            <a:r>
              <a:rPr lang="en-US" altLang="zh-CN" sz="1800" dirty="0" smtClean="0"/>
              <a:t>;//</a:t>
            </a:r>
            <a:r>
              <a:rPr lang="zh-CN" altLang="en-US" sz="1800" dirty="0" smtClean="0"/>
              <a:t>修改值会报错</a:t>
            </a:r>
            <a:endParaRPr lang="en-US" altLang="zh-CN" sz="1800" dirty="0" smtClean="0"/>
          </a:p>
          <a:p>
            <a:endParaRPr lang="en-US" altLang="zh-CN" sz="1800" dirty="0"/>
          </a:p>
          <a:p>
            <a:r>
              <a:rPr lang="en-US" altLang="zh-CN" sz="1800" dirty="0" smtClean="0"/>
              <a:t>     </a:t>
            </a:r>
            <a:r>
              <a:rPr lang="zh-CN" altLang="en-US" sz="1800" b="1" dirty="0" smtClean="0"/>
              <a:t>如果声明的是对象</a:t>
            </a:r>
            <a:r>
              <a:rPr lang="en-US" altLang="zh-CN" sz="1800" b="1" dirty="0" smtClean="0"/>
              <a:t>,</a:t>
            </a:r>
            <a:r>
              <a:rPr lang="zh-CN" altLang="en-US" sz="1800" b="1" dirty="0" smtClean="0"/>
              <a:t>不能</a:t>
            </a:r>
            <a:r>
              <a:rPr lang="zh-CN" altLang="en-US" sz="1800" b="1" dirty="0"/>
              <a:t>直接</a:t>
            </a:r>
            <a:r>
              <a:rPr lang="zh-CN" altLang="en-US" sz="1800" b="1" dirty="0" smtClean="0"/>
              <a:t>修改</a:t>
            </a:r>
            <a:r>
              <a:rPr lang="en-US" altLang="zh-CN" sz="1800" b="1" dirty="0" smtClean="0"/>
              <a:t>:</a:t>
            </a:r>
            <a:endParaRPr lang="zh-CN" altLang="en-US" sz="1800" b="1" dirty="0"/>
          </a:p>
          <a:p>
            <a:r>
              <a:rPr lang="zh-CN" altLang="en-US" sz="1800" dirty="0"/>
              <a:t>     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PERSION={</a:t>
            </a:r>
          </a:p>
          <a:p>
            <a:r>
              <a:rPr lang="en-US" altLang="zh-CN" sz="1800" dirty="0"/>
              <a:t>        name:'</a:t>
            </a:r>
            <a:r>
              <a:rPr lang="zh-CN" altLang="en-US" sz="1800" dirty="0"/>
              <a:t>小王</a:t>
            </a:r>
            <a:r>
              <a:rPr lang="en-US" altLang="zh-CN" sz="1800" dirty="0"/>
              <a:t>'</a:t>
            </a:r>
            <a:endParaRPr lang="zh-CN" altLang="en-US" sz="1800" dirty="0"/>
          </a:p>
          <a:p>
            <a:r>
              <a:rPr lang="zh-CN" altLang="en-US" sz="1800" dirty="0"/>
              <a:t>     </a:t>
            </a:r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     PERSION={</a:t>
            </a:r>
          </a:p>
          <a:p>
            <a:r>
              <a:rPr lang="en-US" altLang="zh-CN" sz="1800" dirty="0"/>
              <a:t>         name:'</a:t>
            </a:r>
            <a:r>
              <a:rPr lang="zh-CN" altLang="en-US" sz="1800" dirty="0"/>
              <a:t>小王</a:t>
            </a:r>
            <a:r>
              <a:rPr lang="en-US" altLang="zh-CN" sz="1800" dirty="0"/>
              <a:t>1'</a:t>
            </a:r>
            <a:endParaRPr lang="zh-CN" altLang="en-US" sz="1800" dirty="0"/>
          </a:p>
          <a:p>
            <a:r>
              <a:rPr lang="zh-CN" altLang="en-US" sz="1800" dirty="0"/>
              <a:t>     </a:t>
            </a:r>
            <a:r>
              <a:rPr lang="en-US" altLang="zh-CN" sz="1800" dirty="0"/>
              <a:t>}</a:t>
            </a:r>
          </a:p>
          <a:p>
            <a:pPr lvl="2"/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</a:t>
            </a:r>
            <a:r>
              <a:rPr lang="en-US" altLang="zh-CN" sz="1800" dirty="0" smtClean="0"/>
              <a:t>  </a:t>
            </a:r>
            <a:r>
              <a:rPr lang="zh-CN" altLang="en-US" sz="1800" b="1" dirty="0" smtClean="0"/>
              <a:t>可以</a:t>
            </a:r>
            <a:r>
              <a:rPr lang="zh-CN" altLang="en-US" sz="1800" b="1" dirty="0"/>
              <a:t>改变属性的值</a:t>
            </a:r>
          </a:p>
          <a:p>
            <a:pPr lvl="2"/>
            <a:r>
              <a:rPr lang="zh-CN" altLang="en-US" sz="1800" dirty="0"/>
              <a:t>    </a:t>
            </a:r>
            <a:r>
              <a:rPr lang="zh-CN" altLang="en-US" sz="1800" dirty="0" smtClean="0"/>
              <a:t> </a:t>
            </a:r>
            <a:r>
              <a:rPr lang="en-US" altLang="zh-CN" sz="1800" dirty="0" err="1" smtClean="0"/>
              <a:t>const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PERSION = {</a:t>
            </a:r>
          </a:p>
          <a:p>
            <a:pPr lvl="2"/>
            <a:r>
              <a:rPr lang="en-US" altLang="zh-CN" sz="1800" dirty="0"/>
              <a:t>        name: '</a:t>
            </a:r>
            <a:r>
              <a:rPr lang="zh-CN" altLang="en-US" sz="1800" dirty="0"/>
              <a:t>小王</a:t>
            </a:r>
            <a:r>
              <a:rPr lang="en-US" altLang="zh-CN" sz="1800" dirty="0"/>
              <a:t>'</a:t>
            </a:r>
            <a:endParaRPr lang="zh-CN" altLang="en-US" sz="1800" dirty="0"/>
          </a:p>
          <a:p>
            <a:pPr lvl="2"/>
            <a:r>
              <a:rPr lang="zh-CN" altLang="en-US" sz="1800" dirty="0"/>
              <a:t>   </a:t>
            </a:r>
            <a:r>
              <a:rPr lang="zh-CN" altLang="en-US" sz="1800" dirty="0" smtClean="0"/>
              <a:t>  </a:t>
            </a:r>
            <a:r>
              <a:rPr lang="en-US" altLang="zh-CN" sz="1800" dirty="0"/>
              <a:t>}</a:t>
            </a:r>
          </a:p>
          <a:p>
            <a:pPr lvl="2"/>
            <a:r>
              <a:rPr lang="en-US" altLang="zh-CN" sz="1800" dirty="0"/>
              <a:t>    </a:t>
            </a:r>
            <a:r>
              <a:rPr lang="en-US" altLang="zh-CN" sz="1800" dirty="0" smtClean="0"/>
              <a:t> PERSION.name </a:t>
            </a:r>
            <a:r>
              <a:rPr lang="en-US" altLang="zh-CN" sz="1800" dirty="0"/>
              <a:t>= "</a:t>
            </a:r>
            <a:r>
              <a:rPr lang="zh-CN" altLang="en-US" sz="1800" dirty="0"/>
              <a:t>小马</a:t>
            </a:r>
            <a:r>
              <a:rPr lang="en-US" altLang="zh-CN" sz="1800" dirty="0"/>
              <a:t>";</a:t>
            </a:r>
          </a:p>
          <a:p>
            <a:pPr lvl="2"/>
            <a:r>
              <a:rPr lang="en-US" altLang="zh-CN" sz="1800" dirty="0"/>
              <a:t>    </a:t>
            </a:r>
            <a:r>
              <a:rPr lang="en-US" altLang="zh-CN" sz="1800" dirty="0" smtClean="0"/>
              <a:t> console.log(PERSION</a:t>
            </a:r>
            <a:r>
              <a:rPr lang="en-US" altLang="zh-CN" sz="1800" dirty="0"/>
              <a:t>)</a:t>
            </a:r>
          </a:p>
          <a:p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 smtClean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44341" y="351978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57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988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  </a:t>
            </a:r>
            <a:r>
              <a:rPr lang="zh-CN" altLang="en-US" sz="2000" b="1" dirty="0" smtClean="0"/>
              <a:t>常用场景</a:t>
            </a:r>
            <a:r>
              <a:rPr lang="en-US" altLang="zh-CN" sz="2000" b="1" dirty="0" smtClean="0"/>
              <a:t>:</a:t>
            </a:r>
            <a:r>
              <a:rPr lang="zh-CN" altLang="en-US" sz="2000" b="1" dirty="0"/>
              <a:t>     </a:t>
            </a:r>
            <a:endParaRPr lang="en-US" altLang="zh-CN" sz="2000" b="1" dirty="0" smtClean="0"/>
          </a:p>
          <a:p>
            <a:r>
              <a:rPr lang="zh-CN" altLang="en-US" sz="1800" dirty="0" smtClean="0"/>
              <a:t>   常用</a:t>
            </a:r>
            <a:r>
              <a:rPr lang="zh-CN" altLang="en-US" sz="1800" dirty="0"/>
              <a:t>循环中的错误</a:t>
            </a:r>
            <a:r>
              <a:rPr lang="en-US" altLang="zh-CN" sz="1800" dirty="0"/>
              <a:t>,</a:t>
            </a:r>
            <a:r>
              <a:rPr lang="zh-CN" altLang="en-US" sz="1800" dirty="0"/>
              <a:t>由于是把</a:t>
            </a:r>
            <a:r>
              <a:rPr lang="en-US" altLang="zh-CN" sz="1800" dirty="0" err="1"/>
              <a:t>i</a:t>
            </a:r>
            <a:r>
              <a:rPr lang="zh-CN" altLang="en-US" sz="1800" dirty="0"/>
              <a:t>提升了</a:t>
            </a:r>
            <a:r>
              <a:rPr lang="en-US" altLang="zh-CN" sz="1800" dirty="0"/>
              <a:t>,</a:t>
            </a:r>
            <a:r>
              <a:rPr lang="zh-CN" altLang="en-US" sz="1800" dirty="0"/>
              <a:t>所以打印的是最后的</a:t>
            </a:r>
            <a:r>
              <a:rPr lang="en-US" altLang="zh-CN" sz="1800" dirty="0"/>
              <a:t>I</a:t>
            </a:r>
            <a:r>
              <a:rPr lang="zh-CN" altLang="en-US" sz="1800" dirty="0"/>
              <a:t>值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 err="1"/>
              <a:t>var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=[];</a:t>
            </a:r>
          </a:p>
          <a:p>
            <a:r>
              <a:rPr lang="en-US" altLang="zh-CN" sz="1800" dirty="0"/>
              <a:t>    for(</a:t>
            </a:r>
            <a:r>
              <a:rPr lang="en-US" altLang="zh-CN" sz="1800" dirty="0" err="1"/>
              <a:t>var</a:t>
            </a:r>
            <a:r>
              <a:rPr lang="en-US" altLang="zh-CN" sz="1800" dirty="0"/>
              <a:t>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=0;i&lt;10;i++)</a:t>
            </a:r>
          </a:p>
          <a:p>
            <a:r>
              <a:rPr lang="en-US" altLang="zh-CN" sz="1800" dirty="0"/>
              <a:t>    {</a:t>
            </a:r>
          </a:p>
          <a:p>
            <a:r>
              <a:rPr lang="en-US" altLang="zh-CN" sz="1800" dirty="0"/>
              <a:t>        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]=function()</a:t>
            </a:r>
          </a:p>
          <a:p>
            <a:r>
              <a:rPr lang="en-US" altLang="zh-CN" sz="1800" dirty="0"/>
              <a:t>        {</a:t>
            </a:r>
          </a:p>
          <a:p>
            <a:r>
              <a:rPr lang="en-US" altLang="zh-CN" sz="1800" dirty="0"/>
              <a:t>            return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console.log(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[4]())</a:t>
            </a:r>
          </a:p>
          <a:p>
            <a:r>
              <a:rPr lang="en-US" altLang="zh-CN" sz="1800" dirty="0"/>
              <a:t> </a:t>
            </a:r>
          </a:p>
          <a:p>
            <a:r>
              <a:rPr lang="en-US" altLang="zh-CN" sz="1800" dirty="0"/>
              <a:t>    //</a:t>
            </a:r>
            <a:r>
              <a:rPr lang="zh-CN" altLang="en-US" sz="1800" dirty="0"/>
              <a:t>使用</a:t>
            </a:r>
            <a:r>
              <a:rPr lang="en-US" altLang="zh-CN" sz="1800" dirty="0"/>
              <a:t>let</a:t>
            </a:r>
            <a:r>
              <a:rPr lang="zh-CN" altLang="en-US" sz="1800" dirty="0"/>
              <a:t>改进循环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 err="1"/>
              <a:t>const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=[];</a:t>
            </a:r>
          </a:p>
          <a:p>
            <a:r>
              <a:rPr lang="en-US" altLang="zh-CN" sz="1800" dirty="0"/>
              <a:t>    for(let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=0;i&lt;10;i++)</a:t>
            </a:r>
          </a:p>
          <a:p>
            <a:r>
              <a:rPr lang="en-US" altLang="zh-CN" sz="1800" dirty="0"/>
              <a:t>    {</a:t>
            </a:r>
          </a:p>
          <a:p>
            <a:r>
              <a:rPr lang="en-US" altLang="zh-CN" sz="1800" dirty="0"/>
              <a:t>        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[</a:t>
            </a:r>
            <a:r>
              <a:rPr lang="en-US" altLang="zh-CN" sz="1800" dirty="0" err="1"/>
              <a:t>i</a:t>
            </a:r>
            <a:r>
              <a:rPr lang="en-US" altLang="zh-CN" sz="1800" dirty="0"/>
              <a:t>]=function()</a:t>
            </a:r>
          </a:p>
          <a:p>
            <a:r>
              <a:rPr lang="en-US" altLang="zh-CN" sz="1800" dirty="0"/>
              <a:t>        {</a:t>
            </a:r>
          </a:p>
          <a:p>
            <a:r>
              <a:rPr lang="en-US" altLang="zh-CN" sz="1800" dirty="0"/>
              <a:t>            return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console.log(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[4]())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 smtClean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25655" y="300568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465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739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    </a:t>
            </a:r>
            <a:r>
              <a:rPr lang="zh-CN" altLang="en-US" sz="2000" b="1" dirty="0" smtClean="0"/>
              <a:t>常用场景</a:t>
            </a:r>
            <a:r>
              <a:rPr lang="en-US" altLang="zh-CN" sz="2000" b="1" dirty="0" smtClean="0"/>
              <a:t>:</a:t>
            </a:r>
            <a:r>
              <a:rPr lang="zh-CN" altLang="en-US" sz="2000" b="1" dirty="0"/>
              <a:t>     </a:t>
            </a:r>
            <a:endParaRPr lang="en-US" altLang="zh-CN" sz="2000" b="1" dirty="0" smtClean="0"/>
          </a:p>
          <a:p>
            <a:r>
              <a:rPr lang="zh-CN" altLang="en-US" sz="1800" dirty="0" smtClean="0"/>
              <a:t>    </a:t>
            </a:r>
            <a:endParaRPr lang="en-US" altLang="zh-CN" sz="1800" dirty="0" smtClean="0"/>
          </a:p>
          <a:p>
            <a:r>
              <a:rPr lang="en-US" altLang="zh-CN" sz="1800" dirty="0"/>
              <a:t> </a:t>
            </a:r>
            <a:r>
              <a:rPr lang="en-US" altLang="zh-CN" sz="1800" dirty="0" smtClean="0"/>
              <a:t>   </a:t>
            </a:r>
            <a:r>
              <a:rPr lang="zh-CN" altLang="en-US" sz="1800" b="1" dirty="0" smtClean="0"/>
              <a:t>不</a:t>
            </a:r>
            <a:r>
              <a:rPr lang="zh-CN" altLang="en-US" sz="1800" b="1" dirty="0"/>
              <a:t>污染</a:t>
            </a:r>
            <a:r>
              <a:rPr lang="zh-CN" altLang="en-US" sz="1800" b="1" dirty="0" smtClean="0"/>
              <a:t>全局变量</a:t>
            </a:r>
            <a:endParaRPr lang="en-US" altLang="zh-CN" sz="1800" b="1" dirty="0" smtClean="0"/>
          </a:p>
          <a:p>
            <a:endParaRPr lang="zh-CN" altLang="en-US" sz="1800" dirty="0"/>
          </a:p>
          <a:p>
            <a:r>
              <a:rPr lang="zh-CN" altLang="en-US" sz="1800" dirty="0"/>
              <a:t>    </a:t>
            </a:r>
            <a:r>
              <a:rPr lang="en-US" altLang="zh-CN" sz="1800" dirty="0" err="1" smtClean="0"/>
              <a:t>window.RexExt</a:t>
            </a:r>
            <a:r>
              <a:rPr lang="en-US" altLang="zh-CN" sz="1800" dirty="0" smtClean="0"/>
              <a:t>=2;</a:t>
            </a:r>
          </a:p>
          <a:p>
            <a:endParaRPr lang="en-US" altLang="zh-CN" sz="1800" dirty="0"/>
          </a:p>
          <a:p>
            <a:r>
              <a:rPr lang="en-US" altLang="zh-CN" sz="1800" dirty="0"/>
              <a:t>    </a:t>
            </a:r>
            <a:r>
              <a:rPr lang="en-US" altLang="zh-CN" sz="1800" dirty="0" err="1" smtClean="0"/>
              <a:t>var</a:t>
            </a:r>
            <a:r>
              <a:rPr lang="en-US" altLang="zh-CN" sz="1800" dirty="0" smtClean="0"/>
              <a:t> </a:t>
            </a:r>
            <a:r>
              <a:rPr lang="en-US" altLang="zh-CN" sz="1800" dirty="0" err="1"/>
              <a:t>RexExt</a:t>
            </a:r>
            <a:r>
              <a:rPr lang="en-US" altLang="zh-CN" sz="1800" dirty="0"/>
              <a:t>=3</a:t>
            </a:r>
            <a:r>
              <a:rPr lang="en-US" altLang="zh-CN" sz="1800" dirty="0" smtClean="0"/>
              <a:t>;</a:t>
            </a:r>
          </a:p>
          <a:p>
            <a:endParaRPr lang="en-US" altLang="zh-CN" sz="1800" dirty="0"/>
          </a:p>
          <a:p>
            <a:r>
              <a:rPr lang="en-US" altLang="zh-CN" sz="1800" dirty="0"/>
              <a:t>    </a:t>
            </a:r>
            <a:r>
              <a:rPr lang="en-US" altLang="zh-CN" sz="1800" dirty="0" smtClean="0"/>
              <a:t>let </a:t>
            </a:r>
            <a:r>
              <a:rPr lang="en-US" altLang="zh-CN" sz="1800" dirty="0" err="1"/>
              <a:t>RexExt</a:t>
            </a:r>
            <a:r>
              <a:rPr lang="en-US" altLang="zh-CN" sz="1800" dirty="0"/>
              <a:t>=3;</a:t>
            </a:r>
          </a:p>
          <a:p>
            <a:r>
              <a:rPr lang="en-US" altLang="zh-CN" sz="1800" dirty="0"/>
              <a:t>    </a:t>
            </a:r>
          </a:p>
          <a:p>
            <a:r>
              <a:rPr lang="en-US" altLang="zh-CN" sz="1800" dirty="0"/>
              <a:t>    </a:t>
            </a:r>
            <a:r>
              <a:rPr lang="en-US" altLang="zh-CN" sz="1800" dirty="0" smtClean="0"/>
              <a:t>console.log(</a:t>
            </a:r>
            <a:r>
              <a:rPr lang="en-US" altLang="zh-CN" sz="1800" dirty="0" err="1" smtClean="0"/>
              <a:t>window.RexExt</a:t>
            </a:r>
            <a:r>
              <a:rPr lang="en-US" altLang="zh-CN" sz="1800" dirty="0"/>
              <a:t>)</a:t>
            </a:r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 smtClean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25655" y="300568"/>
            <a:ext cx="390042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1.Let</a:t>
            </a:r>
            <a:r>
              <a:rPr lang="zh-CN" altLang="en-US" b="1" dirty="0" smtClean="0"/>
              <a:t>和</a:t>
            </a:r>
            <a:r>
              <a:rPr lang="en-US" altLang="zh-CN" b="1" dirty="0" err="1" smtClean="0"/>
              <a:t>const</a:t>
            </a:r>
            <a:r>
              <a:rPr lang="zh-CN" altLang="en-US" b="1" dirty="0" smtClean="0"/>
              <a:t>的用法</a:t>
            </a:r>
            <a:endParaRPr lang="zh-CN" altLang="en-US" b="1" dirty="0"/>
          </a:p>
        </p:txBody>
      </p:sp>
      <p:sp>
        <p:nvSpPr>
          <p:cNvPr id="5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98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875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    </a:t>
            </a:r>
            <a:r>
              <a:rPr lang="zh-CN" altLang="en-US" sz="2000" b="1" dirty="0" smtClean="0"/>
              <a:t>使用反引号将模板括起来，用占位符填充变量</a:t>
            </a:r>
            <a:r>
              <a:rPr lang="en-US" altLang="zh-CN" sz="2000" b="1" dirty="0" smtClean="0"/>
              <a:t>,</a:t>
            </a:r>
            <a:r>
              <a:rPr lang="zh-CN" altLang="en-US" sz="2000" b="1" dirty="0" smtClean="0"/>
              <a:t>避免双引号或者单引号引起的错误</a:t>
            </a:r>
            <a:r>
              <a:rPr lang="en-US" altLang="zh-CN" sz="2000" b="1" dirty="0" smtClean="0"/>
              <a:t> :</a:t>
            </a:r>
          </a:p>
          <a:p>
            <a:endParaRPr lang="en-US" altLang="zh-CN" sz="2000" dirty="0"/>
          </a:p>
          <a:p>
            <a:pPr lvl="1"/>
            <a:r>
              <a:rPr lang="en-US" altLang="zh-CN" sz="2000" dirty="0" smtClean="0"/>
              <a:t>    let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 = `&lt;span&gt;hello world&lt;/span&gt;` 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     console.log(</a:t>
            </a:r>
            <a:r>
              <a:rPr lang="en-US" altLang="zh-CN" sz="2000" dirty="0" err="1" smtClean="0"/>
              <a:t>str</a:t>
            </a:r>
            <a:r>
              <a:rPr lang="en-US" altLang="zh-CN" sz="2000" dirty="0" smtClean="0"/>
              <a:t>)</a:t>
            </a:r>
          </a:p>
          <a:p>
            <a:pPr lvl="1"/>
            <a:endParaRPr lang="en-US" altLang="zh-CN" sz="2000" dirty="0"/>
          </a:p>
          <a:p>
            <a:r>
              <a:rPr lang="zh-CN" altLang="en-US" sz="2000" b="1" dirty="0" smtClean="0"/>
              <a:t>    常用场景</a:t>
            </a:r>
            <a:r>
              <a:rPr lang="en-US" altLang="zh-CN" sz="2000" b="1" dirty="0" smtClean="0"/>
              <a:t>:</a:t>
            </a:r>
          </a:p>
          <a:p>
            <a:endParaRPr lang="en-US" altLang="zh-CN" sz="2000" dirty="0"/>
          </a:p>
          <a:p>
            <a:r>
              <a:rPr lang="zh-CN" altLang="en-US" sz="2000" b="1" dirty="0" smtClean="0"/>
              <a:t>    服务器返回数据，</a:t>
            </a:r>
            <a:r>
              <a:rPr lang="en-US" altLang="zh-CN" sz="2000" b="1" dirty="0" err="1" smtClean="0"/>
              <a:t>js</a:t>
            </a:r>
            <a:r>
              <a:rPr lang="zh-CN" altLang="en-US" sz="2000" b="1" dirty="0" smtClean="0"/>
              <a:t>动态添加</a:t>
            </a:r>
            <a:r>
              <a:rPr lang="en-US" altLang="zh-CN" sz="2000" b="1" dirty="0" smtClean="0"/>
              <a:t>html</a:t>
            </a:r>
            <a:r>
              <a:rPr lang="zh-CN" altLang="en-US" sz="2000" b="1" dirty="0" smtClean="0"/>
              <a:t>代码到页面元素</a:t>
            </a:r>
            <a:r>
              <a:rPr lang="en-US" altLang="zh-CN" sz="2000" b="1" dirty="0" smtClean="0"/>
              <a:t>:</a:t>
            </a:r>
          </a:p>
          <a:p>
            <a:r>
              <a:rPr lang="en-US" altLang="zh-CN" sz="2000" dirty="0" smtClean="0"/>
              <a:t>   </a:t>
            </a:r>
            <a:r>
              <a:rPr lang="en-US" altLang="zh-CN" sz="2000" dirty="0"/>
              <a:t> </a:t>
            </a:r>
            <a:r>
              <a:rPr lang="en-US" altLang="zh-CN" sz="2000" dirty="0" err="1"/>
              <a:t>const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divobj</a:t>
            </a:r>
            <a:r>
              <a:rPr lang="en-US" altLang="zh-CN" sz="2000" dirty="0"/>
              <a:t>=</a:t>
            </a:r>
            <a:r>
              <a:rPr lang="en-US" altLang="zh-CN" sz="2000" dirty="0" err="1"/>
              <a:t>document.querySelector</a:t>
            </a:r>
            <a:r>
              <a:rPr lang="en-US" altLang="zh-CN" sz="2000" dirty="0"/>
              <a:t>(".box");</a:t>
            </a:r>
          </a:p>
          <a:p>
            <a:r>
              <a:rPr lang="en-US" altLang="zh-CN" sz="2000" dirty="0"/>
              <a:t>    console.log(</a:t>
            </a:r>
            <a:r>
              <a:rPr lang="en-US" altLang="zh-CN" sz="2000" dirty="0" err="1"/>
              <a:t>divobj</a:t>
            </a:r>
            <a:r>
              <a:rPr lang="en-US" altLang="zh-CN" sz="2000" dirty="0"/>
              <a:t>);</a:t>
            </a:r>
          </a:p>
          <a:p>
            <a:r>
              <a:rPr lang="en-US" altLang="zh-CN" sz="2000" dirty="0"/>
              <a:t>    let aid="ul1";</a:t>
            </a:r>
          </a:p>
          <a:p>
            <a:r>
              <a:rPr lang="en-US" altLang="zh-CN" sz="2000" dirty="0"/>
              <a:t>    let </a:t>
            </a:r>
            <a:r>
              <a:rPr lang="en-US" altLang="zh-CN" sz="2000" dirty="0" err="1"/>
              <a:t>bvalue</a:t>
            </a:r>
            <a:r>
              <a:rPr lang="en-US" altLang="zh-CN" sz="2000" dirty="0"/>
              <a:t>="</a:t>
            </a:r>
            <a:r>
              <a:rPr lang="zh-CN" altLang="en-US" sz="2000" dirty="0"/>
              <a:t>测试</a:t>
            </a:r>
            <a:r>
              <a:rPr lang="en-US" altLang="zh-CN" sz="2000" dirty="0"/>
              <a:t>3</a:t>
            </a:r>
            <a:r>
              <a:rPr lang="en-US" altLang="zh-CN" sz="2000" dirty="0" smtClean="0"/>
              <a:t>"</a:t>
            </a:r>
            <a:endParaRPr lang="en-US" altLang="zh-CN" sz="2000" dirty="0"/>
          </a:p>
          <a:p>
            <a:r>
              <a:rPr lang="en-US" altLang="zh-CN" sz="2000" dirty="0"/>
              <a:t>    </a:t>
            </a:r>
            <a:r>
              <a:rPr lang="en-US" altLang="zh-CN" sz="2000" dirty="0" err="1"/>
              <a:t>divobj.innerHTML</a:t>
            </a:r>
            <a:r>
              <a:rPr lang="en-US" altLang="zh-CN" sz="2000" dirty="0"/>
              <a:t>=` &lt;</a:t>
            </a:r>
            <a:r>
              <a:rPr lang="en-US" altLang="zh-CN" sz="2000" dirty="0" err="1"/>
              <a:t>ul</a:t>
            </a:r>
            <a:r>
              <a:rPr lang="en-US" altLang="zh-CN" sz="2000" dirty="0"/>
              <a:t> a="${aid}"&gt;&lt;li&gt;</a:t>
            </a:r>
            <a:r>
              <a:rPr lang="zh-CN" altLang="en-US" sz="2000" dirty="0"/>
              <a:t>测试</a:t>
            </a:r>
            <a:r>
              <a:rPr lang="en-US" altLang="zh-CN" sz="2000" dirty="0"/>
              <a:t>&lt;/li&gt;&lt;li&gt;${</a:t>
            </a:r>
            <a:r>
              <a:rPr lang="en-US" altLang="zh-CN" sz="2000" dirty="0" err="1"/>
              <a:t>bvalue</a:t>
            </a:r>
            <a:r>
              <a:rPr lang="en-US" altLang="zh-CN" sz="2000" dirty="0"/>
              <a:t>}&lt;/li&gt;&lt;/</a:t>
            </a:r>
            <a:r>
              <a:rPr lang="en-US" altLang="zh-CN" sz="2000" dirty="0" err="1"/>
              <a:t>ul</a:t>
            </a:r>
            <a:r>
              <a:rPr lang="en-US" altLang="zh-CN" sz="2000" dirty="0"/>
              <a:t>&gt;`;</a:t>
            </a:r>
          </a:p>
          <a:p>
            <a:endParaRPr lang="en-US" altLang="zh-CN" sz="2000" b="1" dirty="0" smtClean="0"/>
          </a:p>
          <a:p>
            <a:r>
              <a:rPr lang="en-US" altLang="zh-CN" sz="1800" dirty="0" smtClean="0"/>
              <a:t>    </a:t>
            </a:r>
            <a:r>
              <a:rPr lang="zh-CN" altLang="en-US" sz="1800" b="1" dirty="0" smtClean="0"/>
              <a:t>占位符号中也可以是函数</a:t>
            </a:r>
            <a:r>
              <a:rPr lang="en-US" altLang="zh-CN" sz="1800" b="1" dirty="0" smtClean="0"/>
              <a:t>:</a:t>
            </a:r>
          </a:p>
          <a:p>
            <a:r>
              <a:rPr lang="en-US" altLang="zh-CN" sz="1800" dirty="0" smtClean="0"/>
              <a:t>	function </a:t>
            </a:r>
            <a:r>
              <a:rPr lang="en-US" altLang="zh-CN" sz="1800" dirty="0"/>
              <a:t>fun() { return "</a:t>
            </a:r>
            <a:r>
              <a:rPr lang="zh-CN" altLang="en-US" sz="1800" dirty="0"/>
              <a:t>这是一个函数</a:t>
            </a:r>
            <a:r>
              <a:rPr lang="en-US" altLang="zh-CN" sz="1800" dirty="0"/>
              <a:t>"; } </a:t>
            </a:r>
            <a:endParaRPr lang="en-US" altLang="zh-CN" sz="1800" dirty="0" smtClean="0"/>
          </a:p>
          <a:p>
            <a:r>
              <a:rPr lang="en-US" altLang="zh-CN" sz="1800" dirty="0" smtClean="0"/>
              <a:t>	let </a:t>
            </a:r>
            <a:r>
              <a:rPr lang="en-US" altLang="zh-CN" sz="1800" dirty="0"/>
              <a:t>info = `</a:t>
            </a:r>
            <a:r>
              <a:rPr lang="zh-CN" altLang="en-US" sz="1800" dirty="0"/>
              <a:t>我是</a:t>
            </a:r>
            <a:r>
              <a:rPr lang="en-US" altLang="zh-CN" sz="1800" dirty="0"/>
              <a:t>${</a:t>
            </a:r>
            <a:r>
              <a:rPr lang="en-US" altLang="zh-CN" sz="1800" dirty="0" err="1"/>
              <a:t>abc</a:t>
            </a:r>
            <a:r>
              <a:rPr lang="en-US" altLang="zh-CN" sz="1800" dirty="0"/>
              <a:t>},</a:t>
            </a:r>
            <a:r>
              <a:rPr lang="zh-CN" altLang="en-US" sz="1800" dirty="0"/>
              <a:t>今年</a:t>
            </a:r>
            <a:r>
              <a:rPr lang="en-US" altLang="zh-CN" sz="1800" dirty="0"/>
              <a:t>${age + 10},</a:t>
            </a:r>
            <a:r>
              <a:rPr lang="zh-CN" altLang="en-US" sz="1800" dirty="0"/>
              <a:t>我想说：</a:t>
            </a:r>
            <a:r>
              <a:rPr lang="en-US" altLang="zh-CN" sz="1800" dirty="0"/>
              <a:t>${fun</a:t>
            </a:r>
            <a:r>
              <a:rPr lang="en-US" altLang="zh-CN" sz="1800" dirty="0" smtClean="0"/>
              <a:t>()}`</a:t>
            </a:r>
          </a:p>
          <a:p>
            <a:r>
              <a:rPr lang="en-US" altLang="zh-CN" sz="1800" dirty="0" smtClean="0"/>
              <a:t> 	console.log(info)</a:t>
            </a:r>
            <a:endParaRPr lang="en-US" altLang="zh-CN" sz="1800" dirty="0"/>
          </a:p>
          <a:p>
            <a:endParaRPr lang="en-US" altLang="zh-CN" sz="2000" dirty="0"/>
          </a:p>
          <a:p>
            <a:endParaRPr lang="en-US" altLang="zh-CN" sz="2000" dirty="0" smtClean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35288" y="300568"/>
            <a:ext cx="265810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2.</a:t>
            </a:r>
            <a:r>
              <a:rPr lang="zh-CN" altLang="en-US" b="1" dirty="0" smtClean="0"/>
              <a:t>字符串</a:t>
            </a:r>
            <a:r>
              <a:rPr lang="zh-CN" altLang="en-US" b="1" dirty="0"/>
              <a:t>模板</a:t>
            </a:r>
          </a:p>
        </p:txBody>
      </p:sp>
      <p:sp>
        <p:nvSpPr>
          <p:cNvPr id="5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251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1082349"/>
            <a:ext cx="10039739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/>
              <a:t>   </a:t>
            </a:r>
            <a:endParaRPr lang="en-US" altLang="zh-CN" sz="2000" dirty="0" smtClean="0"/>
          </a:p>
          <a:p>
            <a:endParaRPr lang="en-US" altLang="zh-CN" sz="2000" dirty="0" smtClean="0">
              <a:solidFill>
                <a:srgbClr val="0070C0"/>
              </a:solidFill>
            </a:endParaRPr>
          </a:p>
          <a:p>
            <a:r>
              <a:rPr lang="en-US" altLang="zh-CN" sz="2000" dirty="0">
                <a:solidFill>
                  <a:srgbClr val="0070C0"/>
                </a:solidFill>
              </a:rPr>
              <a:t> </a:t>
            </a:r>
            <a:r>
              <a:rPr lang="en-US" altLang="zh-CN" sz="2000" dirty="0" smtClean="0">
                <a:solidFill>
                  <a:srgbClr val="0070C0"/>
                </a:solidFill>
              </a:rPr>
              <a:t>   </a:t>
            </a:r>
            <a:r>
              <a:rPr lang="en-US" altLang="zh-CN" sz="2000" dirty="0">
                <a:solidFill>
                  <a:srgbClr val="0070C0"/>
                </a:solidFill>
              </a:rPr>
              <a:t/>
            </a:r>
            <a:br>
              <a:rPr lang="en-US" altLang="zh-CN" sz="2000" dirty="0">
                <a:solidFill>
                  <a:srgbClr val="0070C0"/>
                </a:solidFill>
              </a:rPr>
            </a:br>
            <a:endParaRPr lang="en-US" altLang="zh-CN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2000" dirty="0"/>
          </a:p>
          <a:p>
            <a:r>
              <a:rPr lang="en-US" altLang="zh-CN" dirty="0"/>
              <a:t/>
            </a:r>
            <a:br>
              <a:rPr lang="en-US" altLang="zh-CN" dirty="0"/>
            </a:br>
            <a:endParaRPr lang="en-US" altLang="zh-CN" dirty="0"/>
          </a:p>
          <a:p>
            <a:endParaRPr lang="zh-CN" altLang="en-US" b="1" dirty="0"/>
          </a:p>
          <a:p>
            <a:endParaRPr lang="zh-CN" altLang="en-US" dirty="0"/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25655" y="281037"/>
            <a:ext cx="2658100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/>
              <a:t>2.</a:t>
            </a:r>
            <a:r>
              <a:rPr lang="zh-CN" altLang="en-US" b="1" dirty="0" smtClean="0"/>
              <a:t>字符串</a:t>
            </a:r>
            <a:r>
              <a:rPr lang="zh-CN" altLang="en-US" b="1" dirty="0"/>
              <a:t>模板</a:t>
            </a:r>
          </a:p>
        </p:txBody>
      </p:sp>
      <p:sp>
        <p:nvSpPr>
          <p:cNvPr id="2" name="矩形 1"/>
          <p:cNvSpPr/>
          <p:nvPr/>
        </p:nvSpPr>
        <p:spPr>
          <a:xfrm>
            <a:off x="643518" y="1322645"/>
            <a:ext cx="88266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let user = {name:"zhangsan",age:18</a:t>
            </a:r>
            <a:r>
              <a:rPr lang="en-US" altLang="zh-CN" dirty="0" smtClean="0"/>
              <a:t>};</a:t>
            </a:r>
          </a:p>
          <a:p>
            <a:pPr>
              <a:lnSpc>
                <a:spcPct val="150000"/>
              </a:lnSpc>
            </a:pPr>
            <a:r>
              <a:rPr lang="en-US" altLang="zh-CN" dirty="0" err="1" smtClean="0"/>
              <a:t>const</a:t>
            </a:r>
            <a:r>
              <a:rPr lang="en-US" altLang="zh-CN" dirty="0" smtClean="0"/>
              <a:t> </a:t>
            </a:r>
            <a:r>
              <a:rPr lang="en-US" altLang="zh-CN" dirty="0"/>
              <a:t>html = </a:t>
            </a:r>
            <a:r>
              <a:rPr lang="en-US" altLang="zh-CN" dirty="0" smtClean="0"/>
              <a:t>`&lt;</a:t>
            </a:r>
            <a:r>
              <a:rPr lang="en-US" altLang="zh-CN" dirty="0"/>
              <a:t>label&gt;</a:t>
            </a:r>
            <a:r>
              <a:rPr lang="zh-CN" altLang="en-US" dirty="0" smtClean="0"/>
              <a:t>姓名</a:t>
            </a:r>
            <a:r>
              <a:rPr lang="en-US" altLang="zh-CN" dirty="0" smtClean="0"/>
              <a:t>&lt;/</a:t>
            </a:r>
            <a:r>
              <a:rPr lang="en-US" altLang="zh-CN" dirty="0"/>
              <a:t>label&gt;:${user.name</a:t>
            </a:r>
            <a:r>
              <a:rPr lang="en-US" altLang="zh-CN" dirty="0" smtClean="0"/>
              <a:t>} &lt;</a:t>
            </a:r>
            <a:r>
              <a:rPr lang="en-US" altLang="zh-CN" dirty="0"/>
              <a:t>p&gt;&lt;/p&gt; 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dirty="0" smtClean="0"/>
              <a:t>&lt;</a:t>
            </a:r>
            <a:r>
              <a:rPr lang="en-US" altLang="zh-CN" dirty="0"/>
              <a:t>label&gt;</a:t>
            </a:r>
            <a:r>
              <a:rPr lang="zh-CN" altLang="en-US" dirty="0"/>
              <a:t>年龄</a:t>
            </a:r>
            <a:r>
              <a:rPr lang="en-US" altLang="zh-CN" dirty="0"/>
              <a:t>&lt;/label&gt;:${</a:t>
            </a:r>
            <a:r>
              <a:rPr lang="en-US" altLang="zh-CN" dirty="0" err="1"/>
              <a:t>user.age</a:t>
            </a:r>
            <a:r>
              <a:rPr lang="en-US" altLang="zh-CN" dirty="0" smtClean="0"/>
              <a:t>}`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console.log(html);</a:t>
            </a:r>
            <a:endParaRPr lang="en-US" altLang="zh-CN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6358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23076" y="789531"/>
            <a:ext cx="10039739" cy="638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 smtClean="0"/>
              <a:t>  </a:t>
            </a:r>
            <a:r>
              <a:rPr lang="en-US" altLang="zh-CN" sz="1600" b="1" dirty="0" smtClean="0"/>
              <a:t>1</a:t>
            </a:r>
            <a:r>
              <a:rPr lang="zh-CN" altLang="en-US" sz="1600" b="1" dirty="0" smtClean="0"/>
              <a:t>）函数</a:t>
            </a:r>
            <a:r>
              <a:rPr lang="zh-CN" altLang="en-US" sz="1600" b="1" dirty="0"/>
              <a:t>默认值：直接给参数写上默认值，没传就会自动使用默认</a:t>
            </a:r>
            <a:r>
              <a:rPr lang="zh-CN" altLang="en-US" sz="1600" b="1" dirty="0" smtClean="0"/>
              <a:t>值：</a:t>
            </a:r>
            <a:endParaRPr lang="en-US" altLang="zh-CN" sz="1600" b="1" dirty="0" smtClean="0"/>
          </a:p>
          <a:p>
            <a:r>
              <a:rPr lang="en-US" altLang="zh-CN" sz="1600" dirty="0"/>
              <a:t>    //ES5</a:t>
            </a:r>
            <a:r>
              <a:rPr lang="zh-CN" altLang="en-US" sz="1600" dirty="0"/>
              <a:t>中的写法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function test1(</a:t>
            </a:r>
            <a:r>
              <a:rPr lang="en-US" altLang="zh-CN" sz="1600" dirty="0" err="1"/>
              <a:t>a,b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    {</a:t>
            </a:r>
          </a:p>
          <a:p>
            <a:r>
              <a:rPr lang="en-US" altLang="zh-CN" sz="1600" dirty="0"/>
              <a:t>        a=a||10</a:t>
            </a:r>
          </a:p>
          <a:p>
            <a:r>
              <a:rPr lang="en-US" altLang="zh-CN" sz="1600" dirty="0"/>
              <a:t>        b=b||10</a:t>
            </a:r>
          </a:p>
          <a:p>
            <a:r>
              <a:rPr lang="en-US" altLang="zh-CN" sz="1600" dirty="0"/>
              <a:t>        return 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console.log(test1</a:t>
            </a:r>
            <a:r>
              <a:rPr lang="en-US" altLang="zh-CN" sz="1600" dirty="0" smtClean="0"/>
              <a:t>());</a:t>
            </a:r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//ES6</a:t>
            </a:r>
            <a:r>
              <a:rPr lang="zh-CN" altLang="en-US" sz="1600" dirty="0"/>
              <a:t>中的写法</a:t>
            </a:r>
            <a:r>
              <a:rPr lang="en-US" altLang="zh-CN" sz="1600" dirty="0"/>
              <a:t>:</a:t>
            </a:r>
            <a:endParaRPr lang="zh-CN" altLang="en-US" sz="1600" dirty="0"/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function test2(a=10,b=20)</a:t>
            </a:r>
          </a:p>
          <a:p>
            <a:r>
              <a:rPr lang="en-US" altLang="zh-CN" sz="1600" dirty="0"/>
              <a:t>    {</a:t>
            </a:r>
          </a:p>
          <a:p>
            <a:r>
              <a:rPr lang="en-US" altLang="zh-CN" sz="1600" dirty="0"/>
              <a:t>        return 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console.log(test2(50,60</a:t>
            </a:r>
            <a:r>
              <a:rPr lang="en-US" altLang="zh-CN" sz="1600" dirty="0" smtClean="0"/>
              <a:t>));</a:t>
            </a:r>
          </a:p>
          <a:p>
            <a:r>
              <a:rPr lang="zh-CN" altLang="en-US" sz="1600" dirty="0"/>
              <a:t>  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//</a:t>
            </a:r>
            <a:r>
              <a:rPr lang="zh-CN" altLang="en-US" sz="1600" dirty="0"/>
              <a:t>参数还可以是函数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function test2(a=10,b=</a:t>
            </a:r>
            <a:r>
              <a:rPr lang="en-US" altLang="zh-CN" sz="1600" dirty="0" err="1"/>
              <a:t>getVal</a:t>
            </a:r>
            <a:r>
              <a:rPr lang="en-US" altLang="zh-CN" sz="1600" dirty="0"/>
              <a:t>(1))</a:t>
            </a:r>
          </a:p>
          <a:p>
            <a:r>
              <a:rPr lang="en-US" altLang="zh-CN" sz="1600" dirty="0"/>
              <a:t>    {</a:t>
            </a:r>
          </a:p>
          <a:p>
            <a:r>
              <a:rPr lang="en-US" altLang="zh-CN" sz="1600" dirty="0"/>
              <a:t>        return </a:t>
            </a:r>
            <a:r>
              <a:rPr lang="en-US" altLang="zh-CN" sz="1600" dirty="0" err="1"/>
              <a:t>a+b</a:t>
            </a:r>
            <a:r>
              <a:rPr lang="en-US" altLang="zh-CN" sz="1600" dirty="0"/>
              <a:t>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function </a:t>
            </a:r>
            <a:r>
              <a:rPr lang="en-US" altLang="zh-CN" sz="1600" dirty="0" err="1"/>
              <a:t>getVal</a:t>
            </a:r>
            <a:r>
              <a:rPr lang="en-US" altLang="zh-CN" sz="1600" dirty="0"/>
              <a:t>(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/>
              <a:t>    {</a:t>
            </a:r>
          </a:p>
          <a:p>
            <a:r>
              <a:rPr lang="en-US" altLang="zh-CN" sz="1600" dirty="0"/>
              <a:t>        return val+10;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console.log(test2());</a:t>
            </a:r>
          </a:p>
          <a:p>
            <a:endParaRPr lang="en-US" altLang="zh-CN" sz="1800" dirty="0"/>
          </a:p>
          <a:p>
            <a:endParaRPr lang="en-US" altLang="zh-CN" sz="1800" b="1" dirty="0"/>
          </a:p>
        </p:txBody>
      </p:sp>
      <p:sp>
        <p:nvSpPr>
          <p:cNvPr id="4" name="矩形 3"/>
          <p:cNvSpPr/>
          <p:nvPr/>
        </p:nvSpPr>
        <p:spPr>
          <a:xfrm>
            <a:off x="586193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5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483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32285" y="893735"/>
            <a:ext cx="1003973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en-US" altLang="zh-CN" sz="1800" b="1" dirty="0" smtClean="0"/>
              <a:t>2</a:t>
            </a:r>
            <a:r>
              <a:rPr lang="zh-CN" altLang="en-US" sz="1800" b="1" dirty="0" smtClean="0"/>
              <a:t>）不定参数：</a:t>
            </a:r>
            <a:r>
              <a:rPr lang="zh-CN" altLang="en-US" sz="1800" b="1" dirty="0"/>
              <a:t>不定参数用了表示不确定的参数个数，形如</a:t>
            </a:r>
            <a:r>
              <a:rPr lang="en-US" altLang="zh-CN" sz="1800" b="1" dirty="0"/>
              <a:t>...</a:t>
            </a:r>
            <a:r>
              <a:rPr lang="zh-CN" altLang="en-US" sz="1800" b="1" dirty="0"/>
              <a:t>变量名，由</a:t>
            </a:r>
            <a:r>
              <a:rPr lang="en-US" altLang="zh-CN" sz="1800" b="1" dirty="0"/>
              <a:t>...</a:t>
            </a:r>
            <a:r>
              <a:rPr lang="zh-CN" altLang="en-US" sz="1800" b="1" dirty="0"/>
              <a:t>加上要给具名参数标识符</a:t>
            </a:r>
            <a:r>
              <a:rPr lang="zh-CN" altLang="en-US" sz="1800" b="1"/>
              <a:t>组成</a:t>
            </a:r>
            <a:r>
              <a:rPr lang="zh-CN" altLang="en-US" sz="1800" b="1"/>
              <a:t>。不定参数只能</a:t>
            </a:r>
            <a:r>
              <a:rPr lang="zh-CN" altLang="en-US" sz="1800" b="1" dirty="0"/>
              <a:t>放在参数列表的最后，并且有且只有一个不定</a:t>
            </a:r>
            <a:r>
              <a:rPr lang="zh-CN" altLang="en-US" sz="1800" b="1" dirty="0" smtClean="0"/>
              <a:t>参数：</a:t>
            </a:r>
            <a:endParaRPr lang="en-US" altLang="zh-CN" sz="1800" b="1" dirty="0" smtClean="0"/>
          </a:p>
          <a:p>
            <a:endParaRPr lang="zh-CN" altLang="en-US" sz="1800" b="1" dirty="0"/>
          </a:p>
          <a:p>
            <a:endParaRPr lang="zh-CN" altLang="en-US" sz="1800" b="1" dirty="0"/>
          </a:p>
        </p:txBody>
      </p:sp>
      <p:sp>
        <p:nvSpPr>
          <p:cNvPr id="4" name="矩形 3"/>
          <p:cNvSpPr/>
          <p:nvPr/>
        </p:nvSpPr>
        <p:spPr>
          <a:xfrm>
            <a:off x="432285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11506401" cy="3527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FF"/>
                </a:solidFill>
                <a:latin typeface="Courier New" panose="02070309020205020404" pitchFamily="49" charset="0"/>
              </a:rPr>
              <a:t>function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 </a:t>
            </a:r>
            <a:r>
              <a:rPr lang="en-US" altLang="zh-CN" sz="1800" dirty="0">
                <a:solidFill>
                  <a:srgbClr val="A31515"/>
                </a:solidFill>
                <a:latin typeface="Courier New" panose="02070309020205020404" pitchFamily="49" charset="0"/>
              </a:rPr>
              <a:t>fun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(...</a:t>
            </a:r>
            <a:r>
              <a:rPr lang="en-US" altLang="zh-CN" sz="1800" dirty="0" err="1">
                <a:solidFill>
                  <a:srgbClr val="444444"/>
                </a:solidFill>
                <a:latin typeface="Courier New" panose="02070309020205020404" pitchFamily="49" charset="0"/>
              </a:rPr>
              <a:t>params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) { </a:t>
            </a:r>
            <a:endParaRPr lang="en-US" altLang="zh-CN" sz="1800" dirty="0" smtClean="0">
              <a:solidFill>
                <a:srgbClr val="444444"/>
              </a:solidFill>
              <a:latin typeface="Courier New" panose="02070309020205020404" pitchFamily="49" charset="0"/>
            </a:endParaRPr>
          </a:p>
          <a:p>
            <a:r>
              <a:rPr lang="en-US" altLang="zh-CN" sz="1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console</a:t>
            </a:r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.</a:t>
            </a:r>
            <a:r>
              <a:rPr lang="en-US" altLang="zh-CN" sz="1800" dirty="0" smtClean="0">
                <a:solidFill>
                  <a:srgbClr val="A31515"/>
                </a:solidFill>
                <a:latin typeface="Courier New" panose="02070309020205020404" pitchFamily="49" charset="0"/>
              </a:rPr>
              <a:t>log</a:t>
            </a:r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 err="1" smtClean="0">
                <a:solidFill>
                  <a:srgbClr val="444444"/>
                </a:solidFill>
                <a:latin typeface="Courier New" panose="02070309020205020404" pitchFamily="49" charset="0"/>
              </a:rPr>
              <a:t>params.lengt</a:t>
            </a:r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) </a:t>
            </a:r>
          </a:p>
          <a:p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} </a:t>
            </a:r>
          </a:p>
          <a:p>
            <a:r>
              <a:rPr lang="en-US" altLang="zh-CN" sz="1800" dirty="0" smtClean="0">
                <a:solidFill>
                  <a:srgbClr val="A31515"/>
                </a:solidFill>
                <a:latin typeface="Courier New" panose="02070309020205020404" pitchFamily="49" charset="0"/>
              </a:rPr>
              <a:t>fun</a:t>
            </a:r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 smtClean="0">
                <a:solidFill>
                  <a:srgbClr val="88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dirty="0">
                <a:solidFill>
                  <a:srgbClr val="88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</a:rPr>
              <a:t>// 2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 </a:t>
            </a:r>
            <a:endParaRPr lang="en-US" altLang="zh-CN" sz="1800" dirty="0" smtClean="0">
              <a:solidFill>
                <a:srgbClr val="444444"/>
              </a:solidFill>
              <a:latin typeface="Courier New" panose="02070309020205020404" pitchFamily="49" charset="0"/>
            </a:endParaRPr>
          </a:p>
          <a:p>
            <a:r>
              <a:rPr lang="en-US" altLang="zh-CN" sz="1800" dirty="0" smtClean="0">
                <a:solidFill>
                  <a:srgbClr val="A31515"/>
                </a:solidFill>
                <a:latin typeface="Courier New" panose="02070309020205020404" pitchFamily="49" charset="0"/>
              </a:rPr>
              <a:t>fun</a:t>
            </a:r>
            <a:r>
              <a:rPr lang="en-US" altLang="zh-CN" sz="1800" dirty="0" smtClean="0">
                <a:solidFill>
                  <a:srgbClr val="444444"/>
                </a:solidFill>
                <a:latin typeface="Courier New" panose="02070309020205020404" pitchFamily="49" charset="0"/>
              </a:rPr>
              <a:t>(</a:t>
            </a:r>
            <a:r>
              <a:rPr lang="en-US" altLang="zh-CN" sz="1800" dirty="0" smtClean="0">
                <a:solidFill>
                  <a:srgbClr val="880000"/>
                </a:solidFill>
                <a:latin typeface="Courier New" panose="02070309020205020404" pitchFamily="49" charset="0"/>
              </a:rPr>
              <a:t>1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dirty="0">
                <a:solidFill>
                  <a:srgbClr val="880000"/>
                </a:solidFill>
                <a:latin typeface="Courier New" panose="02070309020205020404" pitchFamily="49" charset="0"/>
              </a:rPr>
              <a:t>2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dirty="0">
                <a:solidFill>
                  <a:srgbClr val="880000"/>
                </a:solidFill>
                <a:latin typeface="Courier New" panose="02070309020205020404" pitchFamily="49" charset="0"/>
              </a:rPr>
              <a:t>3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, </a:t>
            </a:r>
            <a:r>
              <a:rPr lang="en-US" altLang="zh-CN" sz="1800" dirty="0">
                <a:solidFill>
                  <a:srgbClr val="880000"/>
                </a:solidFill>
                <a:latin typeface="Courier New" panose="02070309020205020404" pitchFamily="49" charset="0"/>
              </a:rPr>
              <a:t>4</a:t>
            </a:r>
            <a:r>
              <a:rPr lang="en-US" altLang="zh-CN" sz="1800" dirty="0">
                <a:solidFill>
                  <a:srgbClr val="444444"/>
                </a:solidFill>
                <a:latin typeface="Courier New" panose="02070309020205020404" pitchFamily="49" charset="0"/>
              </a:rPr>
              <a:t>) </a:t>
            </a:r>
            <a:r>
              <a:rPr lang="en-US" altLang="zh-CN" sz="1800" dirty="0">
                <a:solidFill>
                  <a:srgbClr val="008000"/>
                </a:solidFill>
                <a:latin typeface="Courier New" panose="02070309020205020404" pitchFamily="49" charset="0"/>
              </a:rPr>
              <a:t>//</a:t>
            </a:r>
            <a:r>
              <a:rPr lang="en-US" altLang="zh-CN" sz="1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4</a:t>
            </a:r>
          </a:p>
          <a:p>
            <a:r>
              <a:rPr lang="zh-CN" altLang="en-US" sz="1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常用场景</a:t>
            </a:r>
            <a:r>
              <a:rPr lang="en-US" altLang="zh-CN" sz="18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:</a:t>
            </a:r>
            <a:endParaRPr lang="en-US" altLang="zh-CN" sz="1800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r>
              <a:rPr lang="en-US" altLang="zh-CN" sz="1800" dirty="0"/>
              <a:t>function test8(...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)</a:t>
            </a:r>
          </a:p>
          <a:p>
            <a:r>
              <a:rPr lang="en-US" altLang="zh-CN" sz="1800" dirty="0" smtClean="0"/>
              <a:t>{</a:t>
            </a:r>
            <a:endParaRPr lang="en-US" altLang="zh-CN" sz="1800" dirty="0"/>
          </a:p>
          <a:p>
            <a:r>
              <a:rPr lang="en-US" altLang="zh-CN" sz="1800" dirty="0"/>
              <a:t>        console.log(</a:t>
            </a:r>
            <a:r>
              <a:rPr lang="en-US" altLang="zh-CN" sz="1800" dirty="0" err="1"/>
              <a:t>args</a:t>
            </a:r>
            <a:r>
              <a:rPr lang="en-US" altLang="zh-CN" sz="1800" dirty="0"/>
              <a:t>);//</a:t>
            </a:r>
            <a:r>
              <a:rPr lang="zh-CN" altLang="en-US" sz="1800" dirty="0"/>
              <a:t>真实</a:t>
            </a:r>
            <a:r>
              <a:rPr lang="zh-CN" altLang="en-US" sz="1800" dirty="0" smtClean="0"/>
              <a:t>数组</a:t>
            </a:r>
            <a:r>
              <a:rPr lang="en-US" altLang="zh-CN" sz="1800" dirty="0" smtClean="0"/>
              <a:t>,</a:t>
            </a:r>
            <a:r>
              <a:rPr lang="zh-CN" altLang="en-US" sz="1800" dirty="0" smtClean="0"/>
              <a:t>可调用数组循环属性</a:t>
            </a:r>
            <a:endParaRPr lang="en-US" altLang="zh-CN" sz="1800" dirty="0"/>
          </a:p>
          <a:p>
            <a:r>
              <a:rPr lang="en-US" altLang="zh-CN" sz="1800" dirty="0"/>
              <a:t>        console.log(arguments);//</a:t>
            </a:r>
            <a:r>
              <a:rPr lang="zh-CN" altLang="en-US" sz="1800" dirty="0"/>
              <a:t>伪数组</a:t>
            </a:r>
            <a:endParaRPr lang="en-US" altLang="zh-CN" sz="1800" dirty="0"/>
          </a:p>
          <a:p>
            <a:r>
              <a:rPr lang="en-US" altLang="zh-CN" sz="1800" dirty="0" smtClean="0"/>
              <a:t>}</a:t>
            </a:r>
            <a:endParaRPr lang="en-US" altLang="zh-CN" sz="1800" dirty="0"/>
          </a:p>
          <a:p>
            <a:r>
              <a:rPr lang="en-US" altLang="zh-CN" sz="1800" dirty="0" smtClean="0"/>
              <a:t>test8(1,2,3,4,5,6</a:t>
            </a:r>
            <a:r>
              <a:rPr lang="en-US" altLang="zh-CN" sz="1800" dirty="0"/>
              <a:t>)</a:t>
            </a:r>
          </a:p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358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779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b="1" dirty="0"/>
              <a:t>箭头函数</a:t>
            </a:r>
            <a:r>
              <a:rPr lang="en-US" altLang="zh-CN" sz="1600" b="1" dirty="0"/>
              <a:t>-Arrow </a:t>
            </a:r>
            <a:r>
              <a:rPr lang="en-US" altLang="zh-CN" sz="1600" b="1" dirty="0" err="1"/>
              <a:t>Fuctions</a:t>
            </a:r>
            <a:endParaRPr lang="en-US" altLang="zh-CN" sz="1600" b="1" dirty="0"/>
          </a:p>
          <a:p>
            <a:r>
              <a:rPr lang="zh-CN" altLang="en-US" sz="1600" dirty="0" smtClean="0"/>
              <a:t>    箭头</a:t>
            </a:r>
            <a:r>
              <a:rPr lang="zh-CN" altLang="en-US" sz="1600" dirty="0"/>
              <a:t>函数有他的便捷有他的优点，但是他也有缺点，他的优点是代码简洁，</a:t>
            </a:r>
            <a:r>
              <a:rPr lang="en-US" altLang="zh-CN" sz="1600" dirty="0"/>
              <a:t>this</a:t>
            </a:r>
            <a:r>
              <a:rPr lang="zh-CN" altLang="en-US" sz="1600" dirty="0"/>
              <a:t>提前定义，但他的缺点也是这些，比如代码太过简洁，导致不好阅读，</a:t>
            </a:r>
            <a:r>
              <a:rPr lang="en-US" altLang="zh-CN" sz="1600" dirty="0"/>
              <a:t>this</a:t>
            </a:r>
            <a:r>
              <a:rPr lang="zh-CN" altLang="en-US" sz="1600" dirty="0"/>
              <a:t>提前定义，导致无法使用</a:t>
            </a:r>
            <a:r>
              <a:rPr lang="en-US" altLang="zh-CN" sz="1600" dirty="0" err="1"/>
              <a:t>js</a:t>
            </a:r>
            <a:r>
              <a:rPr lang="zh-CN" altLang="en-US" sz="1600" dirty="0"/>
              <a:t>进行一些</a:t>
            </a:r>
            <a:r>
              <a:rPr lang="en-US" altLang="zh-CN" sz="1600" dirty="0"/>
              <a:t>es5</a:t>
            </a:r>
            <a:r>
              <a:rPr lang="zh-CN" altLang="en-US" sz="1600" dirty="0"/>
              <a:t>里面看起来非常正常的操作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zh-CN" altLang="en-US" sz="1600" b="1" dirty="0" smtClean="0"/>
              <a:t>基础语法</a:t>
            </a:r>
            <a:endParaRPr lang="en-US" altLang="zh-CN" sz="1600" b="1" dirty="0" smtClean="0"/>
          </a:p>
          <a:p>
            <a:r>
              <a:rPr lang="en-US" altLang="zh-CN" sz="1600" dirty="0"/>
              <a:t>// </a:t>
            </a:r>
            <a:r>
              <a:rPr lang="en-US" altLang="zh-CN" sz="1600" dirty="0" err="1"/>
              <a:t>demoFun</a:t>
            </a:r>
            <a:r>
              <a:rPr lang="en-US" altLang="zh-CN" sz="1600" dirty="0"/>
              <a:t> </a:t>
            </a:r>
            <a:r>
              <a:rPr lang="zh-CN" altLang="en-US" sz="1600" dirty="0"/>
              <a:t>为函数名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oArgument</a:t>
            </a:r>
            <a:r>
              <a:rPr lang="en-US" altLang="zh-CN" sz="1600" dirty="0"/>
              <a:t> </a:t>
            </a:r>
            <a:r>
              <a:rPr lang="zh-CN" altLang="en-US" sz="1600" dirty="0"/>
              <a:t>为函数形参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oDessert</a:t>
            </a:r>
            <a:r>
              <a:rPr lang="en-US" altLang="zh-CN" sz="1600" dirty="0"/>
              <a:t> </a:t>
            </a:r>
            <a:r>
              <a:rPr lang="zh-CN" altLang="en-US" sz="1600" dirty="0"/>
              <a:t>为返回的</a:t>
            </a:r>
            <a:r>
              <a:rPr lang="zh-CN" altLang="en-US" sz="1600" dirty="0" smtClean="0"/>
              <a:t>值</a:t>
            </a:r>
            <a:endParaRPr lang="zh-CN" altLang="en-US" sz="1600" b="1" dirty="0"/>
          </a:p>
          <a:p>
            <a:r>
              <a:rPr lang="en-US" altLang="zh-CN" sz="1600" dirty="0" smtClean="0"/>
              <a:t> let </a:t>
            </a:r>
            <a:r>
              <a:rPr lang="en-US" altLang="zh-CN" sz="1600" dirty="0" err="1"/>
              <a:t>demoFun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oArgument</a:t>
            </a:r>
            <a:r>
              <a:rPr lang="en-US" altLang="zh-CN" sz="1600" dirty="0"/>
              <a:t> =&gt; </a:t>
            </a:r>
            <a:r>
              <a:rPr lang="en-US" altLang="zh-CN" sz="1600" dirty="0" err="1" smtClean="0"/>
              <a:t>oDessert</a:t>
            </a:r>
            <a:endParaRPr lang="en-US" altLang="zh-CN" sz="1600" dirty="0" smtClean="0"/>
          </a:p>
          <a:p>
            <a:endParaRPr lang="en-US" altLang="zh-CN" sz="1600" dirty="0"/>
          </a:p>
          <a:p>
            <a:r>
              <a:rPr lang="en-US" altLang="zh-CN" sz="1600" dirty="0" smtClean="0"/>
              <a:t>let </a:t>
            </a:r>
            <a:r>
              <a:rPr lang="en-US" altLang="zh-CN" sz="1600" dirty="0" err="1"/>
              <a:t>demoFun</a:t>
            </a:r>
            <a:r>
              <a:rPr lang="en-US" altLang="zh-CN" sz="1600" dirty="0"/>
              <a:t> = (</a:t>
            </a:r>
            <a:r>
              <a:rPr lang="en-US" altLang="zh-CN" sz="1600" dirty="0" err="1"/>
              <a:t>oArgument</a:t>
            </a:r>
            <a:r>
              <a:rPr lang="en-US" altLang="zh-CN" sz="1600" dirty="0"/>
              <a:t>, drink) =&gt; </a:t>
            </a:r>
            <a:r>
              <a:rPr lang="en-US" altLang="zh-CN" sz="1600" dirty="0" err="1"/>
              <a:t>oArgument</a:t>
            </a:r>
            <a:r>
              <a:rPr lang="en-US" altLang="zh-CN" sz="1600" dirty="0"/>
              <a:t> + </a:t>
            </a:r>
            <a:r>
              <a:rPr lang="en-US" altLang="zh-CN" sz="1600" dirty="0" smtClean="0"/>
              <a:t>drink// </a:t>
            </a:r>
            <a:r>
              <a:rPr lang="zh-CN" altLang="en-US" sz="1600" dirty="0"/>
              <a:t>返回的是 </a:t>
            </a:r>
            <a:r>
              <a:rPr lang="en-US" altLang="zh-CN" sz="1600" dirty="0" err="1"/>
              <a:t>oArgument</a:t>
            </a:r>
            <a:r>
              <a:rPr lang="en-US" altLang="zh-CN" sz="1600" dirty="0"/>
              <a:t> + </a:t>
            </a:r>
            <a:r>
              <a:rPr lang="en-US" altLang="zh-CN" sz="1600" dirty="0" smtClean="0"/>
              <a:t>drink</a:t>
            </a:r>
            <a:endParaRPr lang="en-US" altLang="zh-CN" sz="1600" dirty="0"/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demoFun</a:t>
            </a:r>
            <a:r>
              <a:rPr lang="en-US" altLang="zh-CN" sz="1600" dirty="0"/>
              <a:t> = </a:t>
            </a:r>
            <a:r>
              <a:rPr lang="en-US" altLang="zh-CN" sz="1600" dirty="0" err="1"/>
              <a:t>params</a:t>
            </a:r>
            <a:r>
              <a:rPr lang="en-US" altLang="zh-CN" sz="1600" dirty="0"/>
              <a:t> =&gt; ({foo: bar</a:t>
            </a:r>
            <a:r>
              <a:rPr lang="en-US" altLang="zh-CN" sz="1600" dirty="0" smtClean="0"/>
              <a:t>})//</a:t>
            </a:r>
            <a:r>
              <a:rPr lang="zh-CN" altLang="en-US" sz="1600" dirty="0"/>
              <a:t>返回一个对象时，函数体外要加</a:t>
            </a:r>
            <a:r>
              <a:rPr lang="zh-CN" altLang="en-US" sz="1600" dirty="0" smtClean="0"/>
              <a:t>圆括号</a:t>
            </a:r>
            <a:endParaRPr lang="zh-CN" altLang="en-US" sz="1600" dirty="0"/>
          </a:p>
          <a:p>
            <a:r>
              <a:rPr lang="en-US" altLang="zh-CN" sz="1600" dirty="0"/>
              <a:t>let </a:t>
            </a:r>
            <a:r>
              <a:rPr lang="en-US" altLang="zh-CN" sz="1600" dirty="0" err="1"/>
              <a:t>demoFun</a:t>
            </a:r>
            <a:r>
              <a:rPr lang="en-US" altLang="zh-CN" sz="1600" dirty="0"/>
              <a:t> = (param1, param2, ...rest) =&gt; { statements </a:t>
            </a:r>
            <a:r>
              <a:rPr lang="en-US" altLang="zh-CN" sz="1600" dirty="0" smtClean="0"/>
              <a:t>}</a:t>
            </a:r>
            <a:r>
              <a:rPr lang="en-US" altLang="zh-CN" sz="1800" dirty="0" smtClean="0"/>
              <a:t>// </a:t>
            </a:r>
            <a:r>
              <a:rPr lang="zh-CN" altLang="en-US" sz="1800" dirty="0"/>
              <a:t>支持 剩余参数和默认</a:t>
            </a:r>
            <a:r>
              <a:rPr lang="zh-CN" altLang="en-US" sz="1800" dirty="0" smtClean="0"/>
              <a:t>参数</a:t>
            </a:r>
            <a:endParaRPr lang="en-US" altLang="zh-CN" sz="1800" dirty="0" smtClean="0"/>
          </a:p>
          <a:p>
            <a:endParaRPr lang="en-US" altLang="zh-CN" sz="1800" dirty="0"/>
          </a:p>
          <a:p>
            <a:r>
              <a:rPr lang="zh-CN" altLang="en-US" sz="1800" dirty="0" smtClean="0"/>
              <a:t>例子</a:t>
            </a:r>
            <a:r>
              <a:rPr lang="en-US" altLang="zh-CN" sz="1800" dirty="0" smtClean="0"/>
              <a:t>:</a:t>
            </a:r>
          </a:p>
          <a:p>
            <a:r>
              <a:rPr lang="zh-CN" altLang="en-US" sz="1800" dirty="0" smtClean="0"/>
              <a:t>没有参数</a:t>
            </a:r>
            <a:r>
              <a:rPr lang="en-US" altLang="zh-CN" sz="1800" dirty="0" smtClean="0"/>
              <a:t>:</a:t>
            </a:r>
            <a:r>
              <a:rPr lang="en-US" altLang="zh-CN" sz="1800" dirty="0"/>
              <a:t>let </a:t>
            </a:r>
            <a:r>
              <a:rPr lang="en-US" altLang="zh-CN" sz="1800" dirty="0" err="1" smtClean="0"/>
              <a:t>func</a:t>
            </a:r>
            <a:r>
              <a:rPr lang="en-US" altLang="zh-CN" sz="1800" dirty="0" smtClean="0"/>
              <a:t>=()=&gt; 5;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zh-CN" altLang="en-US" sz="1800" dirty="0"/>
              <a:t>一个参数</a:t>
            </a:r>
            <a:r>
              <a:rPr lang="en-US" altLang="zh-CN" sz="1800" dirty="0"/>
              <a:t>:let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x=&gt; { return x + 5; };</a:t>
            </a:r>
          </a:p>
          <a:p>
            <a:r>
              <a:rPr lang="zh-CN" altLang="en-US" sz="1800" dirty="0"/>
              <a:t>或者</a:t>
            </a:r>
            <a:r>
              <a:rPr lang="en-US" altLang="zh-CN" sz="1800" dirty="0"/>
              <a:t>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x=&gt; x + 5</a:t>
            </a:r>
            <a:r>
              <a:rPr lang="en-US" altLang="zh-CN" sz="1800" dirty="0" smtClean="0"/>
              <a:t>;</a:t>
            </a:r>
            <a:endParaRPr lang="zh-CN" altLang="en-US" sz="1800" dirty="0"/>
          </a:p>
          <a:p>
            <a:endParaRPr lang="zh-CN" altLang="en-US" sz="1800" dirty="0"/>
          </a:p>
          <a:p>
            <a:r>
              <a:rPr lang="zh-CN" altLang="en-US" sz="1800" dirty="0" smtClean="0"/>
              <a:t>两个参数</a:t>
            </a:r>
            <a:r>
              <a:rPr lang="en-US" altLang="zh-CN" sz="1800" dirty="0" smtClean="0"/>
              <a:t>:let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(x, y) =&gt; { return x + y; }; //</a:t>
            </a:r>
            <a:r>
              <a:rPr lang="zh-CN" altLang="en-US" sz="1800" dirty="0"/>
              <a:t>常规编写 明确的返回值</a:t>
            </a:r>
            <a:endParaRPr lang="en-US" altLang="zh-CN" sz="1800" dirty="0"/>
          </a:p>
          <a:p>
            <a:r>
              <a:rPr lang="zh-CN" altLang="en-US" sz="1800" dirty="0"/>
              <a:t>或者</a:t>
            </a:r>
            <a:r>
              <a:rPr lang="en-US" altLang="zh-CN" sz="1800" dirty="0"/>
              <a:t>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(x, y) =&gt; (x + y); </a:t>
            </a:r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返回对象</a:t>
            </a:r>
            <a:r>
              <a:rPr lang="en-US" altLang="zh-CN" sz="1800" dirty="0" smtClean="0"/>
              <a:t>:</a:t>
            </a:r>
            <a:r>
              <a:rPr lang="en-US" altLang="zh-CN" sz="1800" dirty="0"/>
              <a:t>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() =&gt; ({</a:t>
            </a:r>
          </a:p>
          <a:p>
            <a:r>
              <a:rPr lang="en-US" altLang="zh-CN" sz="1800" dirty="0"/>
              <a:t>        student: {</a:t>
            </a:r>
          </a:p>
          <a:p>
            <a:r>
              <a:rPr lang="en-US" altLang="zh-CN" sz="1800" dirty="0"/>
              <a:t>            name: "</a:t>
            </a:r>
            <a:r>
              <a:rPr lang="zh-CN" altLang="en-US" sz="1800" dirty="0"/>
              <a:t>张飞</a:t>
            </a:r>
            <a:r>
              <a:rPr lang="en-US" altLang="zh-CN" sz="1800" dirty="0"/>
              <a:t>",</a:t>
            </a:r>
          </a:p>
          <a:p>
            <a:r>
              <a:rPr lang="en-US" altLang="zh-CN" sz="1800" dirty="0"/>
              <a:t>            age: 22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</a:t>
            </a:r>
            <a:r>
              <a:rPr lang="en-US" altLang="zh-CN" sz="1800" dirty="0" smtClean="0"/>
              <a:t>});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console.log(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());</a:t>
            </a:r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441338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43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629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b="1" dirty="0"/>
              <a:t>箭头函数</a:t>
            </a:r>
            <a:r>
              <a:rPr lang="en-US" altLang="zh-CN" sz="1600" b="1" dirty="0"/>
              <a:t>-Arrow </a:t>
            </a:r>
            <a:r>
              <a:rPr lang="en-US" altLang="zh-CN" sz="1600" b="1" dirty="0" err="1"/>
              <a:t>Fuctions</a:t>
            </a:r>
            <a:endParaRPr lang="en-US" altLang="zh-CN" sz="1600" b="1" dirty="0"/>
          </a:p>
          <a:p>
            <a:endParaRPr lang="en-US" altLang="zh-CN" sz="1800" dirty="0" smtClean="0"/>
          </a:p>
          <a:p>
            <a:r>
              <a:rPr lang="zh-CN" altLang="en-US" sz="1800" dirty="0" smtClean="0"/>
              <a:t>返回对象</a:t>
            </a:r>
            <a:r>
              <a:rPr lang="en-US" altLang="zh-CN" sz="1800" dirty="0" smtClean="0"/>
              <a:t>:</a:t>
            </a:r>
            <a:r>
              <a:rPr lang="en-US" altLang="zh-CN" sz="1800" dirty="0"/>
              <a:t>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() =&gt; ({</a:t>
            </a:r>
          </a:p>
          <a:p>
            <a:r>
              <a:rPr lang="en-US" altLang="zh-CN" sz="1800" dirty="0"/>
              <a:t>        student: {</a:t>
            </a:r>
          </a:p>
          <a:p>
            <a:r>
              <a:rPr lang="en-US" altLang="zh-CN" sz="1800" dirty="0"/>
              <a:t>            name: "</a:t>
            </a:r>
            <a:r>
              <a:rPr lang="zh-CN" altLang="en-US" sz="1800" dirty="0"/>
              <a:t>张飞</a:t>
            </a:r>
            <a:r>
              <a:rPr lang="en-US" altLang="zh-CN" sz="1800" dirty="0"/>
              <a:t>",</a:t>
            </a:r>
          </a:p>
          <a:p>
            <a:r>
              <a:rPr lang="en-US" altLang="zh-CN" sz="1800" dirty="0"/>
              <a:t>            age: 22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</a:t>
            </a:r>
            <a:r>
              <a:rPr lang="en-US" altLang="zh-CN" sz="1800" dirty="0" smtClean="0"/>
              <a:t>});</a:t>
            </a:r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console.log(</a:t>
            </a:r>
            <a:r>
              <a:rPr lang="en-US" altLang="zh-CN" sz="1800" dirty="0" err="1"/>
              <a:t>func</a:t>
            </a:r>
            <a:r>
              <a:rPr lang="en-US" altLang="zh-CN" sz="1800" dirty="0" smtClean="0"/>
              <a:t>());</a:t>
            </a:r>
          </a:p>
          <a:p>
            <a:endParaRPr lang="en-US" altLang="zh-CN" sz="1800" dirty="0" smtClean="0"/>
          </a:p>
          <a:p>
            <a:r>
              <a:rPr lang="zh-CN" altLang="en-US" sz="1800" b="1" dirty="0" smtClean="0"/>
              <a:t>一个参数</a:t>
            </a:r>
            <a:r>
              <a:rPr lang="en-US" altLang="zh-CN" sz="1800" b="1" dirty="0" smtClean="0"/>
              <a:t>:</a:t>
            </a:r>
            <a:endParaRPr lang="en-US" altLang="zh-CN" sz="1800" b="1" dirty="0"/>
          </a:p>
          <a:p>
            <a:r>
              <a:rPr lang="en-US" altLang="zh-CN" sz="1800" dirty="0"/>
              <a:t> let 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 = age =&gt; ({</a:t>
            </a:r>
          </a:p>
          <a:p>
            <a:r>
              <a:rPr lang="en-US" altLang="zh-CN" sz="1800" dirty="0"/>
              <a:t>        student: {</a:t>
            </a:r>
          </a:p>
          <a:p>
            <a:r>
              <a:rPr lang="en-US" altLang="zh-CN" sz="1800" dirty="0"/>
              <a:t>            name: "</a:t>
            </a:r>
            <a:r>
              <a:rPr lang="zh-CN" altLang="en-US" sz="1800" dirty="0"/>
              <a:t>张飞</a:t>
            </a:r>
            <a:r>
              <a:rPr lang="en-US" altLang="zh-CN" sz="1800" dirty="0"/>
              <a:t>",</a:t>
            </a:r>
          </a:p>
          <a:p>
            <a:r>
              <a:rPr lang="en-US" altLang="zh-CN" sz="1800" dirty="0"/>
              <a:t>            age: age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});</a:t>
            </a:r>
          </a:p>
          <a:p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console.log(</a:t>
            </a:r>
            <a:r>
              <a:rPr lang="en-US" altLang="zh-CN" sz="1800" dirty="0" err="1"/>
              <a:t>func</a:t>
            </a:r>
            <a:r>
              <a:rPr lang="en-US" altLang="zh-CN" sz="1800" dirty="0"/>
              <a:t>(22));</a:t>
            </a:r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377964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615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654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b="1" dirty="0"/>
              <a:t>箭头函数</a:t>
            </a:r>
            <a:r>
              <a:rPr lang="en-US" altLang="zh-CN" sz="1600" b="1" dirty="0"/>
              <a:t>-Arrow </a:t>
            </a:r>
            <a:r>
              <a:rPr lang="en-US" altLang="zh-CN" sz="1600" b="1" dirty="0" err="1"/>
              <a:t>Fuctions</a:t>
            </a:r>
            <a:endParaRPr lang="en-US" altLang="zh-CN" sz="1600" b="1" dirty="0"/>
          </a:p>
          <a:p>
            <a:endParaRPr lang="en-US" altLang="zh-CN" sz="1800" dirty="0" smtClean="0"/>
          </a:p>
          <a:p>
            <a:r>
              <a:rPr lang="zh-CN" altLang="en-US" sz="1800" dirty="0"/>
              <a:t/>
            </a:r>
            <a:br>
              <a:rPr lang="zh-CN" altLang="en-US" sz="1800" dirty="0"/>
            </a:br>
            <a:r>
              <a:rPr lang="zh-CN" altLang="en-US" sz="1800" dirty="0"/>
              <a:t>    </a:t>
            </a:r>
            <a:r>
              <a:rPr lang="en-US" altLang="zh-CN" sz="1800" dirty="0"/>
              <a:t>//</a:t>
            </a:r>
            <a:r>
              <a:rPr lang="zh-CN" altLang="en-US" sz="1800" dirty="0"/>
              <a:t>闭包函数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test1 = (function () {</a:t>
            </a:r>
          </a:p>
          <a:p>
            <a:r>
              <a:rPr lang="en-US" altLang="zh-CN" sz="1800" dirty="0"/>
              <a:t>        return function () {</a:t>
            </a:r>
          </a:p>
          <a:p>
            <a:r>
              <a:rPr lang="en-US" altLang="zh-CN" sz="1800" dirty="0"/>
              <a:t>            console.log("hello word!");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)();</a:t>
            </a:r>
          </a:p>
          <a:p>
            <a:r>
              <a:rPr lang="en-US" altLang="zh-CN" sz="1800" dirty="0"/>
              <a:t>    test1();</a:t>
            </a:r>
          </a:p>
          <a:p>
            <a:r>
              <a:rPr lang="en-US" altLang="zh-CN" sz="1800" dirty="0"/>
              <a:t>    //</a:t>
            </a:r>
            <a:r>
              <a:rPr lang="zh-CN" altLang="en-US" sz="1800" dirty="0"/>
              <a:t>转为箭头函数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test2 = (() =&gt; {</a:t>
            </a:r>
          </a:p>
          <a:p>
            <a:r>
              <a:rPr lang="en-US" altLang="zh-CN" sz="1800" dirty="0"/>
              <a:t>        return () =&gt; {</a:t>
            </a:r>
          </a:p>
          <a:p>
            <a:r>
              <a:rPr lang="en-US" altLang="zh-CN" sz="1800" dirty="0"/>
              <a:t>            console.log("hello word1!");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)();</a:t>
            </a:r>
          </a:p>
          <a:p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test2();</a:t>
            </a:r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323642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97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6491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b="1" dirty="0"/>
              <a:t>箭头函数</a:t>
            </a:r>
            <a:r>
              <a:rPr lang="en-US" altLang="zh-CN" sz="1600" b="1" dirty="0"/>
              <a:t>-Arrow </a:t>
            </a:r>
            <a:r>
              <a:rPr lang="en-US" altLang="zh-CN" sz="1600" b="1" dirty="0" err="1" smtClean="0"/>
              <a:t>Fuctions</a:t>
            </a:r>
            <a:r>
              <a:rPr lang="zh-CN" altLang="en-US" sz="1600" b="1" dirty="0" smtClean="0"/>
              <a:t>注意事项</a:t>
            </a:r>
            <a:r>
              <a:rPr lang="en-US" altLang="zh-CN" sz="1600" b="1" dirty="0" smtClean="0"/>
              <a:t>:</a:t>
            </a:r>
          </a:p>
          <a:p>
            <a:r>
              <a:rPr lang="en-US" altLang="zh-CN" sz="1600" b="1" dirty="0" smtClean="0"/>
              <a:t>1.</a:t>
            </a:r>
            <a:r>
              <a:rPr lang="zh-CN" altLang="en-US" sz="1600" dirty="0"/>
              <a:t>不绑定 </a:t>
            </a:r>
            <a:r>
              <a:rPr lang="en-US" altLang="zh-CN" sz="1600" dirty="0"/>
              <a:t>this</a:t>
            </a:r>
            <a:br>
              <a:rPr lang="en-US" altLang="zh-CN" sz="1600" dirty="0"/>
            </a:br>
            <a:r>
              <a:rPr lang="zh-CN" altLang="en-US" sz="1600" dirty="0"/>
              <a:t>箭头函数会捕获其所在上下文的 </a:t>
            </a:r>
            <a:r>
              <a:rPr lang="en-US" altLang="zh-CN" sz="1600" dirty="0"/>
              <a:t>this </a:t>
            </a:r>
            <a:r>
              <a:rPr lang="zh-CN" altLang="en-US" sz="1600" dirty="0"/>
              <a:t>值，作为自己的 </a:t>
            </a:r>
            <a:r>
              <a:rPr lang="en-US" altLang="zh-CN" sz="1600" dirty="0"/>
              <a:t>this </a:t>
            </a:r>
            <a:r>
              <a:rPr lang="zh-CN" altLang="en-US" sz="1600" dirty="0"/>
              <a:t>值，</a:t>
            </a:r>
            <a:endParaRPr lang="en-US" altLang="zh-CN" sz="1600" b="1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//this</a:t>
            </a:r>
            <a:r>
              <a:rPr lang="zh-CN" altLang="en-US" sz="1800" dirty="0"/>
              <a:t>指向自身对象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Person = {</a:t>
            </a:r>
          </a:p>
          <a:p>
            <a:r>
              <a:rPr lang="en-US" altLang="zh-CN" sz="1800" dirty="0"/>
              <a:t>        name: 1,</a:t>
            </a:r>
          </a:p>
          <a:p>
            <a:r>
              <a:rPr lang="en-US" altLang="zh-CN" sz="1800" dirty="0"/>
              <a:t>        b: function () {</a:t>
            </a:r>
          </a:p>
          <a:p>
            <a:r>
              <a:rPr lang="en-US" altLang="zh-CN" sz="1800" dirty="0"/>
              <a:t>            console.log(this);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</a:t>
            </a:r>
            <a:r>
              <a:rPr lang="en-US" altLang="zh-CN" sz="1800" dirty="0" err="1"/>
              <a:t>Person.b</a:t>
            </a:r>
            <a:r>
              <a:rPr lang="en-US" altLang="zh-CN" sz="1800" dirty="0"/>
              <a:t>();</a:t>
            </a:r>
          </a:p>
          <a:p>
            <a:r>
              <a:rPr lang="en-US" altLang="zh-CN" sz="1800" dirty="0"/>
              <a:t>    //this</a:t>
            </a:r>
            <a:r>
              <a:rPr lang="zh-CN" altLang="en-US" sz="1800" dirty="0"/>
              <a:t>指向外层对象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Person1 = {</a:t>
            </a:r>
          </a:p>
          <a:p>
            <a:r>
              <a:rPr lang="en-US" altLang="zh-CN" sz="1800" dirty="0"/>
              <a:t>        name: 1,</a:t>
            </a:r>
          </a:p>
          <a:p>
            <a:r>
              <a:rPr lang="en-US" altLang="zh-CN" sz="1800" dirty="0"/>
              <a:t>        b: () =&gt; {</a:t>
            </a:r>
          </a:p>
          <a:p>
            <a:r>
              <a:rPr lang="en-US" altLang="zh-CN" sz="1800" dirty="0"/>
              <a:t>            console.log(this);</a:t>
            </a:r>
          </a:p>
          <a:p>
            <a:r>
              <a:rPr lang="en-US" altLang="zh-CN" sz="1800" dirty="0"/>
              <a:t>        }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Person1.b();</a:t>
            </a:r>
          </a:p>
          <a:p>
            <a:endParaRPr lang="en-US" altLang="zh-CN" sz="1800" dirty="0" smtClean="0"/>
          </a:p>
          <a:p>
            <a:endParaRPr lang="en-US" altLang="zh-CN" sz="1800" dirty="0"/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525655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60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5022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b="1" dirty="0"/>
              <a:t>箭头函数</a:t>
            </a:r>
            <a:r>
              <a:rPr lang="en-US" altLang="zh-CN" sz="1600" b="1" dirty="0"/>
              <a:t>-Arrow </a:t>
            </a:r>
            <a:r>
              <a:rPr lang="en-US" altLang="zh-CN" sz="1600" b="1" dirty="0" err="1" smtClean="0"/>
              <a:t>Fuctions</a:t>
            </a:r>
            <a:r>
              <a:rPr lang="zh-CN" altLang="en-US" sz="1600" b="1" dirty="0" smtClean="0"/>
              <a:t>注意事项</a:t>
            </a:r>
            <a:r>
              <a:rPr lang="en-US" altLang="zh-CN" sz="1600" b="1" dirty="0" smtClean="0"/>
              <a:t>:</a:t>
            </a:r>
          </a:p>
          <a:p>
            <a:r>
              <a:rPr lang="zh-CN" altLang="en-US" sz="1600" dirty="0"/>
              <a:t>箭头函数没有自己的 </a:t>
            </a:r>
            <a:r>
              <a:rPr lang="en-US" altLang="zh-CN" sz="1600" dirty="0" smtClean="0"/>
              <a:t>arguments </a:t>
            </a:r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zh-CN" altLang="en-US" sz="1800" dirty="0"/>
              <a:t>   </a:t>
            </a:r>
            <a:r>
              <a:rPr lang="en-US" altLang="zh-CN" sz="1800" dirty="0"/>
              <a:t>//</a:t>
            </a:r>
            <a:r>
              <a:rPr lang="zh-CN" altLang="en-US" sz="1800" dirty="0"/>
              <a:t>有</a:t>
            </a:r>
            <a:r>
              <a:rPr lang="en-US" altLang="zh-CN" sz="1800" dirty="0"/>
              <a:t>arguments;</a:t>
            </a:r>
          </a:p>
          <a:p>
            <a:r>
              <a:rPr lang="en-US" altLang="zh-CN" sz="1800" dirty="0"/>
              <a:t>     function ceshi1()</a:t>
            </a:r>
          </a:p>
          <a:p>
            <a:r>
              <a:rPr lang="en-US" altLang="zh-CN" sz="1800" dirty="0"/>
              <a:t>     {</a:t>
            </a:r>
          </a:p>
          <a:p>
            <a:r>
              <a:rPr lang="en-US" altLang="zh-CN" sz="1800" dirty="0"/>
              <a:t>         console.log(arguments);</a:t>
            </a:r>
          </a:p>
          <a:p>
            <a:r>
              <a:rPr lang="en-US" altLang="zh-CN" sz="1800" dirty="0"/>
              <a:t>     }</a:t>
            </a:r>
          </a:p>
          <a:p>
            <a:r>
              <a:rPr lang="en-US" altLang="zh-CN" sz="1800" dirty="0"/>
              <a:t>     ceshi1(1,2);</a:t>
            </a:r>
          </a:p>
          <a:p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//</a:t>
            </a:r>
            <a:r>
              <a:rPr lang="zh-CN" altLang="en-US" sz="1800" dirty="0"/>
              <a:t>无</a:t>
            </a:r>
            <a:r>
              <a:rPr lang="en-US" altLang="zh-CN" sz="1800" dirty="0"/>
              <a:t>arguments</a:t>
            </a:r>
          </a:p>
          <a:p>
            <a:r>
              <a:rPr lang="en-US" altLang="zh-CN" sz="1800" dirty="0"/>
              <a:t>    let ceshi2=()=&gt;{</a:t>
            </a:r>
          </a:p>
          <a:p>
            <a:r>
              <a:rPr lang="en-US" altLang="zh-CN" sz="1800" dirty="0"/>
              <a:t>        console.log(arguments);</a:t>
            </a:r>
          </a:p>
          <a:p>
            <a:r>
              <a:rPr lang="en-US" altLang="zh-CN" sz="1800" dirty="0"/>
              <a:t>    }</a:t>
            </a:r>
          </a:p>
          <a:p>
            <a:r>
              <a:rPr lang="en-US" altLang="zh-CN" sz="1800" dirty="0"/>
              <a:t>    ceshi2();</a:t>
            </a:r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525655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370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374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zh-CN" altLang="en-US" sz="1600" dirty="0"/>
              <a:t>  </a:t>
            </a:r>
            <a:r>
              <a:rPr lang="zh-CN" altLang="en-US" sz="1600" dirty="0" smtClean="0"/>
              <a:t>不能</a:t>
            </a:r>
            <a:r>
              <a:rPr lang="zh-CN" altLang="en-US" sz="1600" dirty="0"/>
              <a:t>使用</a:t>
            </a:r>
            <a:r>
              <a:rPr lang="en-US" altLang="zh-CN" sz="1600" dirty="0"/>
              <a:t>new </a:t>
            </a:r>
            <a:r>
              <a:rPr lang="zh-CN" altLang="en-US" sz="1600" dirty="0" smtClean="0"/>
              <a:t>关键字</a:t>
            </a:r>
            <a:endParaRPr lang="en-US" altLang="zh-CN" sz="1600" dirty="0" smtClean="0"/>
          </a:p>
          <a:p>
            <a:r>
              <a:rPr lang="en-US" altLang="zh-CN" sz="1600" dirty="0" smtClean="0"/>
              <a:t>// function </a:t>
            </a:r>
            <a:r>
              <a:rPr lang="zh-CN" altLang="en-US" sz="1600" dirty="0" smtClean="0"/>
              <a:t>也是一个对象，箭头函数只是一段代码，不是对象</a:t>
            </a:r>
            <a:endParaRPr lang="zh-CN" altLang="en-US" sz="1600" dirty="0"/>
          </a:p>
          <a:p>
            <a:r>
              <a:rPr lang="zh-CN" altLang="en-US" sz="1600" dirty="0"/>
              <a:t>     </a:t>
            </a:r>
            <a:r>
              <a:rPr lang="en-US" altLang="zh-CN" sz="1600" dirty="0"/>
              <a:t>function ceshi1()</a:t>
            </a:r>
          </a:p>
          <a:p>
            <a:r>
              <a:rPr lang="en-US" altLang="zh-CN" sz="1600" dirty="0"/>
              <a:t>     {</a:t>
            </a:r>
          </a:p>
          <a:p>
            <a:r>
              <a:rPr lang="en-US" altLang="zh-CN" sz="1600" dirty="0"/>
              <a:t>         console.log("hello");</a:t>
            </a:r>
          </a:p>
          <a:p>
            <a:r>
              <a:rPr lang="en-US" altLang="zh-CN" sz="1600" dirty="0"/>
              <a:t>     }</a:t>
            </a:r>
          </a:p>
          <a:p>
            <a:r>
              <a:rPr lang="en-US" altLang="zh-CN" sz="1600" dirty="0"/>
              <a:t>     let a=new ceshi1();</a:t>
            </a:r>
          </a:p>
          <a:p>
            <a:r>
              <a:rPr lang="en-US" altLang="zh-CN" sz="1600" dirty="0"/>
              <a:t> </a:t>
            </a:r>
          </a:p>
          <a:p>
            <a:r>
              <a:rPr lang="en-US" altLang="zh-CN" sz="1600" dirty="0"/>
              <a:t>    let ceshi2=()=&gt;{</a:t>
            </a:r>
          </a:p>
          <a:p>
            <a:r>
              <a:rPr lang="en-US" altLang="zh-CN" sz="1600" dirty="0"/>
              <a:t>        console.log("hello");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let b=new ceshi2();</a:t>
            </a:r>
          </a:p>
          <a:p>
            <a:endParaRPr lang="en-US" altLang="zh-CN" sz="1800" dirty="0"/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368910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9690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33055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800" b="1" dirty="0"/>
          </a:p>
          <a:p>
            <a:r>
              <a:rPr lang="en-US" altLang="zh-CN" sz="1600" b="1" dirty="0"/>
              <a:t> </a:t>
            </a:r>
            <a:r>
              <a:rPr lang="en-US" altLang="zh-CN" sz="1600" b="1" dirty="0" smtClean="0"/>
              <a:t>  </a:t>
            </a:r>
            <a:r>
              <a:rPr lang="zh-CN" altLang="en-US" sz="1600" b="1" dirty="0" smtClean="0"/>
              <a:t>剩余运算符和扩展运算符都使用</a:t>
            </a:r>
            <a:r>
              <a:rPr lang="en-US" altLang="zh-CN" sz="1600" b="1" dirty="0" smtClean="0"/>
              <a:t>…</a:t>
            </a:r>
            <a:r>
              <a:rPr lang="zh-CN" altLang="en-US" sz="1600" b="1" dirty="0" smtClean="0"/>
              <a:t>表示，剩余运算符把多余的参数放入数组，扩展运算符将每个数值分割，并传给函数：</a:t>
            </a:r>
            <a:r>
              <a:rPr lang="en-US" altLang="zh-CN" sz="1800" b="1" dirty="0"/>
              <a:t> </a:t>
            </a:r>
            <a:endParaRPr lang="en-US" altLang="zh-CN" sz="1800" b="1" dirty="0" smtClean="0"/>
          </a:p>
          <a:p>
            <a:endParaRPr lang="en-US" altLang="zh-CN" sz="1800" dirty="0"/>
          </a:p>
          <a:p>
            <a:r>
              <a:rPr lang="en-US" altLang="zh-CN" sz="1800" dirty="0" smtClean="0"/>
              <a:t>  //</a:t>
            </a:r>
            <a:r>
              <a:rPr lang="en-US" altLang="zh-CN" sz="1800" dirty="0"/>
              <a:t>es5</a:t>
            </a:r>
            <a:r>
              <a:rPr lang="zh-CN" altLang="en-US" sz="1800" dirty="0"/>
              <a:t>取数组最大值</a:t>
            </a:r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=[22,33,44,77,55,24];</a:t>
            </a:r>
          </a:p>
          <a:p>
            <a:r>
              <a:rPr lang="en-US" altLang="zh-CN" sz="1800" dirty="0"/>
              <a:t>    console.log(</a:t>
            </a:r>
            <a:r>
              <a:rPr lang="en-US" altLang="zh-CN" sz="1800" dirty="0" err="1"/>
              <a:t>Math.max.apply</a:t>
            </a:r>
            <a:r>
              <a:rPr lang="en-US" altLang="zh-CN" sz="1800" dirty="0"/>
              <a:t>(</a:t>
            </a:r>
            <a:r>
              <a:rPr lang="en-US" altLang="zh-CN" sz="1800" dirty="0" err="1"/>
              <a:t>null,arr</a:t>
            </a:r>
            <a:r>
              <a:rPr lang="en-US" altLang="zh-CN" sz="1800" dirty="0"/>
              <a:t>));</a:t>
            </a:r>
          </a:p>
          <a:p>
            <a:r>
              <a:rPr lang="en-US" altLang="zh-CN" sz="1800" dirty="0"/>
              <a:t/>
            </a:r>
            <a:br>
              <a:rPr lang="en-US" altLang="zh-CN" sz="1800" dirty="0"/>
            </a:br>
            <a:r>
              <a:rPr lang="en-US" altLang="zh-CN" sz="1800" dirty="0"/>
              <a:t>    //es6</a:t>
            </a:r>
            <a:r>
              <a:rPr lang="zh-CN" altLang="en-US" sz="1800" dirty="0"/>
              <a:t>取数组最大值</a:t>
            </a:r>
            <a:r>
              <a:rPr lang="en-US" altLang="zh-CN" sz="1800" dirty="0"/>
              <a:t>,</a:t>
            </a:r>
            <a:r>
              <a:rPr lang="zh-CN" altLang="en-US" sz="1800" dirty="0"/>
              <a:t>使用扩展运算符</a:t>
            </a:r>
            <a:r>
              <a:rPr lang="en-US" altLang="zh-CN" sz="1800" dirty="0"/>
              <a:t>...</a:t>
            </a:r>
            <a:endParaRPr lang="zh-CN" altLang="en-US" sz="1800" dirty="0"/>
          </a:p>
          <a:p>
            <a:r>
              <a:rPr lang="zh-CN" altLang="en-US" sz="1800" dirty="0"/>
              <a:t>    </a:t>
            </a:r>
            <a:r>
              <a:rPr lang="en-US" altLang="zh-CN" sz="1800" dirty="0"/>
              <a:t>let arr1=[22,33,44,77,55,24];</a:t>
            </a:r>
          </a:p>
          <a:p>
            <a:r>
              <a:rPr lang="en-US" altLang="zh-CN" sz="1800" dirty="0"/>
              <a:t>    console.log(</a:t>
            </a:r>
            <a:r>
              <a:rPr lang="en-US" altLang="zh-CN" sz="1800" dirty="0" err="1"/>
              <a:t>Math.max</a:t>
            </a:r>
            <a:r>
              <a:rPr lang="en-US" altLang="zh-CN" sz="1800" dirty="0"/>
              <a:t>(...</a:t>
            </a:r>
            <a:r>
              <a:rPr lang="en-US" altLang="zh-CN" sz="1800" dirty="0" err="1"/>
              <a:t>arr</a:t>
            </a:r>
            <a:r>
              <a:rPr lang="en-US" altLang="zh-CN" sz="1800" dirty="0"/>
              <a:t>));</a:t>
            </a:r>
          </a:p>
          <a:p>
            <a:endParaRPr lang="en-US" altLang="zh-CN" sz="1800" dirty="0" smtClean="0"/>
          </a:p>
          <a:p>
            <a:r>
              <a:rPr lang="en-US" altLang="zh-CN" sz="1800" dirty="0"/>
              <a:t> </a:t>
            </a:r>
            <a:endParaRPr lang="zh-CN" altLang="en-US" sz="1800" dirty="0"/>
          </a:p>
        </p:txBody>
      </p:sp>
      <p:sp>
        <p:nvSpPr>
          <p:cNvPr id="4" name="矩形 3"/>
          <p:cNvSpPr/>
          <p:nvPr/>
        </p:nvSpPr>
        <p:spPr>
          <a:xfrm>
            <a:off x="595246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6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557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25655" y="789531"/>
            <a:ext cx="10039739" cy="3761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600" b="1" dirty="0"/>
          </a:p>
          <a:p>
            <a:pPr>
              <a:lnSpc>
                <a:spcPct val="200000"/>
              </a:lnSpc>
            </a:pPr>
            <a:r>
              <a:rPr lang="zh-CN" altLang="en-US" sz="1600" b="1" dirty="0"/>
              <a:t>解</a:t>
            </a:r>
            <a:r>
              <a:rPr lang="zh-CN" altLang="en-US" sz="1600" b="1" dirty="0" smtClean="0"/>
              <a:t>构赋值</a:t>
            </a:r>
            <a:r>
              <a:rPr lang="en-US" altLang="zh-CN" sz="1600" b="1" dirty="0" smtClean="0"/>
              <a:t>:</a:t>
            </a:r>
          </a:p>
          <a:p>
            <a:pPr>
              <a:lnSpc>
                <a:spcPct val="200000"/>
              </a:lnSpc>
            </a:pPr>
            <a:r>
              <a:rPr lang="zh-CN" altLang="en-US" sz="1600" b="1" dirty="0"/>
              <a:t>解</a:t>
            </a:r>
            <a:r>
              <a:rPr lang="zh-CN" altLang="en-US" sz="1600" b="1" dirty="0" smtClean="0"/>
              <a:t>构运算是对赋值运算符的一种扩展，它针对数组和对象来进行操作。</a:t>
            </a:r>
            <a:endParaRPr lang="en-US" altLang="zh-CN" sz="1600" b="1" dirty="0" smtClean="0"/>
          </a:p>
          <a:p>
            <a:pPr>
              <a:lnSpc>
                <a:spcPct val="200000"/>
              </a:lnSpc>
            </a:pPr>
            <a:r>
              <a:rPr lang="zh-CN" altLang="en-US" sz="1600" b="1" dirty="0" smtClean="0"/>
              <a:t>解</a:t>
            </a:r>
            <a:r>
              <a:rPr lang="zh-CN" altLang="en-US" sz="1600" b="1" dirty="0"/>
              <a:t>构的意义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数组结构可以方便快速的交换变量的值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接受函数</a:t>
            </a:r>
            <a:r>
              <a:rPr lang="en-US" altLang="zh-CN" sz="1600" dirty="0"/>
              <a:t>return</a:t>
            </a:r>
            <a:r>
              <a:rPr lang="zh-CN" altLang="en-US" sz="1600" dirty="0"/>
              <a:t>的值</a:t>
            </a:r>
            <a:r>
              <a:rPr lang="en-US" altLang="zh-CN" sz="1600" dirty="0"/>
              <a:t>, </a:t>
            </a:r>
            <a:r>
              <a:rPr lang="zh-CN" altLang="en-US" sz="1600" dirty="0"/>
              <a:t>如果函数返回</a:t>
            </a:r>
            <a:r>
              <a:rPr lang="en-US" altLang="zh-CN" sz="1600" dirty="0"/>
              <a:t>array</a:t>
            </a:r>
            <a:r>
              <a:rPr lang="zh-CN" altLang="en-US" sz="1600" dirty="0"/>
              <a:t>或者</a:t>
            </a:r>
            <a:r>
              <a:rPr lang="en-US" altLang="zh-CN" sz="1600" dirty="0"/>
              <a:t>object, </a:t>
            </a:r>
            <a:r>
              <a:rPr lang="zh-CN" altLang="en-US" sz="1600" dirty="0"/>
              <a:t>利用解构方便快捷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解析</a:t>
            </a:r>
            <a:r>
              <a:rPr lang="en-US" altLang="zh-CN" sz="1600" dirty="0"/>
              <a:t>JSON</a:t>
            </a:r>
            <a:r>
              <a:rPr lang="zh-CN" altLang="en-US" sz="1600" dirty="0"/>
              <a:t>数据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代替 </a:t>
            </a:r>
            <a:r>
              <a:rPr lang="en-US" altLang="zh-CN" sz="1600" dirty="0" smtClean="0"/>
              <a:t>||</a:t>
            </a:r>
          </a:p>
        </p:txBody>
      </p:sp>
      <p:sp>
        <p:nvSpPr>
          <p:cNvPr id="4" name="矩形 3"/>
          <p:cNvSpPr/>
          <p:nvPr/>
        </p:nvSpPr>
        <p:spPr>
          <a:xfrm>
            <a:off x="387018" y="254000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59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1053382"/>
            <a:ext cx="10039739" cy="437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解构赋值实例</a:t>
            </a:r>
            <a:r>
              <a:rPr lang="en-US" altLang="zh-CN" sz="1600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let </a:t>
            </a:r>
            <a:r>
              <a:rPr lang="en-US" altLang="zh-CN" sz="1600" dirty="0"/>
              <a:t>[a, b, c] = [1, 2, 3];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即</a:t>
            </a:r>
            <a:r>
              <a:rPr lang="en-US" altLang="zh-CN" sz="1600" dirty="0"/>
              <a:t>: let a = 1;let b = 2;let c = 3</a:t>
            </a:r>
            <a:r>
              <a:rPr lang="en-US" altLang="zh-CN" sz="1600" dirty="0" smtClean="0"/>
              <a:t>;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let [bar, foo] = [1];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解构失败</a:t>
            </a:r>
            <a:r>
              <a:rPr lang="en-US" altLang="zh-CN" sz="1600" dirty="0"/>
              <a:t>: undefined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即</a:t>
            </a:r>
            <a:r>
              <a:rPr lang="en-US" altLang="zh-CN" sz="1600" dirty="0"/>
              <a:t>: let bar = 1; let foo = </a:t>
            </a:r>
            <a:r>
              <a:rPr lang="en-US" altLang="zh-CN" sz="1600" dirty="0" smtClean="0"/>
              <a:t>undefined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let [a] = 1;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等号的右边不是数组 </a:t>
            </a:r>
            <a:r>
              <a:rPr lang="en-US" altLang="zh-CN" sz="1600" dirty="0"/>
              <a:t>(</a:t>
            </a:r>
            <a:r>
              <a:rPr lang="zh-CN" altLang="en-US" sz="1600" dirty="0"/>
              <a:t>或者严格地说，不是可遍历的解构</a:t>
            </a:r>
            <a:r>
              <a:rPr lang="en-US" altLang="zh-CN" sz="1600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报错：</a:t>
            </a:r>
            <a:r>
              <a:rPr lang="en-US" altLang="zh-CN" sz="1600" dirty="0"/>
              <a:t>VM2799:2 Uncaught </a:t>
            </a:r>
            <a:r>
              <a:rPr lang="en-US" altLang="zh-CN" sz="1600" dirty="0" err="1"/>
              <a:t>TypeError</a:t>
            </a:r>
            <a:r>
              <a:rPr lang="en-US" altLang="zh-CN" sz="1600" dirty="0"/>
              <a:t>: undefined is not a function</a:t>
            </a:r>
            <a:r>
              <a:rPr lang="en-US" altLang="zh-CN" sz="1600" dirty="0" smtClean="0"/>
              <a:t>(…)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// </a:t>
            </a:r>
            <a:r>
              <a:rPr lang="zh-CN" altLang="en-US" sz="1600" dirty="0"/>
              <a:t>如果赋值的字面量全等</a:t>
            </a:r>
            <a:r>
              <a:rPr lang="en-US" altLang="zh-CN" sz="1600" dirty="0"/>
              <a:t>undefined, </a:t>
            </a:r>
            <a:r>
              <a:rPr lang="zh-CN" altLang="en-US" sz="1600" dirty="0"/>
              <a:t>则默认值生效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let [x = 1] = [undefined];// x  === 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305536" y="269071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2462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15155" y="1017168"/>
            <a:ext cx="10039739" cy="4745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解构赋值实例</a:t>
            </a:r>
            <a:r>
              <a:rPr lang="en-US" altLang="zh-CN" sz="1600" b="1" dirty="0" smtClean="0"/>
              <a:t>: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let [x = 1] = [];//x  ===  1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// null </a:t>
            </a:r>
            <a:r>
              <a:rPr lang="zh-CN" altLang="en-US" sz="1600" dirty="0" smtClean="0"/>
              <a:t>不全等 </a:t>
            </a:r>
            <a:r>
              <a:rPr lang="en-US" altLang="zh-CN" sz="1600" dirty="0" smtClean="0"/>
              <a:t>undefined, </a:t>
            </a:r>
            <a:r>
              <a:rPr lang="zh-CN" altLang="en-US" sz="1600" dirty="0" smtClean="0"/>
              <a:t>所以默认值不生效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let [x = 1] = [null];// x  === null</a:t>
            </a:r>
          </a:p>
          <a:p>
            <a:pPr>
              <a:lnSpc>
                <a:spcPct val="150000"/>
              </a:lnSpc>
            </a:pPr>
            <a:r>
              <a:rPr lang="zh-CN" altLang="en-US" sz="1600" dirty="0" smtClean="0"/>
              <a:t>进阶语法</a:t>
            </a:r>
            <a:r>
              <a:rPr lang="en-US" altLang="zh-CN" sz="1600" dirty="0" smtClean="0"/>
              <a:t>:// </a:t>
            </a:r>
            <a:r>
              <a:rPr lang="zh-CN" altLang="en-US" sz="1600" dirty="0" smtClean="0"/>
              <a:t>解构赋值允许指定默认值。</a:t>
            </a:r>
            <a:endParaRPr lang="en-US" altLang="zh-CN" sz="1600" dirty="0" smtClean="0"/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let [foo = true] = []; // </a:t>
            </a:r>
            <a:r>
              <a:rPr lang="zh-CN" altLang="en-US" sz="1600" dirty="0" smtClean="0"/>
              <a:t>即</a:t>
            </a:r>
            <a:r>
              <a:rPr lang="en-US" altLang="zh-CN" sz="1600" dirty="0" smtClean="0"/>
              <a:t>: foo === true</a:t>
            </a:r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r>
              <a:rPr lang="zh-CN" altLang="en-US" sz="1600" b="1" dirty="0" smtClean="0"/>
              <a:t>可嵌套</a:t>
            </a:r>
            <a:r>
              <a:rPr lang="en-US" altLang="zh-CN" sz="1600" b="1" dirty="0" smtClean="0"/>
              <a:t>:</a:t>
            </a:r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let [a,[b],c]=[1,[2],3];</a:t>
            </a:r>
          </a:p>
          <a:p>
            <a:r>
              <a:rPr lang="en-US" altLang="zh-CN" sz="1600" dirty="0"/>
              <a:t>console.log(a);</a:t>
            </a:r>
          </a:p>
          <a:p>
            <a:r>
              <a:rPr lang="en-US" altLang="zh-CN" sz="1600" dirty="0"/>
              <a:t>console.log(b);</a:t>
            </a:r>
          </a:p>
          <a:p>
            <a:r>
              <a:rPr lang="en-US" altLang="zh-CN" sz="1600" dirty="0"/>
              <a:t>console.log(c);</a:t>
            </a:r>
          </a:p>
          <a:p>
            <a:pPr>
              <a:lnSpc>
                <a:spcPct val="150000"/>
              </a:lnSpc>
            </a:pPr>
            <a:endParaRPr lang="en-US" altLang="zh-CN" sz="1600" dirty="0" smtClean="0"/>
          </a:p>
          <a:p>
            <a:pPr>
              <a:lnSpc>
                <a:spcPct val="150000"/>
              </a:lnSpc>
            </a:pPr>
            <a:endParaRPr lang="en-US" altLang="zh-CN" sz="1600" dirty="0"/>
          </a:p>
          <a:p>
            <a:pPr>
              <a:lnSpc>
                <a:spcPct val="150000"/>
              </a:lnSpc>
            </a:pPr>
            <a:endParaRPr lang="en-US" altLang="zh-CN" sz="1600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170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52383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对象解构赋值实例</a:t>
            </a:r>
            <a:r>
              <a:rPr lang="en-US" altLang="zh-CN" sz="1600" b="1" dirty="0" smtClean="0"/>
              <a:t>:</a:t>
            </a:r>
          </a:p>
          <a:p>
            <a:r>
              <a:rPr lang="en-US" altLang="zh-CN" sz="1600" dirty="0"/>
              <a:t>//es5</a:t>
            </a:r>
            <a:r>
              <a:rPr lang="zh-CN" altLang="en-US" sz="1600" dirty="0"/>
              <a:t>赋值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let student = {</a:t>
            </a:r>
          </a:p>
          <a:p>
            <a:r>
              <a:rPr lang="en-US" altLang="zh-CN" sz="1600" dirty="0"/>
              <a:t>        name: "</a:t>
            </a:r>
            <a:r>
              <a:rPr lang="zh-CN" altLang="en-US" sz="1600" dirty="0"/>
              <a:t>张三</a:t>
            </a:r>
            <a:r>
              <a:rPr lang="en-US" altLang="zh-CN" sz="1600" dirty="0"/>
              <a:t>",</a:t>
            </a:r>
          </a:p>
          <a:p>
            <a:r>
              <a:rPr lang="en-US" altLang="zh-CN" sz="1600" dirty="0"/>
              <a:t>        age: 20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let name = student.name;</a:t>
            </a:r>
          </a:p>
          <a:p>
            <a:r>
              <a:rPr lang="en-US" altLang="zh-CN" sz="1600" dirty="0"/>
              <a:t>    let age = 20;</a:t>
            </a:r>
          </a:p>
          <a:p>
            <a:r>
              <a:rPr lang="en-US" altLang="zh-CN" sz="1600" dirty="0"/>
              <a:t>    console.log("</a:t>
            </a:r>
            <a:r>
              <a:rPr lang="zh-CN" altLang="en-US" sz="1600" dirty="0"/>
              <a:t>姓名</a:t>
            </a:r>
            <a:r>
              <a:rPr lang="en-US" altLang="zh-CN" sz="1600" dirty="0"/>
              <a:t>:"</a:t>
            </a:r>
            <a:r>
              <a:rPr lang="zh-CN" altLang="en-US" sz="1600" dirty="0"/>
              <a:t> </a:t>
            </a:r>
            <a:r>
              <a:rPr lang="en-US" altLang="zh-CN" sz="1600" dirty="0"/>
              <a:t>+ name + ",</a:t>
            </a:r>
            <a:r>
              <a:rPr lang="zh-CN" altLang="en-US" sz="1600" dirty="0"/>
              <a:t>年龄</a:t>
            </a:r>
            <a:r>
              <a:rPr lang="en-US" altLang="zh-CN" sz="1600" dirty="0"/>
              <a:t>:"</a:t>
            </a:r>
            <a:r>
              <a:rPr lang="zh-CN" altLang="en-US" sz="1600" dirty="0"/>
              <a:t> </a:t>
            </a:r>
            <a:r>
              <a:rPr lang="en-US" altLang="zh-CN" sz="1600" dirty="0"/>
              <a:t>+ age);</a:t>
            </a:r>
          </a:p>
          <a:p>
            <a:r>
              <a:rPr lang="en-US" altLang="zh-CN" sz="1600" dirty="0"/>
              <a:t>    //</a:t>
            </a:r>
            <a:r>
              <a:rPr lang="zh-CN" altLang="en-US" sz="1600" dirty="0"/>
              <a:t>对象的解构赋值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let student1 = {</a:t>
            </a:r>
          </a:p>
          <a:p>
            <a:r>
              <a:rPr lang="en-US" altLang="zh-CN" sz="1600" dirty="0"/>
              <a:t>        name1: "</a:t>
            </a:r>
            <a:r>
              <a:rPr lang="zh-CN" altLang="en-US" sz="1600" dirty="0"/>
              <a:t>张三</a:t>
            </a:r>
            <a:r>
              <a:rPr lang="en-US" altLang="zh-CN" sz="1600" dirty="0"/>
              <a:t>",</a:t>
            </a:r>
          </a:p>
          <a:p>
            <a:r>
              <a:rPr lang="en-US" altLang="zh-CN" sz="1600" dirty="0"/>
              <a:t>        age1: 20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smtClean="0"/>
              <a:t>}</a:t>
            </a:r>
          </a:p>
          <a:p>
            <a:r>
              <a:rPr lang="en-US" altLang="zh-CN" sz="1600" dirty="0"/>
              <a:t> </a:t>
            </a:r>
            <a:r>
              <a:rPr lang="en-US" altLang="zh-CN" sz="1600" dirty="0" smtClean="0"/>
              <a:t>   </a:t>
            </a:r>
            <a:r>
              <a:rPr lang="zh-CN" altLang="en-US" sz="1600" b="1" dirty="0" smtClean="0"/>
              <a:t>完全解构</a:t>
            </a:r>
            <a:endParaRPr lang="en-US" altLang="zh-CN" sz="1600" b="1" dirty="0"/>
          </a:p>
          <a:p>
            <a:r>
              <a:rPr lang="en-US" altLang="zh-CN" sz="1600" dirty="0"/>
              <a:t>    let { name1, age1 } = student1;</a:t>
            </a:r>
          </a:p>
          <a:p>
            <a:r>
              <a:rPr lang="en-US" altLang="zh-CN" sz="1600" dirty="0"/>
              <a:t>    console.log("</a:t>
            </a:r>
            <a:r>
              <a:rPr lang="zh-CN" altLang="en-US" sz="1600" dirty="0"/>
              <a:t>姓名</a:t>
            </a:r>
            <a:r>
              <a:rPr lang="en-US" altLang="zh-CN" sz="1600" dirty="0"/>
              <a:t>:"</a:t>
            </a:r>
            <a:r>
              <a:rPr lang="zh-CN" altLang="en-US" sz="1600" dirty="0"/>
              <a:t> </a:t>
            </a:r>
            <a:r>
              <a:rPr lang="en-US" altLang="zh-CN" sz="1600" dirty="0"/>
              <a:t>+ name1 + ",</a:t>
            </a:r>
            <a:r>
              <a:rPr lang="zh-CN" altLang="en-US" sz="1600" dirty="0"/>
              <a:t>年龄</a:t>
            </a:r>
            <a:r>
              <a:rPr lang="en-US" altLang="zh-CN" sz="1600" dirty="0"/>
              <a:t>:"</a:t>
            </a:r>
            <a:r>
              <a:rPr lang="zh-CN" altLang="en-US" sz="1600" dirty="0"/>
              <a:t> </a:t>
            </a:r>
            <a:r>
              <a:rPr lang="en-US" altLang="zh-CN" sz="1600" dirty="0"/>
              <a:t>+ age1</a:t>
            </a:r>
            <a:r>
              <a:rPr lang="en-US" altLang="zh-CN" sz="1600" dirty="0" smtClean="0"/>
              <a:t>);</a:t>
            </a:r>
          </a:p>
          <a:p>
            <a:endParaRPr lang="en-US" altLang="zh-CN" sz="1600" dirty="0" smtClean="0"/>
          </a:p>
          <a:p>
            <a:endParaRPr lang="en-US" altLang="zh-CN" sz="1600" dirty="0"/>
          </a:p>
          <a:p>
            <a:pPr>
              <a:lnSpc>
                <a:spcPct val="200000"/>
              </a:lnSpc>
            </a:pP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13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7158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对象解构赋值实例</a:t>
            </a:r>
            <a:r>
              <a:rPr lang="en-US" altLang="zh-CN" sz="1600" b="1" dirty="0" smtClean="0"/>
              <a:t>:</a:t>
            </a:r>
          </a:p>
          <a:p>
            <a:r>
              <a:rPr lang="en-US" altLang="zh-CN" sz="1600" dirty="0" smtClean="0"/>
              <a:t> </a:t>
            </a:r>
            <a:r>
              <a:rPr lang="en-US" altLang="zh-CN" sz="1600" dirty="0"/>
              <a:t> //</a:t>
            </a:r>
            <a:r>
              <a:rPr lang="zh-CN" altLang="en-US" sz="1600" dirty="0"/>
              <a:t>根据名称取单个值</a:t>
            </a:r>
            <a:endParaRPr lang="en-US" altLang="zh-CN" sz="1600" dirty="0"/>
          </a:p>
          <a:p>
            <a:r>
              <a:rPr lang="en-US" altLang="zh-CN" sz="1600" dirty="0"/>
              <a:t>     let student2 = {</a:t>
            </a:r>
          </a:p>
          <a:p>
            <a:r>
              <a:rPr lang="en-US" altLang="zh-CN" sz="1600" dirty="0"/>
              <a:t>        a: {</a:t>
            </a:r>
          </a:p>
          <a:p>
            <a:r>
              <a:rPr lang="en-US" altLang="zh-CN" sz="1600" dirty="0"/>
              <a:t>            name1: "</a:t>
            </a:r>
            <a:r>
              <a:rPr lang="zh-CN" altLang="en-US" sz="1600" dirty="0"/>
              <a:t>张三</a:t>
            </a:r>
            <a:r>
              <a:rPr lang="en-US" altLang="zh-CN" sz="1600" dirty="0"/>
              <a:t>",</a:t>
            </a:r>
          </a:p>
          <a:p>
            <a:r>
              <a:rPr lang="en-US" altLang="zh-CN" sz="1600" dirty="0"/>
              <a:t>            age1: 20</a:t>
            </a:r>
          </a:p>
          <a:p>
            <a:r>
              <a:rPr lang="en-US" altLang="zh-CN" sz="1600" dirty="0"/>
              <a:t>        },</a:t>
            </a:r>
          </a:p>
          <a:p>
            <a:r>
              <a:rPr lang="en-US" altLang="zh-CN" sz="1600" dirty="0"/>
              <a:t>        b: [1, 2]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smtClean="0"/>
              <a:t>}</a:t>
            </a:r>
          </a:p>
          <a:p>
            <a:r>
              <a:rPr lang="zh-CN" altLang="en-US" sz="1600" dirty="0" smtClean="0"/>
              <a:t>   </a:t>
            </a:r>
            <a:r>
              <a:rPr lang="zh-CN" altLang="en-US" sz="1600" b="1" dirty="0" smtClean="0"/>
              <a:t>不完全解构</a:t>
            </a:r>
            <a:endParaRPr lang="en-US" altLang="zh-CN" sz="1600" b="1" dirty="0"/>
          </a:p>
          <a:p>
            <a:r>
              <a:rPr lang="en-US" altLang="zh-CN" sz="1600" dirty="0"/>
              <a:t>    let { a } = student2;</a:t>
            </a:r>
          </a:p>
          <a:p>
            <a:r>
              <a:rPr lang="en-US" altLang="zh-CN" sz="1600" dirty="0"/>
              <a:t>    let { b } = student2;</a:t>
            </a:r>
          </a:p>
          <a:p>
            <a:r>
              <a:rPr lang="en-US" altLang="zh-CN" sz="1600" dirty="0"/>
              <a:t>    console.log(a);</a:t>
            </a:r>
          </a:p>
          <a:p>
            <a:r>
              <a:rPr lang="en-US" altLang="zh-CN" sz="1600" dirty="0"/>
              <a:t>    console.log(b);</a:t>
            </a:r>
            <a:endParaRPr lang="en-US" altLang="zh-CN" sz="1600" dirty="0" smtClean="0"/>
          </a:p>
          <a:p>
            <a:r>
              <a:rPr lang="en-US" altLang="zh-CN" sz="1600" dirty="0"/>
              <a:t>    </a:t>
            </a:r>
            <a:r>
              <a:rPr lang="zh-CN" altLang="en-US" sz="1600" b="1" dirty="0" smtClean="0"/>
              <a:t>剩余</a:t>
            </a:r>
            <a:r>
              <a:rPr lang="zh-CN" altLang="en-US" sz="1600" b="1" dirty="0"/>
              <a:t>运算符，将多余的数据放到对象中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let { a,...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} = student2;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args</a:t>
            </a:r>
            <a:r>
              <a:rPr lang="en-US" altLang="zh-CN" sz="1600" dirty="0"/>
              <a:t>)</a:t>
            </a:r>
          </a:p>
          <a:p>
            <a:r>
              <a:rPr lang="en-US" altLang="zh-CN" sz="1600" dirty="0" smtClean="0"/>
              <a:t>    </a:t>
            </a:r>
            <a:r>
              <a:rPr lang="zh-CN" altLang="en-US" sz="1600" b="1" dirty="0" smtClean="0"/>
              <a:t>默认值</a:t>
            </a:r>
            <a:endParaRPr lang="en-US" altLang="zh-CN" sz="1600" b="1" dirty="0" smtClean="0"/>
          </a:p>
          <a:p>
            <a:r>
              <a:rPr lang="en-US" altLang="zh-CN" sz="1600" dirty="0" smtClean="0"/>
              <a:t> </a:t>
            </a:r>
            <a:r>
              <a:rPr lang="en-US" altLang="zh-CN" sz="1600" dirty="0"/>
              <a:t> let {</a:t>
            </a:r>
            <a:r>
              <a:rPr lang="en-US" altLang="zh-CN" sz="1600" dirty="0" err="1"/>
              <a:t>a,c</a:t>
            </a:r>
            <a:r>
              <a:rPr lang="en-US" altLang="zh-CN" sz="1600" dirty="0"/>
              <a:t>=20}=student2</a:t>
            </a:r>
          </a:p>
          <a:p>
            <a:r>
              <a:rPr lang="en-US" altLang="zh-CN" sz="1600" dirty="0"/>
              <a:t>    console.log(c)</a:t>
            </a:r>
          </a:p>
          <a:p>
            <a:r>
              <a:rPr lang="en-US" altLang="zh-CN" sz="1600" dirty="0" smtClean="0"/>
              <a:t>   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zh-CN" altLang="en-US" sz="1600" dirty="0" smtClean="0"/>
              <a:t>总结</a:t>
            </a:r>
            <a:r>
              <a:rPr lang="en-US" altLang="zh-CN" sz="1600" dirty="0" smtClean="0"/>
              <a:t>:</a:t>
            </a:r>
            <a:r>
              <a:rPr lang="zh-CN" altLang="en-US" sz="1600" dirty="0" smtClean="0"/>
              <a:t>数组</a:t>
            </a:r>
            <a:r>
              <a:rPr lang="zh-CN" altLang="en-US" sz="1600" dirty="0"/>
              <a:t>的解</a:t>
            </a:r>
            <a:r>
              <a:rPr lang="zh-CN" altLang="en-US" sz="1600" dirty="0" smtClean="0"/>
              <a:t>构赋值</a:t>
            </a:r>
            <a:r>
              <a:rPr lang="zh-CN" altLang="en-US" sz="1600" dirty="0"/>
              <a:t>对应的是位置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zh-CN" altLang="en-US" sz="1600" dirty="0"/>
              <a:t>所以可以交换变量的值 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altLang="zh-CN" sz="1600" dirty="0"/>
              <a:t>let x = 1; let y = 2; [x, y] = [y, x];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对象对应的是键名</a:t>
            </a:r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070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38595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数组的扩展方法 </a:t>
            </a:r>
            <a:r>
              <a:rPr lang="en-US" altLang="zh-CN" sz="1600" b="1" dirty="0" smtClean="0"/>
              <a:t>from(),of():</a:t>
            </a:r>
          </a:p>
          <a:p>
            <a:r>
              <a:rPr lang="en-US" altLang="zh-CN" sz="1600" dirty="0" smtClean="0"/>
              <a:t> 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 </a:t>
            </a:r>
            <a:r>
              <a:rPr lang="en-US" altLang="zh-CN" sz="1600" dirty="0"/>
              <a:t>//</a:t>
            </a:r>
            <a:r>
              <a:rPr lang="zh-CN" altLang="en-US" sz="1600" dirty="0"/>
              <a:t>数组的扩展方法 </a:t>
            </a:r>
            <a:r>
              <a:rPr lang="en-US" altLang="zh-CN" sz="1600" dirty="0"/>
              <a:t>from(),of()</a:t>
            </a:r>
          </a:p>
          <a:p>
            <a:r>
              <a:rPr lang="en-US" altLang="zh-CN" sz="1600" dirty="0"/>
              <a:t>    //</a:t>
            </a:r>
            <a:r>
              <a:rPr lang="zh-CN" altLang="en-US" sz="1600" dirty="0"/>
              <a:t>将位数字转成真正的数组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function add()</a:t>
            </a:r>
          </a:p>
          <a:p>
            <a:r>
              <a:rPr lang="en-US" altLang="zh-CN" sz="1600" dirty="0"/>
              <a:t>    {</a:t>
            </a:r>
          </a:p>
          <a:p>
            <a:r>
              <a:rPr lang="en-US" altLang="zh-CN" sz="1600" dirty="0"/>
              <a:t>        console.log(arguments);</a:t>
            </a:r>
          </a:p>
          <a:p>
            <a:r>
              <a:rPr lang="en-US" altLang="zh-CN" sz="1600" dirty="0"/>
              <a:t>        //es5</a:t>
            </a:r>
            <a:r>
              <a:rPr lang="zh-CN" altLang="en-US" sz="1600" dirty="0"/>
              <a:t>转换</a:t>
            </a:r>
          </a:p>
          <a:p>
            <a:r>
              <a:rPr lang="zh-CN" altLang="en-US" sz="1600" dirty="0"/>
              <a:t>        </a:t>
            </a:r>
            <a:r>
              <a:rPr lang="en-US" altLang="zh-CN" sz="1600" dirty="0"/>
              <a:t>let a=[].</a:t>
            </a:r>
            <a:r>
              <a:rPr lang="en-US" altLang="zh-CN" sz="1600" dirty="0" err="1"/>
              <a:t>slice.call</a:t>
            </a:r>
            <a:r>
              <a:rPr lang="en-US" altLang="zh-CN" sz="1600" dirty="0"/>
              <a:t>(arguments);</a:t>
            </a:r>
          </a:p>
          <a:p>
            <a:r>
              <a:rPr lang="en-US" altLang="zh-CN" sz="1600" dirty="0"/>
              <a:t>        console.log(a</a:t>
            </a:r>
            <a:r>
              <a:rPr lang="en-US" altLang="zh-CN" sz="1600" dirty="0" smtClean="0"/>
              <a:t>);//</a:t>
            </a:r>
            <a:r>
              <a:rPr lang="zh-CN" altLang="en-US" sz="1600" dirty="0" smtClean="0"/>
              <a:t>获取的是伪数组</a:t>
            </a:r>
            <a:endParaRPr lang="en-US" altLang="zh-CN" sz="1600" dirty="0"/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    //es6</a:t>
            </a:r>
            <a:r>
              <a:rPr lang="zh-CN" altLang="en-US" sz="1600" dirty="0"/>
              <a:t>转换</a:t>
            </a:r>
          </a:p>
          <a:p>
            <a:r>
              <a:rPr lang="zh-CN" altLang="en-US" sz="1600" dirty="0"/>
              <a:t>        </a:t>
            </a:r>
            <a:r>
              <a:rPr lang="en-US" altLang="zh-CN" sz="1600" dirty="0"/>
              <a:t>let b=</a:t>
            </a:r>
            <a:r>
              <a:rPr lang="en-US" altLang="zh-CN" sz="1600" dirty="0" err="1"/>
              <a:t>Array.from</a:t>
            </a:r>
            <a:r>
              <a:rPr lang="en-US" altLang="zh-CN" sz="1600" dirty="0"/>
              <a:t>(arguments);</a:t>
            </a:r>
          </a:p>
          <a:p>
            <a:r>
              <a:rPr lang="en-US" altLang="zh-CN" sz="1600" dirty="0"/>
              <a:t>        console.log(b</a:t>
            </a:r>
            <a:r>
              <a:rPr lang="en-US" altLang="zh-CN" sz="1600" dirty="0" smtClean="0"/>
              <a:t>);//</a:t>
            </a:r>
            <a:r>
              <a:rPr lang="zh-CN" altLang="en-US" sz="1600" dirty="0" smtClean="0"/>
              <a:t>获取的是真正的数组</a:t>
            </a:r>
            <a:endParaRPr lang="en-US" altLang="zh-CN" sz="1600" dirty="0"/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add(1,2,3);</a:t>
            </a:r>
          </a:p>
          <a:p>
            <a:endParaRPr lang="en-US" altLang="zh-CN" sz="1600" dirty="0"/>
          </a:p>
          <a:p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3069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59523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数组的扩展方法 </a:t>
            </a:r>
            <a:r>
              <a:rPr lang="en-US" altLang="zh-CN" sz="1600" b="1" dirty="0" smtClean="0"/>
              <a:t>from(),of():</a:t>
            </a:r>
          </a:p>
          <a:p>
            <a:pPr>
              <a:lnSpc>
                <a:spcPct val="200000"/>
              </a:lnSpc>
            </a:pPr>
            <a:r>
              <a:rPr lang="en-US" altLang="zh-CN" sz="1600" dirty="0" smtClean="0"/>
              <a:t> 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 </a:t>
            </a:r>
            <a:r>
              <a:rPr lang="en-US" altLang="zh-CN" sz="1600" dirty="0"/>
              <a:t>//</a:t>
            </a:r>
            <a:r>
              <a:rPr lang="zh-CN" altLang="en-US" sz="1600" dirty="0"/>
              <a:t>常用场景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let </a:t>
            </a:r>
            <a:r>
              <a:rPr lang="en-US" altLang="zh-CN" sz="1600" dirty="0" err="1"/>
              <a:t>lilist</a:t>
            </a:r>
            <a:r>
              <a:rPr lang="en-US" altLang="zh-CN" sz="1600" dirty="0"/>
              <a:t>=</a:t>
            </a:r>
            <a:r>
              <a:rPr lang="en-US" altLang="zh-CN" sz="1600" dirty="0" err="1"/>
              <a:t>document.querySelectorAll</a:t>
            </a:r>
            <a:r>
              <a:rPr lang="en-US" altLang="zh-CN" sz="1600" dirty="0"/>
              <a:t>("li");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console.log(</a:t>
            </a:r>
            <a:r>
              <a:rPr lang="en-US" altLang="zh-CN" sz="1600" dirty="0" err="1"/>
              <a:t>lilist</a:t>
            </a:r>
            <a:r>
              <a:rPr lang="en-US" altLang="zh-CN" sz="1600" dirty="0"/>
              <a:t>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//</a:t>
            </a:r>
            <a:r>
              <a:rPr lang="zh-CN" altLang="en-US" sz="1600" dirty="0"/>
              <a:t>使用</a:t>
            </a:r>
            <a:r>
              <a:rPr lang="en-US" altLang="zh-CN" sz="1600" dirty="0"/>
              <a:t>form()</a:t>
            </a:r>
            <a:r>
              <a:rPr lang="zh-CN" altLang="en-US" sz="1600" dirty="0"/>
              <a:t>方法转换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console.log(</a:t>
            </a:r>
            <a:r>
              <a:rPr lang="en-US" altLang="zh-CN" sz="1600" dirty="0" err="1"/>
              <a:t>Array.from</a:t>
            </a:r>
            <a:r>
              <a:rPr lang="en-US" altLang="zh-CN" sz="1600" dirty="0"/>
              <a:t>(</a:t>
            </a:r>
            <a:r>
              <a:rPr lang="en-US" altLang="zh-CN" sz="1600" dirty="0" err="1"/>
              <a:t>lilist</a:t>
            </a:r>
            <a:r>
              <a:rPr lang="en-US" altLang="zh-CN" sz="1600" dirty="0"/>
              <a:t>));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//</a:t>
            </a:r>
            <a:r>
              <a:rPr lang="zh-CN" altLang="en-US" sz="1600" dirty="0"/>
              <a:t>或者使用扩展运算符</a:t>
            </a:r>
            <a:r>
              <a:rPr lang="en-US" altLang="zh-CN" sz="1600" dirty="0"/>
              <a:t>...</a:t>
            </a:r>
            <a:endParaRPr lang="zh-CN" altLang="en-US" sz="1600" dirty="0"/>
          </a:p>
          <a:p>
            <a:pPr>
              <a:lnSpc>
                <a:spcPct val="20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console.log([...</a:t>
            </a:r>
            <a:r>
              <a:rPr lang="en-US" altLang="zh-CN" sz="1600" dirty="0" err="1"/>
              <a:t>lilist</a:t>
            </a:r>
            <a:r>
              <a:rPr lang="en-US" altLang="zh-CN" sz="1600" dirty="0"/>
              <a:t>]);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//form</a:t>
            </a:r>
            <a:r>
              <a:rPr lang="zh-CN" altLang="en-US" sz="1600" dirty="0"/>
              <a:t>还可以使用第二个参数，对每个元素进行处理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let </a:t>
            </a:r>
            <a:r>
              <a:rPr lang="en-US" altLang="zh-CN" sz="1600" dirty="0" err="1"/>
              <a:t>lia</a:t>
            </a:r>
            <a:r>
              <a:rPr lang="en-US" altLang="zh-CN" sz="1600" dirty="0"/>
              <a:t>=</a:t>
            </a:r>
            <a:r>
              <a:rPr lang="en-US" altLang="zh-CN" sz="1600" dirty="0" err="1"/>
              <a:t>Array.from</a:t>
            </a:r>
            <a:r>
              <a:rPr lang="en-US" altLang="zh-CN" sz="1600" dirty="0"/>
              <a:t>(</a:t>
            </a:r>
            <a:r>
              <a:rPr lang="en-US" altLang="zh-CN" sz="1600" dirty="0" err="1"/>
              <a:t>lilist,ele</a:t>
            </a:r>
            <a:r>
              <a:rPr lang="en-US" altLang="zh-CN" sz="1600" dirty="0"/>
              <a:t>=&gt;</a:t>
            </a:r>
            <a:r>
              <a:rPr lang="en-US" altLang="zh-CN" sz="1600" dirty="0" err="1"/>
              <a:t>ele.textContent</a:t>
            </a:r>
            <a:r>
              <a:rPr lang="en-US" altLang="zh-CN" sz="1600" dirty="0"/>
              <a:t>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console.log(</a:t>
            </a:r>
            <a:r>
              <a:rPr lang="en-US" altLang="zh-CN" sz="1600" dirty="0" err="1"/>
              <a:t>lia</a:t>
            </a:r>
            <a:r>
              <a:rPr lang="en-US" altLang="zh-CN" sz="1600" dirty="0"/>
              <a:t>);</a:t>
            </a:r>
          </a:p>
          <a:p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38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3465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/>
              <a:t>数组的扩展方法 </a:t>
            </a:r>
            <a:r>
              <a:rPr lang="en-US" altLang="zh-CN" sz="1600" b="1" dirty="0" smtClean="0"/>
              <a:t>of():</a:t>
            </a:r>
          </a:p>
          <a:p>
            <a:r>
              <a:rPr lang="en-US" altLang="zh-CN" sz="1600" dirty="0" smtClean="0"/>
              <a:t> 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 </a:t>
            </a:r>
            <a:r>
              <a:rPr lang="en-US" altLang="zh-CN" sz="1600" dirty="0"/>
              <a:t>//of</a:t>
            </a:r>
            <a:r>
              <a:rPr lang="zh-CN" altLang="en-US" sz="1600" dirty="0"/>
              <a:t>函数可以将一组任意数据类型转换为数组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console.log(</a:t>
            </a:r>
            <a:r>
              <a:rPr lang="en-US" altLang="zh-CN" sz="1600" dirty="0" err="1"/>
              <a:t>Array.of</a:t>
            </a:r>
            <a:r>
              <a:rPr lang="en-US" altLang="zh-CN" sz="1600" dirty="0"/>
              <a:t>(1,2,3,"</a:t>
            </a:r>
            <a:r>
              <a:rPr lang="zh-CN" altLang="en-US" sz="1600" dirty="0"/>
              <a:t>测试</a:t>
            </a:r>
            <a:r>
              <a:rPr lang="en-US" altLang="zh-CN" sz="1600" dirty="0"/>
              <a:t>",[3,3,6],{name:"</a:t>
            </a:r>
            <a:r>
              <a:rPr lang="zh-CN" altLang="en-US" sz="1600" dirty="0"/>
              <a:t>张飞</a:t>
            </a:r>
            <a:r>
              <a:rPr lang="en-US" altLang="zh-CN" sz="1600" dirty="0"/>
              <a:t>"}));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</a:t>
            </a:r>
            <a:r>
              <a:rPr lang="zh-CN" altLang="en-US" sz="1600" dirty="0"/>
              <a:t>将</a:t>
            </a:r>
            <a:r>
              <a:rPr lang="en-US" altLang="zh-CN" sz="1600" dirty="0"/>
              <a:t>789</a:t>
            </a:r>
            <a:r>
              <a:rPr lang="zh-CN" altLang="en-US" sz="1600" dirty="0"/>
              <a:t>替换到前面的</a:t>
            </a:r>
            <a:r>
              <a:rPr lang="en-US" altLang="zh-CN" sz="1600" dirty="0"/>
              <a:t>3</a:t>
            </a:r>
            <a:r>
              <a:rPr lang="zh-CN" altLang="en-US" sz="1600" dirty="0"/>
              <a:t>位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console.log([</a:t>
            </a:r>
            <a:r>
              <a:rPr lang="en-US" altLang="zh-CN" sz="1600" dirty="0" smtClean="0"/>
              <a:t>13,4,5,7,8,9</a:t>
            </a:r>
            <a:r>
              <a:rPr lang="en-US" altLang="zh-CN" sz="1600" dirty="0"/>
              <a:t>].</a:t>
            </a:r>
            <a:r>
              <a:rPr lang="en-US" altLang="zh-CN" sz="1600" dirty="0" err="1"/>
              <a:t>copyWithin</a:t>
            </a:r>
            <a:r>
              <a:rPr lang="en-US" altLang="zh-CN" sz="1600" dirty="0"/>
              <a:t>(0,3));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//find()  </a:t>
            </a:r>
            <a:r>
              <a:rPr lang="en-US" altLang="zh-CN" sz="1600" dirty="0" err="1"/>
              <a:t>findindex</a:t>
            </a:r>
            <a:r>
              <a:rPr lang="en-US" altLang="zh-CN" sz="1600" dirty="0"/>
              <a:t>()</a:t>
            </a:r>
          </a:p>
          <a:p>
            <a:r>
              <a:rPr lang="en-US" altLang="zh-CN" sz="1600" dirty="0"/>
              <a:t>    let </a:t>
            </a:r>
            <a:r>
              <a:rPr lang="en-US" altLang="zh-CN" sz="1600" dirty="0" err="1"/>
              <a:t>findr</a:t>
            </a:r>
            <a:r>
              <a:rPr lang="en-US" altLang="zh-CN" sz="1600" dirty="0"/>
              <a:t>=[1,2,-10,20,-1].find(n=&gt;n&lt;0);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findr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let </a:t>
            </a:r>
            <a:r>
              <a:rPr lang="en-US" altLang="zh-CN" sz="1600" dirty="0" err="1"/>
              <a:t>findrindex</a:t>
            </a:r>
            <a:r>
              <a:rPr lang="en-US" altLang="zh-CN" sz="1600" dirty="0"/>
              <a:t>=[1,2,-10,20,-1].</a:t>
            </a:r>
            <a:r>
              <a:rPr lang="en-US" altLang="zh-CN" sz="1600" dirty="0" err="1"/>
              <a:t>findIndex</a:t>
            </a:r>
            <a:r>
              <a:rPr lang="en-US" altLang="zh-CN" sz="1600" dirty="0"/>
              <a:t>(n=&gt;n&lt;0);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findrindex</a:t>
            </a:r>
            <a:r>
              <a:rPr lang="en-US" altLang="zh-CN" sz="1600" dirty="0"/>
              <a:t>);</a:t>
            </a:r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4832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 smtClean="0"/>
              <a:t>数组的扩展方法</a:t>
            </a:r>
            <a:r>
              <a:rPr lang="en-US" altLang="zh-CN" sz="1600" b="1" dirty="0" smtClean="0"/>
              <a:t>find()</a:t>
            </a:r>
            <a:r>
              <a:rPr lang="zh-CN" altLang="en-US" sz="1600" b="1" dirty="0" smtClean="0"/>
              <a:t> </a:t>
            </a:r>
            <a:r>
              <a:rPr lang="en-US" altLang="zh-CN" sz="1600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 smtClean="0"/>
              <a:t>es5</a:t>
            </a:r>
            <a:r>
              <a:rPr lang="zh-CN" altLang="en-US" sz="1600" b="1" dirty="0" smtClean="0"/>
              <a:t>写法</a:t>
            </a:r>
            <a:r>
              <a:rPr lang="en-US" altLang="zh-CN" sz="1600" b="1" dirty="0" smtClean="0"/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    let </a:t>
            </a:r>
            <a:r>
              <a:rPr lang="en-US" altLang="zh-CN" sz="1600" dirty="0"/>
              <a:t>b=null;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    let </a:t>
            </a:r>
            <a:r>
              <a:rPr lang="en-US" altLang="zh-CN" sz="1600" dirty="0"/>
              <a:t>a=[13,4,5,-7,-8,9];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/>
              <a:t>     for(let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=0;i&lt;</a:t>
            </a:r>
            <a:r>
              <a:rPr lang="en-US" altLang="zh-CN" sz="1600" dirty="0" err="1"/>
              <a:t>a.length;i</a:t>
            </a:r>
            <a:r>
              <a:rPr lang="en-US" altLang="zh-CN" sz="1600" dirty="0"/>
              <a:t>++)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/>
              <a:t>     {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   </a:t>
            </a:r>
            <a:r>
              <a:rPr lang="en-US" altLang="zh-CN" sz="1600" dirty="0" smtClean="0"/>
              <a:t>     </a:t>
            </a:r>
            <a:r>
              <a:rPr lang="en-US" altLang="zh-CN" sz="1600" dirty="0"/>
              <a:t>if(a[</a:t>
            </a:r>
            <a:r>
              <a:rPr lang="en-US" altLang="zh-CN" sz="1600" dirty="0" err="1"/>
              <a:t>i</a:t>
            </a:r>
            <a:r>
              <a:rPr lang="en-US" altLang="zh-CN" sz="1600" dirty="0"/>
              <a:t>]&lt;0)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    </a:t>
            </a:r>
            <a:r>
              <a:rPr lang="en-US" altLang="zh-CN" sz="1600" dirty="0" smtClean="0"/>
              <a:t>     {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     </a:t>
            </a:r>
            <a:r>
              <a:rPr lang="en-US" altLang="zh-CN" sz="1600" dirty="0" smtClean="0"/>
              <a:t>   </a:t>
            </a:r>
            <a:r>
              <a:rPr lang="en-US" altLang="zh-CN" sz="1600" dirty="0"/>
              <a:t> </a:t>
            </a:r>
            <a:r>
              <a:rPr lang="en-US" altLang="zh-CN" sz="1600" dirty="0" smtClean="0"/>
              <a:t>  b=a[</a:t>
            </a:r>
            <a:r>
              <a:rPr lang="en-US" altLang="zh-CN" sz="1600" dirty="0" err="1" smtClean="0"/>
              <a:t>i</a:t>
            </a:r>
            <a:r>
              <a:rPr lang="en-US" altLang="zh-CN" sz="1600" dirty="0"/>
              <a:t>];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       </a:t>
            </a:r>
            <a:r>
              <a:rPr lang="en-US" altLang="zh-CN" sz="1600" dirty="0" smtClean="0"/>
              <a:t>    break</a:t>
            </a:r>
            <a:r>
              <a:rPr lang="en-US" altLang="zh-CN" sz="1600" dirty="0"/>
              <a:t>;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/>
              <a:t>   </a:t>
            </a:r>
            <a:r>
              <a:rPr lang="en-US" altLang="zh-CN" sz="1600" dirty="0" smtClean="0"/>
              <a:t>      </a:t>
            </a:r>
            <a:r>
              <a:rPr lang="en-US" altLang="zh-CN" sz="1600" dirty="0"/>
              <a:t>}</a:t>
            </a:r>
          </a:p>
          <a:p>
            <a:pPr lvl="1">
              <a:lnSpc>
                <a:spcPct val="150000"/>
              </a:lnSpc>
            </a:pPr>
            <a:r>
              <a:rPr lang="en-US" altLang="zh-CN" sz="1600" dirty="0" smtClean="0"/>
              <a:t>    }</a:t>
            </a:r>
            <a:endParaRPr lang="en-US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   console.log(b);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 smtClean="0"/>
              <a:t>Es6</a:t>
            </a:r>
            <a:r>
              <a:rPr lang="zh-CN" altLang="en-US" sz="1600" b="1" dirty="0" smtClean="0"/>
              <a:t>写法</a:t>
            </a:r>
            <a:endParaRPr lang="en-US" altLang="zh-CN" sz="1600" b="1" dirty="0" smtClean="0"/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 </a:t>
            </a:r>
            <a:r>
              <a:rPr lang="zh-CN" altLang="en-US" sz="1600" dirty="0"/>
              <a:t> </a:t>
            </a:r>
            <a:r>
              <a:rPr lang="en-US" altLang="zh-CN" sz="1600" dirty="0"/>
              <a:t>//find() </a:t>
            </a:r>
            <a:r>
              <a:rPr lang="zh-CN" altLang="en-US" sz="1600" dirty="0"/>
              <a:t>返回符合条件</a:t>
            </a:r>
            <a:r>
              <a:rPr lang="zh-CN" altLang="en-US" sz="1600" dirty="0" smtClean="0"/>
              <a:t>的第一个数值</a:t>
            </a:r>
            <a:endParaRPr lang="zh-CN" altLang="en-US" sz="1600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let </a:t>
            </a:r>
            <a:r>
              <a:rPr lang="en-US" altLang="zh-CN" sz="1600" dirty="0" err="1"/>
              <a:t>findr</a:t>
            </a:r>
            <a:r>
              <a:rPr lang="en-US" altLang="zh-CN" sz="1600" dirty="0"/>
              <a:t>=[1,2,-10,20,-1].find(n=&gt;n&lt;0</a:t>
            </a:r>
            <a:r>
              <a:rPr lang="en-US" altLang="zh-CN" sz="1600" dirty="0" smtClean="0"/>
              <a:t>);</a:t>
            </a:r>
          </a:p>
          <a:p>
            <a:pPr>
              <a:lnSpc>
                <a:spcPct val="150000"/>
              </a:lnSpc>
            </a:pPr>
            <a:r>
              <a:rPr lang="en-US" altLang="zh-CN" sz="1600" dirty="0" smtClean="0"/>
              <a:t> </a:t>
            </a:r>
            <a:r>
              <a:rPr lang="en-US" altLang="zh-CN" sz="1600" dirty="0"/>
              <a:t>    console.log(</a:t>
            </a:r>
            <a:r>
              <a:rPr lang="en-US" altLang="zh-CN" sz="1600" dirty="0" err="1"/>
              <a:t>findrindex</a:t>
            </a:r>
            <a:r>
              <a:rPr lang="en-US" altLang="zh-CN" sz="1600" dirty="0"/>
              <a:t>);</a:t>
            </a:r>
          </a:p>
          <a:p>
            <a:pPr>
              <a:lnSpc>
                <a:spcPct val="100000"/>
              </a:lnSpc>
            </a:pPr>
            <a:r>
              <a:rPr lang="en-US" altLang="zh-CN" sz="1600" b="1" dirty="0" smtClean="0"/>
              <a:t> 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88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 smtClean="0"/>
              <a:t>数组的扩展方法</a:t>
            </a:r>
            <a:r>
              <a:rPr lang="en-US" altLang="zh-CN" sz="1600" b="1" dirty="0" smtClean="0"/>
              <a:t>find()</a:t>
            </a:r>
            <a:r>
              <a:rPr lang="zh-CN" altLang="en-US" sz="1600" b="1" dirty="0" smtClean="0"/>
              <a:t> </a:t>
            </a:r>
            <a:r>
              <a:rPr lang="en-US" altLang="zh-CN" sz="1600" b="1" dirty="0" smtClean="0"/>
              <a:t>:</a:t>
            </a:r>
            <a:endParaRPr lang="en-US" altLang="zh-CN" sz="1600" dirty="0"/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//</a:t>
            </a:r>
            <a:r>
              <a:rPr lang="en-US" altLang="zh-CN" sz="1600" dirty="0" err="1"/>
              <a:t>findindex</a:t>
            </a:r>
            <a:r>
              <a:rPr lang="en-US" altLang="zh-CN" sz="1600" dirty="0"/>
              <a:t>()</a:t>
            </a:r>
            <a:r>
              <a:rPr lang="zh-CN" altLang="en-US" sz="1600" dirty="0"/>
              <a:t>返回小于</a:t>
            </a:r>
            <a:r>
              <a:rPr lang="en-US" altLang="zh-CN" sz="1600" dirty="0"/>
              <a:t>0</a:t>
            </a:r>
            <a:r>
              <a:rPr lang="zh-CN" altLang="en-US" sz="1600" dirty="0" smtClean="0"/>
              <a:t>的</a:t>
            </a:r>
            <a:r>
              <a:rPr lang="zh-CN" altLang="en-US" sz="1600" dirty="0"/>
              <a:t>第一个</a:t>
            </a:r>
            <a:r>
              <a:rPr lang="zh-CN" altLang="en-US" sz="1600" dirty="0" smtClean="0"/>
              <a:t>数值</a:t>
            </a:r>
            <a:r>
              <a:rPr lang="zh-CN" altLang="en-US" sz="1600" dirty="0"/>
              <a:t>位置</a:t>
            </a:r>
          </a:p>
          <a:p>
            <a:pPr>
              <a:lnSpc>
                <a:spcPct val="200000"/>
              </a:lnSpc>
            </a:pPr>
            <a:r>
              <a:rPr lang="zh-CN" altLang="en-US" sz="1600" dirty="0"/>
              <a:t>    </a:t>
            </a:r>
            <a:r>
              <a:rPr lang="en-US" altLang="zh-CN" sz="1600" dirty="0"/>
              <a:t>let </a:t>
            </a:r>
            <a:r>
              <a:rPr lang="en-US" altLang="zh-CN" sz="1600" dirty="0" err="1"/>
              <a:t>findrindex</a:t>
            </a:r>
            <a:r>
              <a:rPr lang="en-US" altLang="zh-CN" sz="1600" dirty="0"/>
              <a:t>=[1,2,-10,20,-1].</a:t>
            </a:r>
            <a:r>
              <a:rPr lang="en-US" altLang="zh-CN" sz="1600" dirty="0" err="1"/>
              <a:t>findIndex</a:t>
            </a:r>
            <a:r>
              <a:rPr lang="en-US" altLang="zh-CN" sz="1600" dirty="0"/>
              <a:t>(n=&gt;n&lt;0);</a:t>
            </a:r>
          </a:p>
          <a:p>
            <a:pPr>
              <a:lnSpc>
                <a:spcPct val="200000"/>
              </a:lnSpc>
            </a:pPr>
            <a:r>
              <a:rPr lang="en-US" altLang="zh-CN" sz="1600" dirty="0"/>
              <a:t>    console.log(</a:t>
            </a:r>
            <a:r>
              <a:rPr lang="en-US" altLang="zh-CN" sz="1600" dirty="0" err="1"/>
              <a:t>findrindex</a:t>
            </a:r>
            <a:r>
              <a:rPr lang="en-US" altLang="zh-CN" sz="1600" dirty="0"/>
              <a:t>);</a:t>
            </a:r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5536" y="300568"/>
            <a:ext cx="2246129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</a:t>
            </a:r>
            <a:r>
              <a:rPr lang="zh-CN" altLang="en-US" b="1" dirty="0" smtClean="0"/>
              <a:t>函数优化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909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504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 smtClean="0"/>
              <a:t> </a:t>
            </a:r>
            <a:endParaRPr lang="en-US" altLang="zh-CN" sz="1600" dirty="0"/>
          </a:p>
          <a:p>
            <a:r>
              <a:rPr lang="en-US" altLang="zh-CN" sz="1600" dirty="0"/>
              <a:t>      //set </a:t>
            </a:r>
            <a:r>
              <a:rPr lang="zh-CN" altLang="en-US" sz="1600" dirty="0"/>
              <a:t>表示无重复值的有序列表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let set1 = new Set();</a:t>
            </a:r>
          </a:p>
          <a:p>
            <a:r>
              <a:rPr lang="en-US" altLang="zh-CN" sz="1600" dirty="0"/>
              <a:t>    set1.add(1);</a:t>
            </a:r>
          </a:p>
          <a:p>
            <a:r>
              <a:rPr lang="en-US" altLang="zh-CN" sz="1600" dirty="0"/>
              <a:t>    set1.add("4");</a:t>
            </a:r>
          </a:p>
          <a:p>
            <a:r>
              <a:rPr lang="en-US" altLang="zh-CN" sz="1600" dirty="0"/>
              <a:t>    set1.add("4");</a:t>
            </a:r>
          </a:p>
          <a:p>
            <a:r>
              <a:rPr lang="en-US" altLang="zh-CN" sz="1600" dirty="0"/>
              <a:t>    set1.add(['hello', 'word', 3]);</a:t>
            </a:r>
          </a:p>
          <a:p>
            <a:r>
              <a:rPr lang="en-US" altLang="zh-CN" sz="1600" dirty="0"/>
              <a:t>    set1.delete(1);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console.log(set1);</a:t>
            </a:r>
          </a:p>
          <a:p>
            <a:r>
              <a:rPr lang="en-US" altLang="zh-CN" sz="1600" dirty="0"/>
              <a:t>    //</a:t>
            </a:r>
            <a:r>
              <a:rPr lang="zh-CN" altLang="en-US" sz="1600" dirty="0"/>
              <a:t>校验值是否在集合中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console.log(set1.has("4"));</a:t>
            </a:r>
          </a:p>
          <a:p>
            <a:r>
              <a:rPr lang="en-US" altLang="zh-CN" sz="1600" dirty="0"/>
              <a:t>//</a:t>
            </a:r>
            <a:r>
              <a:rPr lang="zh-CN" altLang="en-US" sz="1600" dirty="0"/>
              <a:t>集合的长度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console.log(set1.size);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</a:t>
            </a:r>
            <a:r>
              <a:rPr lang="zh-CN" altLang="en-US" sz="1600" dirty="0"/>
              <a:t>不常用，无意义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set1.forEach((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, key) =&gt; {</a:t>
            </a:r>
          </a:p>
          <a:p>
            <a:r>
              <a:rPr lang="en-US" altLang="zh-CN" sz="1600" dirty="0"/>
              <a:t>        console.log(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 + "=" + key);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)</a:t>
            </a:r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3133" y="300568"/>
            <a:ext cx="225093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3.Set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map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469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21605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 smtClean="0"/>
              <a:t> </a:t>
            </a:r>
            <a:endParaRPr lang="en-US" altLang="zh-CN" sz="1600" dirty="0"/>
          </a:p>
          <a:p>
            <a:r>
              <a:rPr lang="en-US" altLang="zh-CN" sz="1600" dirty="0"/>
              <a:t>let set2 = new Set([1, 2, 2, 3, 3, 4, 5]);</a:t>
            </a:r>
          </a:p>
          <a:p>
            <a:r>
              <a:rPr lang="en-US" altLang="zh-CN" sz="1600" dirty="0"/>
              <a:t>    console.log(set2);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//...</a:t>
            </a:r>
            <a:r>
              <a:rPr lang="zh-CN" altLang="en-US" sz="1600" dirty="0"/>
              <a:t>扩展运算符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let 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 = [...set2];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arr</a:t>
            </a:r>
            <a:r>
              <a:rPr lang="en-US" altLang="zh-CN" sz="1600" dirty="0"/>
              <a:t>);</a:t>
            </a:r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3133" y="300568"/>
            <a:ext cx="225093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3.Set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map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614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5536" y="836099"/>
            <a:ext cx="10039739" cy="703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600" b="1" dirty="0" smtClean="0"/>
              <a:t> </a:t>
            </a:r>
            <a:endParaRPr lang="en-US" altLang="zh-CN" sz="1600" dirty="0"/>
          </a:p>
          <a:p>
            <a:r>
              <a:rPr lang="en-US" altLang="zh-CN" sz="1600" dirty="0"/>
              <a:t>//map</a:t>
            </a:r>
            <a:r>
              <a:rPr lang="zh-CN" altLang="en-US" sz="1600" dirty="0"/>
              <a:t>是键值对的有序列表，键和值可以是任意值</a:t>
            </a:r>
          </a:p>
          <a:p>
            <a:r>
              <a:rPr lang="zh-CN" altLang="en-US" sz="1600" dirty="0"/>
              <a:t/>
            </a:r>
            <a:br>
              <a:rPr lang="zh-CN" altLang="en-US" sz="1600" dirty="0"/>
            </a:br>
            <a:r>
              <a:rPr lang="zh-CN" altLang="en-US" sz="1600" dirty="0"/>
              <a:t>    </a:t>
            </a:r>
            <a:r>
              <a:rPr lang="en-US" altLang="zh-CN" sz="1600" dirty="0"/>
              <a:t>let map = new Map();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map.set</a:t>
            </a:r>
            <a:r>
              <a:rPr lang="en-US" altLang="zh-CN" sz="1600" dirty="0"/>
              <a:t>("name", "</a:t>
            </a:r>
            <a:r>
              <a:rPr lang="zh-CN" altLang="en-US" sz="1600" dirty="0"/>
              <a:t>张三</a:t>
            </a:r>
            <a:r>
              <a:rPr lang="en-US" altLang="zh-CN" sz="1600" dirty="0"/>
              <a:t>");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map.set</a:t>
            </a:r>
            <a:r>
              <a:rPr lang="en-US" altLang="zh-CN" sz="1600" dirty="0"/>
              <a:t>("age", "20");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map.get</a:t>
            </a:r>
            <a:r>
              <a:rPr lang="en-US" altLang="zh-CN" sz="1600" dirty="0"/>
              <a:t>("name"));</a:t>
            </a:r>
          </a:p>
          <a:p>
            <a:r>
              <a:rPr lang="en-US" altLang="zh-CN" sz="1600" dirty="0"/>
              <a:t>    console.log(</a:t>
            </a:r>
            <a:r>
              <a:rPr lang="en-US" altLang="zh-CN" sz="1600" dirty="0" err="1"/>
              <a:t>map.has</a:t>
            </a:r>
            <a:r>
              <a:rPr lang="en-US" altLang="zh-CN" sz="1600" dirty="0"/>
              <a:t>("name"));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map.delete</a:t>
            </a:r>
            <a:r>
              <a:rPr lang="en-US" altLang="zh-CN" sz="1600" dirty="0"/>
              <a:t>("name");</a:t>
            </a:r>
          </a:p>
          <a:p>
            <a:r>
              <a:rPr lang="en-US" altLang="zh-CN" sz="1600" dirty="0"/>
              <a:t>    console.log(map);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map.clear</a:t>
            </a:r>
            <a:r>
              <a:rPr lang="en-US" altLang="zh-CN" sz="1600" dirty="0"/>
              <a:t>();</a:t>
            </a:r>
          </a:p>
          <a:p>
            <a:r>
              <a:rPr lang="en-US" altLang="zh-CN" sz="1600" dirty="0"/>
              <a:t>    console.log(map);</a:t>
            </a:r>
          </a:p>
          <a:p>
            <a:r>
              <a:rPr lang="en-US" altLang="zh-CN" sz="1600" dirty="0"/>
              <a:t>    </a:t>
            </a:r>
            <a:r>
              <a:rPr lang="en-US" altLang="zh-CN" sz="1600" dirty="0" err="1"/>
              <a:t>map.set</a:t>
            </a:r>
            <a:r>
              <a:rPr lang="en-US" altLang="zh-CN" sz="1600" dirty="0"/>
              <a:t>(['a', 'b'], "</a:t>
            </a:r>
            <a:r>
              <a:rPr lang="zh-CN" altLang="en-US" sz="1600" dirty="0"/>
              <a:t>数组</a:t>
            </a:r>
            <a:r>
              <a:rPr lang="en-US" altLang="zh-CN" sz="1600" dirty="0"/>
              <a:t>")</a:t>
            </a:r>
          </a:p>
          <a:p>
            <a:r>
              <a:rPr lang="en-US" altLang="zh-CN" sz="1600" dirty="0"/>
              <a:t>    console.log(map);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let map1 = new Map([</a:t>
            </a:r>
          </a:p>
          <a:p>
            <a:r>
              <a:rPr lang="en-US" altLang="zh-CN" sz="1600" dirty="0"/>
              <a:t>        ['a', 'b'],</a:t>
            </a:r>
          </a:p>
          <a:p>
            <a:r>
              <a:rPr lang="en-US" altLang="zh-CN" sz="1600" dirty="0"/>
              <a:t>        ['b', 'c']</a:t>
            </a:r>
          </a:p>
          <a:p>
            <a:r>
              <a:rPr lang="en-US" altLang="zh-CN" sz="1600" dirty="0"/>
              <a:t>    ]</a:t>
            </a:r>
          </a:p>
          <a:p>
            <a:r>
              <a:rPr lang="en-US" altLang="zh-CN" sz="1600" dirty="0"/>
              <a:t>    )</a:t>
            </a:r>
          </a:p>
          <a:p>
            <a:r>
              <a:rPr lang="en-US" altLang="zh-CN" sz="1600" dirty="0"/>
              <a:t>    console.log(map1);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r>
              <a:rPr lang="en-US" altLang="zh-CN" sz="1600" dirty="0"/>
              <a:t>    //</a:t>
            </a:r>
            <a:r>
              <a:rPr lang="zh-CN" altLang="en-US" sz="1600" dirty="0"/>
              <a:t>迭代</a:t>
            </a:r>
          </a:p>
          <a:p>
            <a:r>
              <a:rPr lang="zh-CN" altLang="en-US" sz="1600" dirty="0"/>
              <a:t>    </a:t>
            </a:r>
            <a:r>
              <a:rPr lang="en-US" altLang="zh-CN" sz="1600" dirty="0"/>
              <a:t>map1.forEach((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, key) =&gt; {</a:t>
            </a:r>
          </a:p>
          <a:p>
            <a:r>
              <a:rPr lang="en-US" altLang="zh-CN" sz="1600" dirty="0"/>
              <a:t>        console.log(key + "=" + </a:t>
            </a:r>
            <a:r>
              <a:rPr lang="en-US" altLang="zh-CN" sz="1600" dirty="0" err="1"/>
              <a:t>val</a:t>
            </a:r>
            <a:r>
              <a:rPr lang="en-US" altLang="zh-CN" sz="1600" dirty="0"/>
              <a:t>);</a:t>
            </a:r>
          </a:p>
          <a:p>
            <a:r>
              <a:rPr lang="en-US" altLang="zh-CN" sz="1600" dirty="0"/>
              <a:t>    }</a:t>
            </a:r>
          </a:p>
          <a:p>
            <a:r>
              <a:rPr lang="en-US" altLang="zh-CN" sz="1600" dirty="0"/>
              <a:t>    )</a:t>
            </a:r>
          </a:p>
          <a:p>
            <a:r>
              <a:rPr lang="en-US" altLang="zh-CN" sz="1600" dirty="0"/>
              <a:t/>
            </a:r>
            <a:br>
              <a:rPr lang="en-US" altLang="zh-CN" sz="1600" dirty="0"/>
            </a:br>
            <a:endParaRPr lang="en-US" altLang="zh-CN" sz="1600" dirty="0"/>
          </a:p>
          <a:p>
            <a:pPr>
              <a:lnSpc>
                <a:spcPct val="200000"/>
              </a:lnSpc>
            </a:pPr>
            <a:endParaRPr lang="en-US" altLang="zh-CN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303133" y="300568"/>
            <a:ext cx="2250937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 smtClean="0"/>
              <a:t>3.Set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map</a:t>
            </a:r>
            <a:endParaRPr lang="zh-CN" altLang="en-US" b="1" dirty="0"/>
          </a:p>
        </p:txBody>
      </p:sp>
      <p:sp>
        <p:nvSpPr>
          <p:cNvPr id="2" name="矩形 1"/>
          <p:cNvSpPr/>
          <p:nvPr/>
        </p:nvSpPr>
        <p:spPr>
          <a:xfrm>
            <a:off x="761045" y="2232563"/>
            <a:ext cx="652594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矩形 13"/>
          <p:cNvSpPr/>
          <p:nvPr/>
        </p:nvSpPr>
        <p:spPr>
          <a:xfrm>
            <a:off x="-2" y="249160"/>
            <a:ext cx="215157" cy="638349"/>
          </a:xfrm>
          <a:prstGeom prst="rect">
            <a:avLst/>
          </a:prstGeom>
          <a:solidFill>
            <a:srgbClr val="639EF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lnSpc>
                <a:spcPct val="100000"/>
              </a:lnSpc>
              <a:defRPr sz="1800">
                <a:solidFill>
                  <a:srgbClr val="FFFFFF"/>
                </a:solidFill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8055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Office 主题">
  <a:themeElements>
    <a:clrScheme name="Office 主题">
      <a:dk1>
        <a:srgbClr val="40404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PingFang SC Regular"/>
        <a:ea typeface="PingFang SC Regular"/>
        <a:cs typeface="PingFang SC Regular"/>
      </a:majorFont>
      <a:minorFont>
        <a:latin typeface="PingFang SC Regular"/>
        <a:ea typeface="PingFang SC Regular"/>
        <a:cs typeface="PingFang SC Regular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404040"/>
            </a:solidFill>
            <a:effectLst/>
            <a:uFillTx/>
            <a:latin typeface="+mn-lt"/>
            <a:ea typeface="+mn-ea"/>
            <a:cs typeface="+mn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PingFang SC Regular"/>
        <a:ea typeface="PingFang SC Regular"/>
        <a:cs typeface="PingFang SC Regular"/>
      </a:majorFont>
      <a:minorFont>
        <a:latin typeface="PingFang SC Regular"/>
        <a:ea typeface="PingFang SC Regular"/>
        <a:cs typeface="PingFang SC Regular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404040"/>
            </a:solidFill>
            <a:effectLst/>
            <a:uFillTx/>
            <a:latin typeface="+mn-lt"/>
            <a:ea typeface="+mn-ea"/>
            <a:cs typeface="+mn-cs"/>
            <a:sym typeface="PingFang S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</TotalTime>
  <Words>1110</Words>
  <Application>Microsoft Office PowerPoint</Application>
  <PresentationFormat>宽屏</PresentationFormat>
  <Paragraphs>564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7" baseType="lpstr">
      <vt:lpstr>PingFang SC Regular</vt:lpstr>
      <vt:lpstr>PingFang SC Semibold</vt:lpstr>
      <vt:lpstr>Algerian</vt:lpstr>
      <vt:lpstr>Consolas</vt:lpstr>
      <vt:lpstr>Courier New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雨课堂新版本发布</dc:title>
  <dc:creator>Administrator</dc:creator>
  <cp:lastModifiedBy>RJXY</cp:lastModifiedBy>
  <cp:revision>470</cp:revision>
  <dcterms:created xsi:type="dcterms:W3CDTF">2020-03-31T10:04:06Z</dcterms:created>
  <dcterms:modified xsi:type="dcterms:W3CDTF">2022-03-01T04:50:41Z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2052-1.1.0.1454</vt:lpwstr>
  </property>
</Properties>
</file>