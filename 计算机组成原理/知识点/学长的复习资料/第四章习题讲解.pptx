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87" r:id="rId4"/>
    <p:sldId id="288" r:id="rId5"/>
    <p:sldId id="289" r:id="rId6"/>
    <p:sldId id="290" r:id="rId7"/>
    <p:sldId id="291" r:id="rId8"/>
    <p:sldId id="268" r:id="rId9"/>
    <p:sldId id="292" r:id="rId10"/>
    <p:sldId id="293" r:id="rId11"/>
    <p:sldId id="279" r:id="rId12"/>
    <p:sldId id="280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93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tags" Target="../tags/tag5.xml"/><Relationship Id="rId3" Type="http://schemas.openxmlformats.org/officeDocument/2006/relationships/image" Target="../media/image3.jpe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image" Target="../media/image5.jpe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2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2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2.jpeg"/><Relationship Id="rId2" Type="http://schemas.openxmlformats.org/officeDocument/2006/relationships/tags" Target="../tags/tag26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2.jpeg"/><Relationship Id="rId2" Type="http://schemas.openxmlformats.org/officeDocument/2006/relationships/tags" Target="../tags/tag34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image" Target="../media/image2.jpeg"/><Relationship Id="rId2" Type="http://schemas.openxmlformats.org/officeDocument/2006/relationships/tags" Target="../tags/tag42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image" Target="../media/image2.jpeg"/><Relationship Id="rId2" Type="http://schemas.openxmlformats.org/officeDocument/2006/relationships/tags" Target="../tags/tag5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image" Target="../media/image2.jpeg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1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2618125" y="2147362"/>
            <a:ext cx="6997903" cy="1190625"/>
          </a:xfrm>
        </p:spPr>
        <p:txBody>
          <a:bodyPr vert="horz" wrap="square" lIns="101600" tIns="38100" rIns="762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88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500" b="0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70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09474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, 形状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1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5452181" y="2454057"/>
            <a:ext cx="4728775" cy="1324610"/>
          </a:xfrm>
          <a:ln w="3175">
            <a:noFill/>
            <a:miter lim="400000"/>
          </a:ln>
        </p:spPr>
        <p:txBody>
          <a:bodyPr vert="horz" wrap="square" lIns="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00" b="0" i="0" u="none" strike="noStrike" kern="1200" cap="none" spc="24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优设标题黑" panose="00000500000000000000" charset="-122"/>
                <a:sym typeface="优设标题黑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示&#10;&#10;低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低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/>
          <p:nvPr>
            <p:ph type="title" idx="1" hasCustomPrompt="1"/>
            <p:custDataLst>
              <p:tags r:id="rId4"/>
            </p:custDataLst>
          </p:nvPr>
        </p:nvSpPr>
        <p:spPr>
          <a:xfrm>
            <a:off x="1987550" y="2405702"/>
            <a:ext cx="8216900" cy="1156970"/>
          </a:xfrm>
          <a:noFill/>
          <a:ln>
            <a:noFill/>
          </a:ln>
        </p:spPr>
        <p:txBody>
          <a:bodyPr vert="horz" wrap="square" lIns="101600" tIns="38100" rIns="63500" bIns="381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600" b="1" i="0" u="none" strike="noStrike" kern="1200" cap="none" spc="30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7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1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2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MOV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指令的特点是（）。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5640070" cy="2808605"/>
          </a:xfrm>
        </p:spPr>
        <p:txBody>
          <a:bodyPr>
            <a:normAutofit lnSpcReduction="10000"/>
          </a:bodyPr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    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影响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DF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    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影响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SF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    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影响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CF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   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不影响标志位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0720" y="454533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答案：</a:t>
            </a:r>
            <a:r>
              <a:rPr 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687070"/>
            <a:ext cx="10852150" cy="1015365"/>
          </a:xfrm>
        </p:spPr>
        <p:txBody>
          <a:bodyPr/>
          <a:p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已知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SP=2110H,AX=1234H,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执行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PUSH  AX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后，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AX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寄存器的值是  （）。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796925" y="2095500"/>
            <a:ext cx="5640070" cy="2808605"/>
          </a:xfrm>
        </p:spPr>
        <p:txBody>
          <a:bodyPr>
            <a:normAutofit fontScale="90000"/>
          </a:bodyPr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    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  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2112H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  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1234H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  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210FH</a:t>
            </a:r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5" name="文本框 6"/>
          <p:cNvSpPr txBox="1"/>
          <p:nvPr>
            <p:custDataLst>
              <p:tags r:id="rId2"/>
            </p:custDataLst>
          </p:nvPr>
        </p:nvSpPr>
        <p:spPr>
          <a:xfrm>
            <a:off x="1798320" y="2207260"/>
            <a:ext cx="6431280" cy="482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2111H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5680" y="484505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答案：</a:t>
            </a:r>
            <a:r>
              <a:rPr 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570230"/>
            <a:ext cx="10248265" cy="872490"/>
          </a:xfrm>
        </p:spPr>
        <p:txBody>
          <a:bodyPr/>
          <a:p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已知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SP=2110H,AX=1234H,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执行指令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POP AX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后，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SP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的值为（ ）。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796925" y="2095500"/>
            <a:ext cx="5640070" cy="2808605"/>
          </a:xfrm>
        </p:spPr>
        <p:txBody>
          <a:bodyPr>
            <a:normAutofit fontScale="90000"/>
          </a:bodyPr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  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2111H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  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2112H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  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1234H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  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210FH</a:t>
            </a:r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95680" y="484505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答案：</a:t>
            </a:r>
            <a:r>
              <a:rPr 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执行“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DIV BX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”指令后，（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）寄存器中存放结果。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9925" y="1094740"/>
            <a:ext cx="5640070" cy="2605405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    AL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    AH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    AX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    DX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9925" y="3613150"/>
            <a:ext cx="609600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下面不能实现将</a:t>
            </a:r>
            <a:r>
              <a:rPr lang="en-US" altLang="zh-CN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AX</a:t>
            </a:r>
            <a:r>
              <a: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寄存器清零的指令是（）。</a:t>
            </a:r>
            <a:endParaRPr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212" name="文本框 7"/>
          <p:cNvSpPr txBox="1"/>
          <p:nvPr>
            <p:custDataLst>
              <p:tags r:id="rId2"/>
            </p:custDataLst>
          </p:nvPr>
        </p:nvSpPr>
        <p:spPr>
          <a:xfrm>
            <a:off x="828040" y="4132580"/>
            <a:ext cx="5019040" cy="20034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§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      AND AX,0</a:t>
            </a:r>
            <a:endParaRPr lang="en-US" altLang="zh-CN" sz="2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      </a:t>
            </a: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XOR AX,0 </a:t>
            </a:r>
            <a:endParaRPr lang="en-US" altLang="zh-CN" sz="2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      </a:t>
            </a: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MOV AX,0</a:t>
            </a:r>
            <a:endParaRPr lang="en-US" altLang="zh-CN" sz="2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     </a:t>
            </a: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SUB AX,AX</a:t>
            </a:r>
            <a:endParaRPr lang="en-US" altLang="zh-CN" sz="2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350000" y="280797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答案：</a:t>
            </a:r>
            <a:r>
              <a:rPr 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350000" y="525653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答案：</a:t>
            </a:r>
            <a:r>
              <a:rPr 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5" grpId="0"/>
      <p:bldP spid="942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570230"/>
            <a:ext cx="9993630" cy="1127125"/>
          </a:xfrm>
        </p:spPr>
        <p:txBody>
          <a:bodyPr/>
          <a:p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已知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AX=0001H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，下列四条指令执行后，不能使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ZF=1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的语句是（）。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77925" y="1988820"/>
            <a:ext cx="5640070" cy="2605405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   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DEC AX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   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SUB AX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   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AND AX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   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CMP AX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5680" y="484505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答案：</a:t>
            </a:r>
            <a:r>
              <a:rPr 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97560" y="626745"/>
            <a:ext cx="10024745" cy="5754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1.已知机器字长8位，有两个十进制X=71，Y=59，请用补码运算求X+Y的结果，分析判断是否发生溢出，并写出标志寄存器中CF、ZF、SF、OF的值。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=0100 0111,Y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=0011 1011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X+Y=1000 0010， 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溢出；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CF=0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（最高位没有进位）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（结果不等于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       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SF=1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（结果最高位是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       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OF=1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两个正数相加为负数，溢出；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最高位和次高位，一个有进位，一个没有，溢出；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变形补码，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，结果正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溢）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99530" y="1702435"/>
            <a:ext cx="28854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00 1000111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  00 0111011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--------------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01 0000010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870" y="1306830"/>
            <a:ext cx="10852150" cy="2443480"/>
          </a:xfrm>
        </p:spPr>
        <p:txBody>
          <a:bodyPr/>
          <a:p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如果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AL=85H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CL=4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，执行“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SAR AL,CL”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后，</a:t>
            </a:r>
            <a:b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</a:b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AL= ?   CF=?</a:t>
            </a:r>
            <a:b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</a:br>
            <a:b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</a:br>
            <a:b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</a:br>
            <a:b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</a:b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12800" y="226949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答案：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0F8H</a:t>
            </a:r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</a:t>
            </a:r>
            <a:endParaRPr lang="en-US" altLang="zh-CN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9760" y="2983230"/>
            <a:ext cx="921448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如果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AL=85H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CL=4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，执行“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SHR AL,CL”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后，</a:t>
            </a:r>
            <a:r>
              <a:rPr lang="en-US" altLang="zh-CN" sz="3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AL= ?   CF=?</a:t>
            </a:r>
            <a:endParaRPr lang="zh-CN" altLang="en-US" sz="3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0720" y="454533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答案：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08H</a:t>
            </a:r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</a:t>
            </a:r>
            <a:endParaRPr lang="en-US" altLang="zh-CN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570230"/>
            <a:ext cx="10852150" cy="1299210"/>
          </a:xfrm>
        </p:spPr>
        <p:txBody>
          <a:bodyPr/>
          <a:p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已知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AL= -16,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下面指令执行后，使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AL= -8</a:t>
            </a: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的指令是（）。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125" y="2192020"/>
            <a:ext cx="5640070" cy="2605405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   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SHR AL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   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SAR AL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   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SHL AL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   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SAL AL</a:t>
            </a:r>
            <a:r>
              <a: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95680" y="484505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答案：</a:t>
            </a:r>
            <a:r>
              <a:rPr 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2707" y="420378"/>
            <a:ext cx="10852237" cy="5388907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4-15  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模式下，假设（DS）=091DH，（SS）=1E4AH，（AX）=1234H，（BX）=0024H，（CX）=5678H，（BP）=0024H，（SI）=0012H，（DI）=0032H，（09226H）=00F6H，（09228H）=1E40H，（1E4E6H）=091DH。请分别给出下列各指令或程序段的执行结果。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（1）MOV CL,20H[BX][SI]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 [BP][DI],CX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）LEA BX,20H[BX][SI]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MOV AX,2[BX]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5587365" y="641350"/>
            <a:ext cx="5050155" cy="72618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12707" y="420378"/>
            <a:ext cx="10852237" cy="5388907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4-19  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在实模式下，假设（DS）=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1234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H，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（SI）=12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H，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12464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H）=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30AB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H，（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12484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H）=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464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H，有以下程序段：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LEA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[SI] 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MOV AX,[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 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[SI+22H]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0H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LDS SI,[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SI+20H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 AX,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[SI]</a:t>
            </a:r>
            <a:endParaRPr lang="en-US" altLang="zh-CN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上述程序段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执行后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  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  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AX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  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6950" y="1527175"/>
            <a:ext cx="8340090" cy="43757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1*i*1"/>
  <p:tag name="KSO_WM_BEAUTIFY_FLAG" val="#wm#"/>
  <p:tag name="KSO_WM_TAG_VERSION" val="1.0"/>
  <p:tag name="KSO_WM_CHIP_GROUPID" val="61b07d62eadd3e7cad1c9f69"/>
  <p:tag name="KSO_WM_CHIP_XID" val="61b201608aab5289f067a9e5"/>
  <p:tag name="KSO_WM_UNIT_DEC_AREA_ID" val="fa4fbd77b2bf4711b924b16abb4633c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9fa6c582b6746239d9b33c0534c6416"/>
</p:tagLst>
</file>

<file path=ppt/tags/tag2.xml><?xml version="1.0" encoding="utf-8"?>
<p:tagLst xmlns:p="http://schemas.openxmlformats.org/presentationml/2006/main">
  <p:tag name="KSO_WM_UNIT_DEFAULT_FONT" val="66;72;2"/>
  <p:tag name="KSO_WM_UNIT_BLOCK" val="0"/>
  <p:tag name="KSO_WM_UNIT_DEC_AREA_ID" val="f55cbd6c30544572b14e90da2501e9ba"/>
  <p:tag name="KSO_WM_UNIT_ISCONTENTSTITLE" val="0"/>
  <p:tag name="KSO_WM_UNIT_ISNUMDGMTITLE" val="0"/>
  <p:tag name="KSO_WM_UNIT_PRESET_TEXT" val="我们的校园生活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  <p:tag name="KSO_WM_TEMPLATE_ASSEMBLE_XID" val="61b954c27d221a2e4b612911"/>
  <p:tag name="KSO_WM_TEMPLATE_ASSEMBLE_GROUPID" val="61b07d62eadd3e7cad1c9f69"/>
</p:tagLst>
</file>

<file path=ppt/tags/tag3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5*i*1"/>
  <p:tag name="KSO_WM_BEAUTIFY_FLAG" val="#wm#"/>
  <p:tag name="KSO_WM_TAG_VERSION" val="1.0"/>
  <p:tag name="KSO_WM_CHIP_GROUPID" val="61b07d62eadd3e7cad1c9f69"/>
  <p:tag name="KSO_WM_CHIP_XID" val="61b201608aab5289f067a9e3"/>
  <p:tag name="KSO_WM_UNIT_DEC_AREA_ID" val="9072ad4634bf41c498d853dd9b01224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074d8dda694467197f4e6d67e8021eb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BLOCK" val="0"/>
  <p:tag name="KSO_WM_UNIT_DEC_AREA_ID" val="b23f4b3f41a347c6a6ac134e5c2d0e5e"/>
  <p:tag name="KSO_WM_UNIT_DEFAULT_FONT" val="60;72;2"/>
  <p:tag name="KSO_WM_CHIP_GROUPID" val="612ee0258ebfb23103c99f75"/>
  <p:tag name="KSO_WM_CHIP_XID" val="612ee0258ebfb23103c99f76"/>
  <p:tag name="KSO_WM_CHIP_FILLAREA_FILL_RULE" val="{&quot;fill_align&quot;:&quot;cm&quot;,&quot;fill_mode&quot;:&quot;adaptive&quot;,&quot;sacle_strategy&quot;:&quot;smart&quot;}"/>
  <p:tag name="KSO_WM_ASSEMBLE_CHIP_INDEX" val="acd17be412594f46a66c4c89ecab2aa8"/>
  <p:tag name="KSO_WM_UNIT_TEXT_FILL_FORE_SCHEMECOLOR_INDEX_BRIGHTNESS" val="0.15"/>
  <p:tag name="KSO_WM_UNIT_TEXT_FILL_FORE_SCHEMECOLOR_INDEX" val="13"/>
  <p:tag name="KSO_WM_UNIT_TEXT_FILL_TYPE" val="1"/>
  <p:tag name="KSO_WM_TEMPLATE_ASSEMBLE_XID" val="61b954c27d221a2e4b6128e0"/>
  <p:tag name="KSO_WM_TEMPLATE_ASSEMBLE_GROUPID" val="61b07d62eadd3e7cad1c9f69"/>
</p:tagLst>
</file>

<file path=ppt/tags/tag6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7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8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3*i*1"/>
  <p:tag name="KSO_WM_BEAUTIFY_FLAG" val="#wm#"/>
  <p:tag name="KSO_WM_TAG_VERSION" val="1.0"/>
  <p:tag name="KSO_WM_CHIP_GROUPID" val="61b07d62eadd3e7cad1c9f69"/>
  <p:tag name="KSO_WM_CHIP_XID" val="61b201608aab5289f067a9e1"/>
  <p:tag name="KSO_WM_UNIT_DEC_AREA_ID" val="fc7701a86b5241d6bb00326da49eb26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abef9f865640339c3450f82b1494e5"/>
</p:tagLst>
</file>

<file path=ppt/tags/tag9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1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2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201608aab5289f067a9e2"/>
  <p:tag name="KSO_WM_UNIT_DEC_AREA_ID" val="eb9d21a448df4852b4ae31a722e2dc1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c4f790088024231b26ebb5b21353ab9"/>
</p:tagLst>
</file>

<file path=ppt/tags/tag13.xml><?xml version="1.0" encoding="utf-8"?>
<p:tagLst xmlns:p="http://schemas.openxmlformats.org/presentationml/2006/main">
  <p:tag name="KSO_WM_UNIT_BLOCK" val="0"/>
  <p:tag name="KSO_WM_UNIT_DEC_AREA_ID" val="f5f22a9eac5042d7b89a4db80b4b4776"/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DEFAULT_FONT" val="66;72;2"/>
  <p:tag name="KSO_WM_CHIP_GROUPID" val="614314e91e630cfd8f11395a"/>
  <p:tag name="KSO_WM_CHIP_XID" val="614314e91e630cfd8f11395b"/>
  <p:tag name="KSO_WM_CHIP_FILLAREA_FILL_RULE" val="{&quot;fill_align&quot;:&quot;cm&quot;,&quot;fill_mode&quot;:&quot;adaptive&quot;,&quot;sacle_strategy&quot;:&quot;smart&quot;}"/>
  <p:tag name="KSO_WM_ASSEMBLE_CHIP_INDEX" val="89c39db8efe94c03b3c326dd1747cce2"/>
  <p:tag name="KSO_WM_UNIT_TEXT_FILL_FORE_SCHEMECOLOR_INDEX_BRIGHTNESS" val="0"/>
  <p:tag name="KSO_WM_UNIT_TEXT_FILL_FORE_SCHEMECOLOR_INDEX" val="13"/>
  <p:tag name="KSO_WM_UNIT_TEXT_FILL_TYPE" val="1"/>
  <p:tag name="KSO_WM_TEMPLATE_ASSEMBLE_XID" val="61b954c2c9524cd5e8bdfb55"/>
  <p:tag name="KSO_WM_TEMPLATE_ASSEMBLE_GROUPID" val="61b07d62eadd3e7cad1c9f69"/>
</p:tagLst>
</file>

<file path=ppt/tags/tag1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  <p:tag name="KSO_WM_SLIDE_BACKGROUND_TYPE" val="general"/>
</p:tagLst>
</file>

<file path=ppt/tags/tag15.xml><?xml version="1.0" encoding="utf-8"?>
<p:tagLst xmlns:p="http://schemas.openxmlformats.org/presentationml/2006/main">
  <p:tag name="KSO_WM_SLIDE_BACKGROUND_TYPE" val="general"/>
</p:tagLst>
</file>

<file path=ppt/tags/tag16.xml><?xml version="1.0" encoding="utf-8"?>
<p:tagLst xmlns:p="http://schemas.openxmlformats.org/presentationml/2006/main">
  <p:tag name="KSO_WM_SLIDE_BACKGROUND_TYPE" val="general"/>
</p:tagLst>
</file>

<file path=ppt/tags/tag17.xml><?xml version="1.0" encoding="utf-8"?>
<p:tagLst xmlns:p="http://schemas.openxmlformats.org/presentationml/2006/main">
  <p:tag name="KSO_WM_SLIDE_BACKGROUND_TYPE" val="general"/>
</p:tagLst>
</file>

<file path=ppt/tags/tag18.xml><?xml version="1.0" encoding="utf-8"?>
<p:tagLst xmlns:p="http://schemas.openxmlformats.org/presentationml/2006/main">
  <p:tag name="KSO_WM_SLIDE_BACKGROUND_TYPE" val="general"/>
</p:tagLst>
</file>

<file path=ppt/tags/tag19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336d489ff8354fde8fd9db8536a8589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63913b9d508446e95426d501bd36f65"/>
  <p:tag name="KSO_WM_SLIDE_BACKGROUND_TYPE" val="frame"/>
</p:tagLst>
</file>

<file path=ppt/tags/tag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286"/>
  <p:tag name="KSO_WM_CHIP_GROUPID" val="612f6a61c37455bdf62a9584"/>
  <p:tag name="KSO_WM_CHIP_XID" val="612f6a61c37455bdf62a9586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p="http://schemas.openxmlformats.org/presentationml/2006/main">
  <p:tag name="KSO_WM_SLIDE_BACKGROUND_TYPE" val="frame"/>
</p:tagLst>
</file>

<file path=ppt/tags/tag22.xml><?xml version="1.0" encoding="utf-8"?>
<p:tagLst xmlns:p="http://schemas.openxmlformats.org/presentationml/2006/main">
  <p:tag name="KSO_WM_SLIDE_BACKGROUND_TYPE" val="frame"/>
</p:tagLst>
</file>

<file path=ppt/tags/tag23.xml><?xml version="1.0" encoding="utf-8"?>
<p:tagLst xmlns:p="http://schemas.openxmlformats.org/presentationml/2006/main">
  <p:tag name="KSO_WM_SLIDE_BACKGROUND_TYPE" val="frame"/>
</p:tagLst>
</file>

<file path=ppt/tags/tag24.xml><?xml version="1.0" encoding="utf-8"?>
<p:tagLst xmlns:p="http://schemas.openxmlformats.org/presentationml/2006/main">
  <p:tag name="KSO_WM_SLIDE_BACKGROUND_TYPE" val="frame"/>
</p:tagLst>
</file>

<file path=ppt/tags/tag25.xml><?xml version="1.0" encoding="utf-8"?>
<p:tagLst xmlns:p="http://schemas.openxmlformats.org/presentationml/2006/main">
  <p:tag name="KSO_WM_SLIDE_BACKGROUND_TYPE" val="frame"/>
</p:tagLst>
</file>

<file path=ppt/tags/tag26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b8ce8db9a4e849518bd74e925f91a08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e5f1dd0a612403d8944f05b213e91fa"/>
  <p:tag name="KSO_WM_SLIDE_BACKGROUND_TYPE" val="leftRight"/>
</p:tagLst>
</file>

<file path=ppt/tags/tag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.xml><?xml version="1.0" encoding="utf-8"?>
<p:tagLst xmlns:p="http://schemas.openxmlformats.org/presentationml/2006/main">
  <p:tag name="KSO_WM_SLIDE_BACKGROUND_TYPE" val="leftRight"/>
</p:tagLst>
</file>

<file path=ppt/tags/tag29.xml><?xml version="1.0" encoding="utf-8"?>
<p:tagLst xmlns:p="http://schemas.openxmlformats.org/presentationml/2006/main">
  <p:tag name="KSO_WM_SLIDE_BACKGROUND_TYPE" val="leftRight"/>
</p:tagLst>
</file>

<file path=ppt/tags/tag30.xml><?xml version="1.0" encoding="utf-8"?>
<p:tagLst xmlns:p="http://schemas.openxmlformats.org/presentationml/2006/main">
  <p:tag name="KSO_WM_SLIDE_BACKGROUND_TYPE" val="leftRight"/>
</p:tagLst>
</file>

<file path=ppt/tags/tag31.xml><?xml version="1.0" encoding="utf-8"?>
<p:tagLst xmlns:p="http://schemas.openxmlformats.org/presentationml/2006/main">
  <p:tag name="KSO_WM_SLIDE_BACKGROUND_TYPE" val="leftRight"/>
</p:tagLst>
</file>

<file path=ppt/tags/tag32.xml><?xml version="1.0" encoding="utf-8"?>
<p:tagLst xmlns:p="http://schemas.openxmlformats.org/presentationml/2006/main">
  <p:tag name="KSO_WM_SLIDE_BACKGROUND_TYPE" val="leftRight"/>
</p:tagLst>
</file>

<file path=ppt/tags/tag33.xml><?xml version="1.0" encoding="utf-8"?>
<p:tagLst xmlns:p="http://schemas.openxmlformats.org/presentationml/2006/main">
  <p:tag name="KSO_WM_SLIDE_BACKGROUND_TYPE" val="leftRight"/>
</p:tagLst>
</file>

<file path=ppt/tags/tag3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254441f44395496abbb199acc32603f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711a27506084096958fe2b85383011c"/>
  <p:tag name="KSO_WM_SLIDE_BACKGROUND_TYPE" val="topBottom"/>
</p:tagLst>
</file>

<file path=ppt/tags/tag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.xml><?xml version="1.0" encoding="utf-8"?>
<p:tagLst xmlns:p="http://schemas.openxmlformats.org/presentationml/2006/main">
  <p:tag name="KSO_WM_SLIDE_BACKGROUND_TYPE" val="topBottom"/>
</p:tagLst>
</file>

<file path=ppt/tags/tag37.xml><?xml version="1.0" encoding="utf-8"?>
<p:tagLst xmlns:p="http://schemas.openxmlformats.org/presentationml/2006/main">
  <p:tag name="KSO_WM_SLIDE_BACKGROUND_TYPE" val="topBottom"/>
</p:tagLst>
</file>

<file path=ppt/tags/tag38.xml><?xml version="1.0" encoding="utf-8"?>
<p:tagLst xmlns:p="http://schemas.openxmlformats.org/presentationml/2006/main">
  <p:tag name="KSO_WM_SLIDE_BACKGROUND_TYPE" val="topBottom"/>
</p:tagLst>
</file>

<file path=ppt/tags/tag39.xml><?xml version="1.0" encoding="utf-8"?>
<p:tagLst xmlns:p="http://schemas.openxmlformats.org/presentationml/2006/main">
  <p:tag name="KSO_WM_SLIDE_BACKGROUND_TYPE" val="topBottom"/>
</p:tagLst>
</file>

<file path=ppt/tags/tag40.xml><?xml version="1.0" encoding="utf-8"?>
<p:tagLst xmlns:p="http://schemas.openxmlformats.org/presentationml/2006/main">
  <p:tag name="KSO_WM_SLIDE_BACKGROUND_TYPE" val="topBottom"/>
</p:tagLst>
</file>

<file path=ppt/tags/tag41.xml><?xml version="1.0" encoding="utf-8"?>
<p:tagLst xmlns:p="http://schemas.openxmlformats.org/presentationml/2006/main">
  <p:tag name="KSO_WM_SLIDE_BACKGROUND_TYPE" val="topBottom"/>
</p:tagLst>
</file>

<file path=ppt/tags/tag42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d99e53d5217e47d8bfa9a8b396e1b9e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30d5c35b21740209567d9729d26f0b2"/>
  <p:tag name="KSO_WM_SLIDE_BACKGROUND_TYPE" val="bottomTop"/>
</p:tagLst>
</file>

<file path=ppt/tags/tag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.xml><?xml version="1.0" encoding="utf-8"?>
<p:tagLst xmlns:p="http://schemas.openxmlformats.org/presentationml/2006/main">
  <p:tag name="KSO_WM_SLIDE_BACKGROUND_TYPE" val="bottomTop"/>
</p:tagLst>
</file>

<file path=ppt/tags/tag45.xml><?xml version="1.0" encoding="utf-8"?>
<p:tagLst xmlns:p="http://schemas.openxmlformats.org/presentationml/2006/main">
  <p:tag name="KSO_WM_SLIDE_BACKGROUND_TYPE" val="bottomTop"/>
</p:tagLst>
</file>

<file path=ppt/tags/tag46.xml><?xml version="1.0" encoding="utf-8"?>
<p:tagLst xmlns:p="http://schemas.openxmlformats.org/presentationml/2006/main">
  <p:tag name="KSO_WM_SLIDE_BACKGROUND_TYPE" val="bottomTop"/>
</p:tagLst>
</file>

<file path=ppt/tags/tag47.xml><?xml version="1.0" encoding="utf-8"?>
<p:tagLst xmlns:p="http://schemas.openxmlformats.org/presentationml/2006/main">
  <p:tag name="KSO_WM_SLIDE_BACKGROUND_TYPE" val="bottomTop"/>
</p:tagLst>
</file>

<file path=ppt/tags/tag48.xml><?xml version="1.0" encoding="utf-8"?>
<p:tagLst xmlns:p="http://schemas.openxmlformats.org/presentationml/2006/main">
  <p:tag name="KSO_WM_SLIDE_BACKGROUND_TYPE" val="bottomTop"/>
</p:tagLst>
</file>

<file path=ppt/tags/tag49.xml><?xml version="1.0" encoding="utf-8"?>
<p:tagLst xmlns:p="http://schemas.openxmlformats.org/presentationml/2006/main">
  <p:tag name="KSO_WM_SLIDE_BACKGROUND_TYPE" val="bottomTop"/>
</p:tagLst>
</file>

<file path=ppt/tags/tag5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decdd12d5fe74cc792f8fbce3fb5524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74a59e0e76a48689f6cdd75e4fe0051"/>
  <p:tag name="KSO_WM_SLIDE_BACKGROUND_TYPE" val="navigation"/>
</p:tagLst>
</file>

<file path=ppt/tags/tag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a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2.xml><?xml version="1.0" encoding="utf-8"?>
<p:tagLst xmlns:p="http://schemas.openxmlformats.org/presentationml/2006/main">
  <p:tag name="KSO_WM_SLIDE_BACKGROUND_TYPE" val="navigation"/>
</p:tagLst>
</file>

<file path=ppt/tags/tag53.xml><?xml version="1.0" encoding="utf-8"?>
<p:tagLst xmlns:p="http://schemas.openxmlformats.org/presentationml/2006/main">
  <p:tag name="KSO_WM_SLIDE_BACKGROUND_TYPE" val="navigation"/>
</p:tagLst>
</file>

<file path=ppt/tags/tag54.xml><?xml version="1.0" encoding="utf-8"?>
<p:tagLst xmlns:p="http://schemas.openxmlformats.org/presentationml/2006/main">
  <p:tag name="KSO_WM_SLIDE_BACKGROUND_TYPE" val="navigation"/>
</p:tagLst>
</file>

<file path=ppt/tags/tag55.xml><?xml version="1.0" encoding="utf-8"?>
<p:tagLst xmlns:p="http://schemas.openxmlformats.org/presentationml/2006/main">
  <p:tag name="KSO_WM_SLIDE_BACKGROUND_TYPE" val="navigation"/>
</p:tagLst>
</file>

<file path=ppt/tags/tag56.xml><?xml version="1.0" encoding="utf-8"?>
<p:tagLst xmlns:p="http://schemas.openxmlformats.org/presentationml/2006/main">
  <p:tag name="KSO_WM_SLIDE_BACKGROUND_TYPE" val="navigation"/>
</p:tagLst>
</file>

<file path=ppt/tags/tag57.xml><?xml version="1.0" encoding="utf-8"?>
<p:tagLst xmlns:p="http://schemas.openxmlformats.org/presentationml/2006/main">
  <p:tag name="KSO_WM_SLIDE_BACKGROUND_TYPE" val="navigation"/>
</p:tagLst>
</file>

<file path=ppt/tags/tag58.xml><?xml version="1.0" encoding="utf-8"?>
<p:tagLst xmlns:p="http://schemas.openxmlformats.org/presentationml/2006/main">
  <p:tag name="KSO_WM_SLIDE_BACKGROUND_TYPE" val="navigation"/>
</p:tagLst>
</file>

<file path=ppt/tags/tag59.xml><?xml version="1.0" encoding="utf-8"?>
<p:tagLst xmlns:p="http://schemas.openxmlformats.org/presentationml/2006/main">
  <p:tag name="KSO_WM_SLIDE_BACKGROUND_TYPE" val="navigation"/>
</p:tagLst>
</file>

<file path=ppt/tags/tag6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5609d34b6ef14c798e798dcaed47869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b98b2d0a2304f5e88a2f209fdec2b25"/>
  <p:tag name="KSO_WM_SLIDE_BACKGROUND_TYPE" val="belt"/>
</p:tagLst>
</file>

<file path=ppt/tags/tag6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b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.xml><?xml version="1.0" encoding="utf-8"?>
<p:tagLst xmlns:p="http://schemas.openxmlformats.org/presentationml/2006/main">
  <p:tag name="KSO_WM_SLIDE_BACKGROUND_TYPE" val="belt"/>
</p:tagLst>
</file>

<file path=ppt/tags/tag63.xml><?xml version="1.0" encoding="utf-8"?>
<p:tagLst xmlns:p="http://schemas.openxmlformats.org/presentationml/2006/main">
  <p:tag name="KSO_WM_SLIDE_BACKGROUND_TYPE" val="belt"/>
</p:tagLst>
</file>

<file path=ppt/tags/tag64.xml><?xml version="1.0" encoding="utf-8"?>
<p:tagLst xmlns:p="http://schemas.openxmlformats.org/presentationml/2006/main">
  <p:tag name="KSO_WM_SLIDE_BACKGROUND_TYPE" val="belt"/>
</p:tagLst>
</file>

<file path=ppt/tags/tag65.xml><?xml version="1.0" encoding="utf-8"?>
<p:tagLst xmlns:p="http://schemas.openxmlformats.org/presentationml/2006/main">
  <p:tag name="KSO_WM_SLIDE_BACKGROUND_TYPE" val="belt"/>
</p:tagLst>
</file>

<file path=ppt/tags/tag66.xml><?xml version="1.0" encoding="utf-8"?>
<p:tagLst xmlns:p="http://schemas.openxmlformats.org/presentationml/2006/main">
  <p:tag name="KSO_WM_SLIDE_BACKGROUND_TYPE" val="belt"/>
</p:tagLst>
</file>

<file path=ppt/tags/tag67.xml><?xml version="1.0" encoding="utf-8"?>
<p:tagLst xmlns:p="http://schemas.openxmlformats.org/presentationml/2006/main">
  <p:tag name="KSO_WM_TEMPLATE_CATEGORY" val="custom"/>
  <p:tag name="KSO_WM_TEMPLATE_INDEX" val="20221188"/>
</p:tagLst>
</file>

<file path=ppt/tags/tag68.xml><?xml version="1.0" encoding="utf-8"?>
<p:tagLst xmlns:p="http://schemas.openxmlformats.org/presentationml/2006/main">
  <p:tag name="KSO_WM_TEMPLATE_CATEGORY" val="custom"/>
  <p:tag name="KSO_WM_TEMPLATE_INDEX" val="20221188"/>
</p:tagLst>
</file>

<file path=ppt/tags/tag6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1188"/>
  <p:tag name="KSO_WM_CHIP_COLORING" val="2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RAINPROBLEM" val="ProblemItem"/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RAINPROBLEM" val="ProblemItem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3.xml><?xml version="1.0" encoding="utf-8"?>
<p:tagLst xmlns:p="http://schemas.openxmlformats.org/presentationml/2006/main">
  <p:tag name="KSO_DOCER_TEMPLATE_OPEN_ONCE_MARK" val="1"/>
  <p:tag name="COMMONDATA" val="eyJoZGlkIjoiYjNmMWNjZTMxN2RmNGI0NzA5ZmNmZDdkYTA5YmZlYmMifQ=="/>
  <p:tag name="KSO_WPP_MARK_KEY" val="cc1af89b-826e-4d8d-a823-0abe48655e9c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4A5F7F"/>
      </a:accent1>
      <a:accent2>
        <a:srgbClr val="565B7E"/>
      </a:accent2>
      <a:accent3>
        <a:srgbClr val="63567A"/>
      </a:accent3>
      <a:accent4>
        <a:srgbClr val="6E5173"/>
      </a:accent4>
      <a:accent5>
        <a:srgbClr val="774D69"/>
      </a:accent5>
      <a:accent6>
        <a:srgbClr val="7E495E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1401</Words>
  <Application>WPS 演示</Application>
  <PresentationFormat>宽屏</PresentationFormat>
  <Paragraphs>115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汉仪君黑-35W</vt:lpstr>
      <vt:lpstr>黑体</vt:lpstr>
      <vt:lpstr>汉仪趣黑简</vt:lpstr>
      <vt:lpstr>优设标题黑</vt:lpstr>
      <vt:lpstr>微软雅黑</vt:lpstr>
      <vt:lpstr>Monotype Sorts</vt:lpstr>
      <vt:lpstr>Wingdings</vt:lpstr>
      <vt:lpstr>Arial Unicode MS</vt:lpstr>
      <vt:lpstr>Calibri</vt:lpstr>
      <vt:lpstr>Office 主题</vt:lpstr>
      <vt:lpstr>1_Office 主题​​</vt:lpstr>
      <vt:lpstr>MOV指令的特点是（）。</vt:lpstr>
      <vt:lpstr>已知SP=2110H,AX=1234H,执行PUSH  AX后，AX寄存器的值是  （）。</vt:lpstr>
      <vt:lpstr>已知SP=2110H,AX=1234H,执行指令POP AX后，SP的值为（ ）。</vt:lpstr>
      <vt:lpstr>执行“DIV BX”指令后，（  ）寄存器中存放结果。</vt:lpstr>
      <vt:lpstr>已知AX=0001H，下列四条指令执行后，不能使ZF=1的语句是（）。</vt:lpstr>
      <vt:lpstr>PowerPoint 演示文稿</vt:lpstr>
      <vt:lpstr>如果AL=85H，CL=4，执行“SAR AL,CL”后， AL= ?   CF=?     </vt:lpstr>
      <vt:lpstr>已知AL= -16,下面指令执行后，使AL= -8的指令是（）。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何晓冰</dc:creator>
  <cp:lastModifiedBy>蔻蔻</cp:lastModifiedBy>
  <cp:revision>36</cp:revision>
  <dcterms:created xsi:type="dcterms:W3CDTF">2022-06-08T08:21:00Z</dcterms:created>
  <dcterms:modified xsi:type="dcterms:W3CDTF">2023-05-14T13:26:28Z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F3D6058552E64B8293C768533EF63BBB</vt:lpwstr>
  </property>
  <property fmtid="{D5CDD505-2E9C-101B-9397-08002B2CF9AE}" pid="3" name="KSOProductBuildVer">
    <vt:lpwstr>2052-11.1.0.14309</vt:lpwstr>
  </property>
</Properties>
</file>