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6"/>
  </p:notesMasterIdLst>
  <p:sldIdLst>
    <p:sldId id="257" r:id="rId4"/>
    <p:sldId id="258" r:id="rId5"/>
    <p:sldId id="259" r:id="rId6"/>
    <p:sldId id="260" r:id="rId7"/>
    <p:sldId id="262" r:id="rId8"/>
    <p:sldId id="263" r:id="rId9"/>
    <p:sldId id="266" r:id="rId10"/>
    <p:sldId id="268" r:id="rId11"/>
    <p:sldId id="274" r:id="rId12"/>
    <p:sldId id="279" r:id="rId13"/>
    <p:sldId id="280" r:id="rId14"/>
    <p:sldId id="285" r:id="rId15"/>
    <p:sldId id="270" r:id="rId17"/>
    <p:sldId id="271" r:id="rId18"/>
    <p:sldId id="267" r:id="rId19"/>
    <p:sldId id="273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93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5.xml"/><Relationship Id="rId3" Type="http://schemas.openxmlformats.org/officeDocument/2006/relationships/image" Target="../media/image3.jpe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image" Target="../media/image5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2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.jpeg"/><Relationship Id="rId2" Type="http://schemas.openxmlformats.org/officeDocument/2006/relationships/tags" Target="../tags/tag26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.jpeg"/><Relationship Id="rId2" Type="http://schemas.openxmlformats.org/officeDocument/2006/relationships/tags" Target="../tags/tag34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.jpeg"/><Relationship Id="rId2" Type="http://schemas.openxmlformats.org/officeDocument/2006/relationships/tags" Target="../tags/tag42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.jpeg"/><Relationship Id="rId2" Type="http://schemas.openxmlformats.org/officeDocument/2006/relationships/tags" Target="../tags/tag5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2.jpe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2618125" y="2147362"/>
            <a:ext cx="6997903" cy="1190625"/>
          </a:xfrm>
        </p:spPr>
        <p:txBody>
          <a:bodyPr vert="horz" wrap="square" lIns="101600" tIns="38100" rIns="762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88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500" b="0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70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09474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, 形状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4"/>
            </p:custDataLst>
          </p:nvPr>
        </p:nvSpPr>
        <p:spPr>
          <a:xfrm>
            <a:off x="5452181" y="2454057"/>
            <a:ext cx="4728775" cy="1324610"/>
          </a:xfrm>
          <a:ln w="3175">
            <a:noFill/>
            <a:miter lim="400000"/>
          </a:ln>
        </p:spPr>
        <p:txBody>
          <a:bodyPr vert="horz" wrap="square" lIns="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0" i="0" u="none" strike="noStrike" kern="1200" cap="none" spc="24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优设标题黑" panose="00000500000000000000" charset="-122"/>
                <a:sym typeface="优设标题黑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/>
          <p:nvPr>
            <p:ph type="title" idx="1" hasCustomPrompt="1"/>
            <p:custDataLst>
              <p:tags r:id="rId4"/>
            </p:custDataLst>
          </p:nvPr>
        </p:nvSpPr>
        <p:spPr>
          <a:xfrm>
            <a:off x="1987550" y="2405702"/>
            <a:ext cx="8216900" cy="1156970"/>
          </a:xfrm>
          <a:noFill/>
          <a:ln>
            <a:noFill/>
          </a:ln>
        </p:spPr>
        <p:txBody>
          <a:bodyPr vert="horz" wrap="square" lIns="101600" tIns="38100" rIns="635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1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3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4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8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6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7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2.xml"/><Relationship Id="rId3" Type="http://schemas.openxmlformats.org/officeDocument/2006/relationships/image" Target="../media/image12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/>
          <p:nvPr>
            <p:ph type="ctrTitle"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dk1"/>
                </a:solidFill>
              </a:rPr>
              <a:t>期末</a:t>
            </a:r>
            <a:r>
              <a:rPr lang="zh-CN" altLang="en-US">
                <a:solidFill>
                  <a:schemeClr val="dk1"/>
                </a:solidFill>
              </a:rPr>
              <a:t>复习</a:t>
            </a:r>
            <a:endParaRPr lang="zh-CN" altLang="en-US">
              <a:solidFill>
                <a:schemeClr val="dk1"/>
              </a:solidFill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693833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3"/>
            </p:custDataLst>
          </p:nvPr>
        </p:nvCxnSpPr>
        <p:spPr>
          <a:xfrm>
            <a:off x="8137346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103"/>
          <p:cNvSpPr txBox="1"/>
          <p:nvPr>
            <p:custDataLst>
              <p:tags r:id="rId4"/>
            </p:custDataLst>
          </p:nvPr>
        </p:nvSpPr>
        <p:spPr>
          <a:xfrm>
            <a:off x="4163715" y="3574207"/>
            <a:ext cx="3906088" cy="343878"/>
          </a:xfrm>
          <a:prstGeom prst="rect">
            <a:avLst/>
          </a:prstGeom>
        </p:spPr>
        <p:txBody>
          <a:bodyPr vert="horz" wrap="square" bIns="0" rtlCol="0" anchor="ctr" anchorCtr="0">
            <a:normAutofit/>
          </a:bodyPr>
          <a:p>
            <a:pPr algn="ctr">
              <a:lnSpc>
                <a:spcPct val="88000"/>
              </a:lnSpc>
            </a:pPr>
            <a:r>
              <a:rPr lang="en-US" altLang="zh-CN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2022-2023</a:t>
            </a:r>
            <a:r>
              <a:rPr lang="zh-CN" altLang="en-US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学年</a:t>
            </a:r>
            <a:r>
              <a:rPr lang="zh-CN" altLang="en-US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第二学期</a:t>
            </a:r>
            <a:endParaRPr lang="zh-CN" altLang="en-US" sz="2000" spc="100" dirty="0">
              <a:solidFill>
                <a:schemeClr val="dk1"/>
              </a:solidFill>
              <a:latin typeface="Arial" panose="020B0604020202020204" pitchFamily="34" charset="0"/>
              <a:ea typeface="汉仪君黑-35W" panose="0002060004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95634"/>
            <a:ext cx="10852237" cy="441964"/>
          </a:xfrm>
        </p:spPr>
        <p:txBody>
          <a:bodyPr/>
          <a:p>
            <a:r>
              <a:rPr lang="zh-CN" altLang="en-US"/>
              <a:t>最终成绩</a:t>
            </a:r>
            <a:r>
              <a:rPr lang="zh-CN" altLang="en-US"/>
              <a:t>构成</a:t>
            </a:r>
            <a:endParaRPr lang="zh-CN" altLang="en-US"/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669925" y="1210945"/>
            <a:ext cx="10852150" cy="3248660"/>
          </a:xfrm>
        </p:spPr>
        <p:txBody>
          <a:bodyPr/>
          <a:p>
            <a:r>
              <a:rPr lang="zh-CN" altLang="en-US"/>
              <a:t>综合成绩：</a:t>
            </a:r>
            <a:endParaRPr lang="zh-CN" altLang="en-US"/>
          </a:p>
          <a:p>
            <a:pPr lvl="2"/>
            <a:r>
              <a:rPr lang="zh-CN" altLang="en-US"/>
              <a:t>平时（</a:t>
            </a:r>
            <a:r>
              <a:rPr lang="en-US" altLang="zh-CN"/>
              <a:t>50%</a:t>
            </a:r>
            <a:r>
              <a:t>）</a:t>
            </a:r>
            <a:r>
              <a:rPr lang="en-US" altLang="zh-CN"/>
              <a:t>+</a:t>
            </a:r>
            <a:r>
              <a:t>期末试卷（</a:t>
            </a:r>
            <a:r>
              <a:rPr lang="en-US" altLang="zh-CN"/>
              <a:t>50%</a:t>
            </a:r>
            <a:r>
              <a:t>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平时成绩：</a:t>
            </a:r>
            <a:endParaRPr lang="zh-CN" altLang="en-US">
              <a:solidFill>
                <a:schemeClr val="tx1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课堂表现（</a:t>
            </a:r>
            <a:r>
              <a:rPr lang="en-US" altLang="zh-CN">
                <a:solidFill>
                  <a:schemeClr val="tx1"/>
                </a:solidFill>
              </a:rPr>
              <a:t>10%</a:t>
            </a:r>
            <a:r>
              <a:rPr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>
                <a:solidFill>
                  <a:schemeClr val="tx1"/>
                </a:solidFill>
              </a:rPr>
              <a:t>实验报告</a:t>
            </a:r>
            <a:r>
              <a:rPr>
                <a:sym typeface="+mn-ea"/>
              </a:rPr>
              <a:t>（</a:t>
            </a:r>
            <a:r>
              <a:rPr lang="en-US" altLang="zh-CN">
                <a:sym typeface="+mn-ea"/>
              </a:rPr>
              <a:t>50%</a:t>
            </a:r>
            <a:r>
              <a:rPr>
                <a:sym typeface="+mn-ea"/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>
                <a:solidFill>
                  <a:schemeClr val="tx1"/>
                </a:solidFill>
              </a:rPr>
              <a:t>雨课堂作业</a:t>
            </a:r>
            <a:r>
              <a:rPr>
                <a:sym typeface="+mn-ea"/>
              </a:rPr>
              <a:t>（</a:t>
            </a:r>
            <a:r>
              <a:rPr lang="en-US" altLang="zh-CN">
                <a:sym typeface="+mn-ea"/>
              </a:rPr>
              <a:t>30%</a:t>
            </a:r>
            <a:r>
              <a:rPr>
                <a:sym typeface="+mn-ea"/>
              </a:rPr>
              <a:t>）</a:t>
            </a:r>
            <a:r>
              <a:rPr lang="en-US" altLang="zh-CN">
                <a:sym typeface="+mn-ea"/>
              </a:rPr>
              <a:t>+</a:t>
            </a:r>
            <a:r>
              <a:rPr>
                <a:sym typeface="+mn-ea"/>
              </a:rPr>
              <a:t>线上视频观看（</a:t>
            </a:r>
            <a:r>
              <a:rPr lang="en-US" altLang="zh-CN">
                <a:sym typeface="+mn-ea"/>
              </a:rPr>
              <a:t>10%</a:t>
            </a:r>
            <a:r>
              <a:rPr>
                <a:sym typeface="+mn-ea"/>
              </a:rPr>
              <a:t>）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期末试卷</a:t>
            </a:r>
            <a:r>
              <a:rPr lang="zh-CN" altLang="en-US"/>
              <a:t>题型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单选题：</a:t>
            </a:r>
            <a:r>
              <a:rPr lang="en-US" altLang="zh-CN"/>
              <a:t>15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  <a:endParaRPr lang="en-US" altLang="zh-CN"/>
          </a:p>
          <a:p>
            <a:r>
              <a:t>判断题：</a:t>
            </a:r>
            <a:r>
              <a:rPr lang="en-US" altLang="zh-CN"/>
              <a:t>10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</a:p>
          <a:p>
            <a:r>
              <a:t>填空题：</a:t>
            </a:r>
            <a:r>
              <a:rPr lang="en-US" altLang="zh-CN"/>
              <a:t>10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</a:p>
          <a:p>
            <a:r>
              <a:t>简答题：</a:t>
            </a:r>
            <a:r>
              <a:rPr lang="en-US" altLang="zh-CN"/>
              <a:t>5</a:t>
            </a:r>
            <a:r>
              <a:t>×</a:t>
            </a:r>
            <a:r>
              <a:rPr lang="en-US" altLang="zh-CN"/>
              <a:t>5</a:t>
            </a:r>
            <a:r>
              <a:t>分</a:t>
            </a:r>
          </a:p>
          <a:p>
            <a:r>
              <a:t>综合题：</a:t>
            </a:r>
            <a:r>
              <a:rPr lang="en-US" altLang="zh-CN"/>
              <a:t>5</a:t>
            </a:r>
            <a:r>
              <a:t>×</a:t>
            </a:r>
            <a:r>
              <a:rPr lang="en-US" altLang="zh-CN"/>
              <a:t>8</a:t>
            </a:r>
            <a:r>
              <a:t>分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1236325" cy="5388610"/>
          </a:xfrm>
        </p:spPr>
        <p:txBody>
          <a:bodyPr>
            <a:normAutofit/>
          </a:bodyPr>
          <a:p>
            <a:r>
              <a:rPr lang="zh-CN" altLang="en-US"/>
              <a:t>冯·诺依曼型计算机的设计思想是什么？</a:t>
            </a:r>
            <a:r>
              <a:rPr lang="en-US" altLang="zh-CN"/>
              <a:t>P2</a:t>
            </a:r>
            <a:endParaRPr lang="zh-CN" altLang="en-US"/>
          </a:p>
          <a:p>
            <a:r>
              <a:rPr lang="zh-CN" altLang="en-US"/>
              <a:t>简述什么是存储程序工作方式？</a:t>
            </a:r>
            <a:r>
              <a:rPr lang="en-US" altLang="zh-CN"/>
              <a:t>P3</a:t>
            </a:r>
            <a:endParaRPr lang="zh-CN" altLang="en-US"/>
          </a:p>
          <a:p>
            <a:r>
              <a:rPr lang="zh-CN" altLang="en-US"/>
              <a:t>计算机硬件系统包括哪些部分？</a:t>
            </a:r>
            <a:r>
              <a:rPr lang="en-US" altLang="zh-CN"/>
              <a:t>P6-8</a:t>
            </a:r>
            <a:endParaRPr lang="zh-CN" altLang="en-US"/>
          </a:p>
          <a:p>
            <a:r>
              <a:rPr>
                <a:sym typeface="+mn-ea"/>
              </a:rPr>
              <a:t>例举4种衡量计算机性能的基本指标，并简要说明。</a:t>
            </a:r>
            <a:r>
              <a:rPr lang="en-US" altLang="zh-CN">
                <a:sym typeface="+mn-ea"/>
              </a:rPr>
              <a:t>P19</a:t>
            </a:r>
            <a:endParaRPr lang="zh-CN" altLang="en-US"/>
          </a:p>
          <a:p>
            <a:r>
              <a:rPr lang="zh-CN" altLang="en-US">
                <a:sym typeface="+mn-ea"/>
              </a:rPr>
              <a:t>提高单</a:t>
            </a:r>
            <a:r>
              <a:rPr lang="en-US" altLang="zh-CN">
                <a:sym typeface="+mn-ea"/>
              </a:rPr>
              <a:t>CPU</a:t>
            </a:r>
            <a:r>
              <a:rPr>
                <a:sym typeface="+mn-ea"/>
              </a:rPr>
              <a:t>计算机性能的主要技术有哪些？</a:t>
            </a:r>
            <a:r>
              <a:rPr lang="en-US" altLang="zh-CN">
                <a:sym typeface="+mn-ea"/>
              </a:rPr>
              <a:t>P23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请简述进入 FT 的条件</a:t>
            </a:r>
            <a:r>
              <a:rPr>
                <a:sym typeface="+mn-ea"/>
              </a:rPr>
              <a:t>是什么？</a:t>
            </a:r>
            <a:r>
              <a:rPr lang="en-US" altLang="zh-CN">
                <a:sym typeface="+mn-ea"/>
              </a:rPr>
              <a:t>，则其逻辑条件表达式是什么？</a:t>
            </a:r>
            <a:r>
              <a:rPr>
                <a:sym typeface="+mn-ea"/>
              </a:rPr>
              <a:t>（</a:t>
            </a:r>
            <a:r>
              <a:rPr lang="en-US" altLang="zh-CN">
                <a:sym typeface="+mn-ea"/>
              </a:rPr>
              <a:t>P95</a:t>
            </a:r>
            <a:r>
              <a:rPr>
                <a:sym typeface="+mn-ea"/>
              </a:rPr>
              <a:t>）</a:t>
            </a:r>
            <a:endParaRPr>
              <a:sym typeface="+mn-ea"/>
            </a:endParaRPr>
          </a:p>
          <a:p>
            <a:endParaRPr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633095" y="875665"/>
            <a:ext cx="18713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r>
              <a:rPr>
                <a:sym typeface="+mn-ea"/>
              </a:rPr>
              <a:t>简答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88010" y="1280795"/>
            <a:ext cx="10852150" cy="516572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00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000">
                <a:sym typeface="+mn-ea"/>
              </a:rPr>
              <a:t>什么是组合逻辑控制器？什么是微程序控制器？试比较它们的优缺点。</a:t>
            </a:r>
            <a:r>
              <a:rPr lang="en-US" altLang="zh-CN" sz="3000">
                <a:sym typeface="+mn-ea"/>
              </a:rPr>
              <a:t>P89.P101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计算机的控制器根据产生控制信号方式的不同，可分为组合逻辑控制器和微程序控制器。组合逻辑控制器由组合逻辑线路（逻辑门电路）产生控制信号，微程序控制器由微程序产生的控制信号。相较于微程序控制器，组合逻辑控制器速度较快，但是设计效率低、检查调试复杂、修改扩展困难</a:t>
            </a:r>
            <a:endParaRPr sz="3000">
              <a:sym typeface="+mn-ea"/>
            </a:endParaRPr>
          </a:p>
          <a:p>
            <a:r>
              <a:rPr sz="3000">
                <a:sym typeface="+mn-ea"/>
              </a:rPr>
              <a:t>实模式</a:t>
            </a:r>
            <a:r>
              <a:rPr lang="en-US" altLang="zh-CN" sz="3000">
                <a:sym typeface="+mn-ea"/>
              </a:rPr>
              <a:t>下逻辑地址</a:t>
            </a:r>
            <a:r>
              <a:rPr sz="3000">
                <a:sym typeface="+mn-ea"/>
              </a:rPr>
              <a:t>分别</a:t>
            </a:r>
            <a:r>
              <a:rPr lang="en-US" altLang="zh-CN" sz="3000">
                <a:sym typeface="+mn-ea"/>
              </a:rPr>
              <a:t>由哪</a:t>
            </a:r>
            <a:r>
              <a:rPr sz="3000">
                <a:sym typeface="+mn-ea"/>
              </a:rPr>
              <a:t>两部分组成，并简述过程（</a:t>
            </a:r>
            <a:r>
              <a:rPr lang="en-US" altLang="zh-CN" sz="3000">
                <a:sym typeface="+mn-ea"/>
              </a:rPr>
              <a:t>P131</a:t>
            </a:r>
            <a:r>
              <a:rPr sz="3000">
                <a:sym typeface="+mn-ea"/>
              </a:rPr>
              <a:t>）</a:t>
            </a:r>
            <a:endParaRPr lang="en-US" altLang="zh-CN" sz="3000">
              <a:sym typeface="+mn-ea"/>
            </a:endParaRPr>
          </a:p>
          <a:p>
            <a:r>
              <a:rPr sz="3000">
                <a:sym typeface="+mn-ea"/>
              </a:rPr>
              <a:t>简述</a:t>
            </a:r>
            <a:r>
              <a:rPr lang="en-US" altLang="zh-CN" sz="3000">
                <a:sym typeface="+mn-ea"/>
              </a:rPr>
              <a:t>80X86</a:t>
            </a:r>
            <a:r>
              <a:rPr sz="3000">
                <a:sym typeface="+mn-ea"/>
              </a:rPr>
              <a:t>的寻址方式有哪些？（</a:t>
            </a:r>
            <a:r>
              <a:rPr lang="en-US" altLang="zh-CN" sz="3000">
                <a:sym typeface="+mn-ea"/>
              </a:rPr>
              <a:t>P141-147</a:t>
            </a:r>
            <a:r>
              <a:rPr sz="3000">
                <a:sym typeface="+mn-ea"/>
              </a:rPr>
              <a:t>）</a:t>
            </a:r>
            <a:endParaRPr sz="3000">
              <a:sym typeface="+mn-ea"/>
            </a:endParaRPr>
          </a:p>
          <a:p>
            <a:endParaRPr lang="en-US" altLang="zh-CN" sz="30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570230"/>
            <a:ext cx="1409065" cy="441960"/>
          </a:xfrm>
        </p:spPr>
        <p:txBody>
          <a:bodyPr/>
          <a:p>
            <a:r>
              <a:rPr>
                <a:sym typeface="+mn-ea"/>
              </a:rPr>
              <a:t>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0852150" cy="2971165"/>
          </a:xfrm>
        </p:spPr>
        <p:txBody>
          <a:bodyPr>
            <a:noAutofit/>
          </a:bodyPr>
          <a:p>
            <a:r>
              <a:rPr lang="en-US" altLang="zh-CN" sz="2700">
                <a:sym typeface="+mn-ea"/>
              </a:rPr>
              <a:t>80</a:t>
            </a:r>
            <a:r>
              <a:rPr sz="2700">
                <a:sym typeface="+mn-ea"/>
              </a:rPr>
              <a:t>×</a:t>
            </a:r>
            <a:r>
              <a:rPr lang="en-US" altLang="zh-CN" sz="2700">
                <a:sym typeface="+mn-ea"/>
              </a:rPr>
              <a:t>86CPU</a:t>
            </a:r>
            <a:r>
              <a:rPr sz="2700">
                <a:sym typeface="+mn-ea"/>
              </a:rPr>
              <a:t>基本结构寄存器组包括哪些寄存器，各有什么用途？（</a:t>
            </a:r>
            <a:r>
              <a:rPr lang="en-US" altLang="zh-CN" sz="2700">
                <a:sym typeface="+mn-ea"/>
              </a:rPr>
              <a:t>P126</a:t>
            </a:r>
            <a:r>
              <a:rPr sz="2700">
                <a:sym typeface="+mn-ea"/>
              </a:rPr>
              <a:t>）</a:t>
            </a:r>
            <a:endParaRPr lang="en-US" altLang="zh-CN" sz="2700">
              <a:sym typeface="+mn-ea"/>
            </a:endParaRPr>
          </a:p>
          <a:p>
            <a:r>
              <a:rPr sz="2700">
                <a:sym typeface="+mn-ea"/>
              </a:rPr>
              <a:t>C</a:t>
            </a:r>
            <a:r>
              <a:rPr lang="en-US" altLang="zh-CN" sz="2700">
                <a:sym typeface="+mn-ea"/>
              </a:rPr>
              <a:t>ache</a:t>
            </a:r>
            <a:r>
              <a:rPr sz="2700">
                <a:sym typeface="+mn-ea"/>
              </a:rPr>
              <a:t>有哪3种基本映像方式，分别是什么？各自的主要特点是什么？（</a:t>
            </a:r>
            <a:r>
              <a:rPr lang="en-US" altLang="zh-CN" sz="2700">
                <a:sym typeface="+mn-ea"/>
              </a:rPr>
              <a:t>P277</a:t>
            </a:r>
            <a:r>
              <a:rPr sz="2700">
                <a:sym typeface="+mn-ea"/>
              </a:rPr>
              <a:t>）</a:t>
            </a:r>
            <a:endParaRPr lang="en-US" altLang="zh-CN" sz="2700">
              <a:sym typeface="+mn-ea"/>
            </a:endParaRPr>
          </a:p>
          <a:p>
            <a:r>
              <a:rPr sz="2700">
                <a:sym typeface="+mn-ea"/>
              </a:rPr>
              <a:t>简述中断和</a:t>
            </a:r>
            <a:r>
              <a:rPr lang="en-US" altLang="zh-CN" sz="2700">
                <a:sym typeface="+mn-ea"/>
              </a:rPr>
              <a:t>DMA</a:t>
            </a:r>
            <a:r>
              <a:rPr sz="2700">
                <a:sym typeface="+mn-ea"/>
              </a:rPr>
              <a:t>模式的过程。（</a:t>
            </a:r>
            <a:r>
              <a:rPr lang="en-US" altLang="zh-CN" sz="2700">
                <a:sym typeface="+mn-ea"/>
              </a:rPr>
              <a:t>P321</a:t>
            </a:r>
            <a:r>
              <a:rPr sz="2700">
                <a:sym typeface="+mn-ea"/>
              </a:rPr>
              <a:t>、</a:t>
            </a:r>
            <a:r>
              <a:rPr lang="en-US" altLang="zh-CN" sz="2700">
                <a:sym typeface="+mn-ea"/>
              </a:rPr>
              <a:t>336</a:t>
            </a:r>
            <a:r>
              <a:rPr sz="2700">
                <a:sym typeface="+mn-ea"/>
              </a:rPr>
              <a:t>）</a:t>
            </a:r>
            <a:endParaRPr lang="en-US" altLang="zh-CN" sz="2700"/>
          </a:p>
          <a:p>
            <a:endParaRPr lang="en-US" alt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综合</a:t>
            </a:r>
            <a:r>
              <a:rPr lang="zh-CN" altLang="en-US"/>
              <a:t>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浮点数的表示方式，类似书</a:t>
            </a:r>
            <a:r>
              <a:rPr lang="en-US" altLang="zh-CN"/>
              <a:t>P38</a:t>
            </a:r>
            <a:r>
              <a:t>例题</a:t>
            </a:r>
            <a:r>
              <a:rPr lang="en-US" altLang="zh-CN"/>
              <a:t>2-19</a:t>
            </a:r>
            <a:endParaRPr lang="zh-CN" altLang="en-US"/>
          </a:p>
          <a:p>
            <a:r>
              <a:rPr lang="zh-CN" altLang="en-US"/>
              <a:t>进制转换，</a:t>
            </a:r>
            <a:r>
              <a:rPr lang="zh-CN" altLang="en-US"/>
              <a:t>原码，补码加减法，判断溢出及</a:t>
            </a:r>
            <a:r>
              <a:rPr lang="zh-CN" altLang="en-US"/>
              <a:t>标志位</a:t>
            </a:r>
            <a:endParaRPr lang="zh-CN" altLang="en-US"/>
          </a:p>
          <a:p>
            <a:r>
              <a:t>指令的读取与执行流程</a:t>
            </a:r>
            <a:r>
              <a:rPr lang="en-US" altLang="zh-CN"/>
              <a:t>FT</a:t>
            </a:r>
            <a:r>
              <a:t>，</a:t>
            </a:r>
            <a:r>
              <a:rPr lang="en-US" altLang="zh-CN"/>
              <a:t>ST</a:t>
            </a:r>
            <a:r>
              <a:t>，</a:t>
            </a:r>
            <a:r>
              <a:rPr lang="en-US" altLang="zh-CN"/>
              <a:t>DT</a:t>
            </a:r>
            <a:r>
              <a:t>，</a:t>
            </a:r>
            <a:r>
              <a:rPr lang="en-US" altLang="zh-CN"/>
              <a:t>ET</a:t>
            </a:r>
            <a:r>
              <a:t>，类似于课后题</a:t>
            </a:r>
            <a:r>
              <a:rPr lang="en-US" altLang="zh-CN"/>
              <a:t>3-12</a:t>
            </a:r>
            <a:r>
              <a:t>，</a:t>
            </a:r>
            <a:r>
              <a:rPr lang="en-US" altLang="zh-CN"/>
              <a:t>3-13</a:t>
            </a:r>
            <a:endParaRPr lang="en-US" altLang="zh-CN"/>
          </a:p>
          <a:p>
            <a:r>
              <a:t>寻址方式与指令的结合，类似于</a:t>
            </a:r>
            <a:r>
              <a:rPr>
                <a:sym typeface="+mn-ea"/>
              </a:rPr>
              <a:t>书课后题</a:t>
            </a:r>
            <a:r>
              <a:rPr lang="en-US" altLang="zh-CN"/>
              <a:t>4-15</a:t>
            </a:r>
            <a:r>
              <a:t>，</a:t>
            </a:r>
            <a:r>
              <a:rPr lang="en-US" altLang="zh-CN"/>
              <a:t>4-19</a:t>
            </a:r>
            <a:r>
              <a:t>等</a:t>
            </a:r>
          </a:p>
          <a:p>
            <a:r>
              <a:t>汇编程序填空或结果，类似于</a:t>
            </a:r>
            <a:r>
              <a:rPr>
                <a:sym typeface="+mn-ea"/>
              </a:rPr>
              <a:t>书课后题</a:t>
            </a:r>
            <a:r>
              <a:rPr lang="en-US" altLang="zh-CN"/>
              <a:t>5-16</a:t>
            </a:r>
            <a:r>
              <a:t>，</a:t>
            </a:r>
            <a:r>
              <a:rPr lang="en-US" altLang="zh-CN"/>
              <a:t>5-17</a:t>
            </a:r>
            <a:r>
              <a:t>、</a:t>
            </a:r>
            <a:r>
              <a:rPr lang="en-US" altLang="zh-CN"/>
              <a:t>5-18</a:t>
            </a:r>
            <a:r>
              <a:t>等</a:t>
            </a:r>
          </a:p>
          <a:p>
            <a:r>
              <a:t>存储容量的扩展，类似例题</a:t>
            </a:r>
            <a:r>
              <a:rPr lang="en-US" altLang="zh-CN"/>
              <a:t>6-1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7560" y="626745"/>
            <a:ext cx="1002474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1.已知机器字长8位，有两个十进制X=71，Y=59，请用补码运算求X+Y的结果，分析判断是否发生溢出，并写出标志寄存器中CF、ZF、SF、OF的值。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=0100 0111,Y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=0011 1011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X+Y=1000 0010，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溢出；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CF=0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（最高位没有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进位）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（结果不等于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结果最高位是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两个正数相加为负数，溢出；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最高位和次高位，一个有进位，一个没有，溢出；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变形补码，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，结果正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99530" y="1702435"/>
            <a:ext cx="2885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00 1000111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00 0111011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--------------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01 0000010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58495"/>
            <a:ext cx="10852150" cy="5824855"/>
          </a:xfrm>
        </p:spPr>
        <p:txBody>
          <a:bodyPr>
            <a:normAutofit fontScale="40000"/>
          </a:bodyPr>
          <a:p>
            <a:pPr marL="0" indent="0"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2.写出下列指令在模型机上的读取和执行流程，并指出该指令中源操作数的寻址方式分别是什么？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（1）MOV (R0)+, R1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FT0   PC—&gt;MAR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FT1   M—&gt;MDR—&gt;IR, PC+1—&gt;PC  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ST0   R1—&gt;C                     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DT0   R0—&gt;MAR                 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DT1   R0+1—&gt;Z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DT2   Z—&gt;R0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ET0   C—&gt;MDR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ET1   MDR—&gt;M       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（2）INC  -(R2)</a:t>
            </a:r>
            <a:endParaRPr lang="en-US" altLang="zh-CN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000"/>
              <a:t>    </a:t>
            </a:r>
            <a:r>
              <a:rPr lang="zh-CN" altLang="en-US"/>
              <a:t>     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4-15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091DH，（SS）=1E4AH，（AX）=1234H，（BX）=0024H，（CX）=5678H，（BP）=0024H，（SI）=0012H，（DI）=0032H，（09226H）=00F6H，（09228H）=1E40H，（1E4E6H）=091DH。请分别给出下列各指令或程序段的执行结果。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（1）MOV CL,20H[BX][SI]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[BP][DI],CX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）LEA BX,20H[BX][SI]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MOV AX,2[BX]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5587365" y="641350"/>
            <a:ext cx="5050155" cy="72618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4-19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（SI）=12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H，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12464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30AB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12484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H）=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464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H，有以下程序段：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LEA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[SI] 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MOV AX,[BX]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[SI+22H]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0H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LDS SI,[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SI+20H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 AX,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[SI]</a:t>
            </a:r>
            <a:endParaRPr lang="en-US" altLang="zh-CN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上述程序段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执行后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AX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   </a:t>
            </a:r>
            <a:r>
              <a:rPr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6950" y="1527175"/>
            <a:ext cx="8340090" cy="43757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/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  <a:endParaRPr lang="zh-CN" altLang="en-US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761" y="1095954"/>
            <a:ext cx="111676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DATA SEGMENT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填空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DA1 DB 12H,34H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DA2 DB 56H,78H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ADDR DW DA1,DA2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为使</a:t>
            </a:r>
            <a:r>
              <a:rPr lang="en-US" altLang="zh-CN" sz="2400" dirty="0"/>
              <a:t>ADDR+2</a:t>
            </a:r>
            <a:r>
              <a:rPr lang="zh-CN" altLang="en-US" sz="2400" dirty="0"/>
              <a:t>字存储单元中存放的内容为</a:t>
            </a:r>
            <a:r>
              <a:rPr lang="en-US" altLang="zh-CN" sz="2400" dirty="0"/>
              <a:t>0022H</a:t>
            </a:r>
            <a:r>
              <a:rPr lang="zh-CN" altLang="en-US" sz="2400" dirty="0"/>
              <a:t>，</a:t>
            </a:r>
            <a:r>
              <a:rPr lang="zh-CN" sz="2400" dirty="0"/>
              <a:t>试用</a:t>
            </a:r>
            <a:r>
              <a:rPr lang="en-US" altLang="zh-CN" sz="2400" dirty="0"/>
              <a:t>2</a:t>
            </a:r>
            <a:r>
              <a:rPr lang="zh-CN" altLang="en-US" sz="2400" dirty="0"/>
              <a:t>种不同的语句填写上面的空格。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/>
          </a:blip>
          <a:srcRect t="21464"/>
          <a:stretch>
            <a:fillRect/>
          </a:stretch>
        </p:blipFill>
        <p:spPr>
          <a:xfrm>
            <a:off x="2470785" y="5006975"/>
            <a:ext cx="6991985" cy="1819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lum bright="12000"/>
          </a:blip>
          <a:stretch>
            <a:fillRect/>
          </a:stretch>
        </p:blipFill>
        <p:spPr>
          <a:xfrm>
            <a:off x="4788535" y="221615"/>
            <a:ext cx="7053580" cy="41484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79785" y="1996440"/>
            <a:ext cx="749300" cy="6915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>
              <a:lnSpc>
                <a:spcPct val="110000"/>
              </a:lnSpc>
            </a:pPr>
            <a:r>
              <a:rPr lang="en-US" altLang="zh-CN"/>
              <a:t>001E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zh-CN"/>
              <a:t>001F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01345"/>
            <a:ext cx="10852150" cy="588200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P248 5-12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DA4 EQU WORD PTR DA5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DA5 DB    0ABH,89H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...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SHR DA4,1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 MOV DX,DA4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 SHL DA5,1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        MOV CX,DA4</a:t>
            </a:r>
            <a:endParaRPr lang="en-US" altLang="zh-CN"/>
          </a:p>
          <a:p>
            <a:pPr marL="0" indent="0">
              <a:buNone/>
            </a:pPr>
            <a:r>
              <a:rPr>
                <a:sym typeface="+mn-ea"/>
              </a:rPr>
              <a:t>程序段运行后，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CX</a:t>
            </a:r>
            <a:r>
              <a:rPr>
                <a:sym typeface="+mn-ea"/>
              </a:rPr>
              <a:t>和</a:t>
            </a:r>
            <a:r>
              <a:rPr lang="en-US" altLang="zh-CN">
                <a:sym typeface="+mn-ea"/>
              </a:rPr>
              <a:t>DX</a:t>
            </a:r>
            <a:r>
              <a:rPr>
                <a:sym typeface="+mn-ea"/>
              </a:rPr>
              <a:t>中的内容分别是什么</a:t>
            </a:r>
            <a:endParaRPr>
              <a:sym typeface="+mn-ea"/>
            </a:endParaRPr>
          </a:p>
          <a:p>
            <a:pPr marL="0" indent="0">
              <a:buNone/>
            </a:pP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640715"/>
            <a:ext cx="7062470" cy="53771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64845"/>
            <a:ext cx="10852150" cy="5970905"/>
          </a:xfrm>
        </p:spPr>
        <p:txBody>
          <a:bodyPr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AA1       DB     10H   DUP（2）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AA2      DW     10H   DUP（0304H）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┇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XOR       BX ，BX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XOR       AL ，AL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XOR       CX ，CX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BB1：      ADD       AL ，AA1 [BX]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ADD       AL ，BYTE  PTR  AA2 [BX]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INC        BX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LOOP     BB1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上述程序段运行期间，当执行完INC 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 BX指令且（BX）=05H 时，</a:t>
            </a:r>
            <a:endParaRPr lang="zh-CN" altLang="en-US" sz="190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1900"/>
              <a:t>CX和AL中的内容分别是什么？</a:t>
            </a:r>
            <a:endParaRPr lang="zh-CN" altLang="en-US" sz="19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1615" y="351155"/>
            <a:ext cx="6852285" cy="5462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课后题</a:t>
            </a:r>
            <a:r>
              <a:rPr lang="en-US" altLang="zh-CN"/>
              <a:t>6-3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0852150" cy="1680210"/>
          </a:xfrm>
        </p:spPr>
        <p:txBody>
          <a:bodyPr>
            <a:normAutofit lnSpcReduction="20000"/>
          </a:bodyPr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某半导体存储容量为15K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，其中固化区8K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，选用EPROM芯片为4K×8位/片；随机读写区7K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，可选SRAM芯片有4K×4位/片、2K×4位/片、1K×4位/片。地址总线A15～A0（低），双向数据总线D7～D0（低），R/W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控制读写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。请设计并画出该存储器逻辑图，注明地址分配、片选逻辑式及片选信号。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45465" y="2528570"/>
            <a:ext cx="111010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152400"/>
            <a:r>
              <a:rPr lang="zh-CN" sz="2000" b="0">
                <a:ea typeface="宋体" panose="02010600030101010101" pitchFamily="2" charset="-122"/>
              </a:rPr>
              <a:t>答：计算芯片数 </a:t>
            </a:r>
            <a:r>
              <a:rPr lang="en-US" sz="2000" b="0">
                <a:latin typeface="Times New Roman" panose="02020603050405020304" charset="0"/>
              </a:rPr>
              <a:t> EPROM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4K×8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EPROM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r>
              <a:rPr lang="en-US" sz="2000" b="0">
                <a:latin typeface="Times New Roman" panose="02020603050405020304" charset="0"/>
              </a:rPr>
              <a:t>SRAM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2K×4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1K×4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片。</a:t>
            </a:r>
            <a:endParaRPr lang="zh-CN" sz="2000" b="0">
              <a:ea typeface="宋体" panose="02010600030101010101" pitchFamily="2" charset="-122"/>
            </a:endParaRPr>
          </a:p>
          <a:p>
            <a:pPr indent="152400"/>
            <a:r>
              <a:rPr lang="zh-CN" sz="2000" b="0">
                <a:ea typeface="宋体" panose="02010600030101010101" pitchFamily="2" charset="-122"/>
              </a:rPr>
              <a:t>地址分配： </a:t>
            </a:r>
            <a:r>
              <a:rPr lang="en-US" sz="2000" b="0">
                <a:latin typeface="Times New Roman" panose="02020603050405020304" charset="0"/>
              </a:rPr>
              <a:t> 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216275" y="3114675"/>
          <a:ext cx="7009130" cy="314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/>
                <a:gridCol w="438150"/>
                <a:gridCol w="436245"/>
                <a:gridCol w="438785"/>
                <a:gridCol w="437515"/>
                <a:gridCol w="439420"/>
                <a:gridCol w="438150"/>
                <a:gridCol w="436245"/>
                <a:gridCol w="438785"/>
                <a:gridCol w="438150"/>
                <a:gridCol w="439420"/>
                <a:gridCol w="437515"/>
                <a:gridCol w="436245"/>
                <a:gridCol w="438785"/>
                <a:gridCol w="438150"/>
                <a:gridCol w="438785"/>
              </a:tblGrid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X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02627" y="662305"/>
          <a:ext cx="2014538" cy="195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6475"/>
                <a:gridCol w="1008063"/>
              </a:tblGrid>
              <a:tr h="279400">
                <a:tc gridSpan="2">
                  <a:txBody>
                    <a:bodyPr/>
                    <a:p>
                      <a:pPr indent="0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 grid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692525" y="49276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2000" b="0">
                <a:ea typeface="宋体" panose="02010600030101010101" pitchFamily="2" charset="-122"/>
              </a:rPr>
              <a:t>片选逻辑：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450205" y="592455"/>
          <a:ext cx="5575300" cy="225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7460"/>
                <a:gridCol w="1267460"/>
                <a:gridCol w="1266825"/>
                <a:gridCol w="1773555"/>
              </a:tblGrid>
              <a:tr h="374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 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芯片容量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芯片地址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片选信号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片选逻辑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</a:t>
                      </a:r>
                      <a:r>
                        <a:rPr lang="en-US" altLang="zh-CN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2^12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）</a:t>
                      </a:r>
                      <a:endParaRPr lang="zh-CN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CS0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CS1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CS2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CS3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A9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CS4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A13A12A11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96900" y="3159125"/>
            <a:ext cx="15868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000" b="0">
                <a:ea typeface="宋体" panose="02010600030101010101" pitchFamily="2" charset="-122"/>
              </a:rPr>
              <a:t>逻辑框图：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2086610" y="2918460"/>
            <a:ext cx="8471535" cy="39033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1*i*1"/>
  <p:tag name="KSO_WM_BEAUTIFY_FLAG" val="#wm#"/>
  <p:tag name="KSO_WM_TAG_VERSION" val="1.0"/>
  <p:tag name="KSO_WM_CHIP_GROUPID" val="61b07d62eadd3e7cad1c9f69"/>
  <p:tag name="KSO_WM_CHIP_XID" val="61b201608aab5289f067a9e5"/>
  <p:tag name="KSO_WM_UNIT_DEC_AREA_ID" val="fa4fbd77b2bf4711b924b16abb4633c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9fa6c582b6746239d9b33c0534c6416"/>
</p:tagLst>
</file>

<file path=ppt/tags/tag2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  <p:tag name="KSO_WM_TEMPLATE_ASSEMBLE_XID" val="61b954c27d221a2e4b612911"/>
  <p:tag name="KSO_WM_TEMPLATE_ASSEMBLE_GROUPID" val="61b07d62eadd3e7cad1c9f69"/>
</p:tagLst>
</file>

<file path=ppt/tags/tag3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5*i*1"/>
  <p:tag name="KSO_WM_BEAUTIFY_FLAG" val="#wm#"/>
  <p:tag name="KSO_WM_TAG_VERSION" val="1.0"/>
  <p:tag name="KSO_WM_CHIP_GROUPID" val="61b07d62eadd3e7cad1c9f69"/>
  <p:tag name="KSO_WM_CHIP_XID" val="61b201608aab5289f067a9e3"/>
  <p:tag name="KSO_WM_UNIT_DEC_AREA_ID" val="9072ad4634bf41c498d853dd9b01224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074d8dda694467197f4e6d67e8021eb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BLOCK" val="0"/>
  <p:tag name="KSO_WM_UNIT_DEC_AREA_ID" val="b23f4b3f41a347c6a6ac134e5c2d0e5e"/>
  <p:tag name="KSO_WM_UNIT_DEFAULT_FONT" val="60;72;2"/>
  <p:tag name="KSO_WM_CHIP_GROUPID" val="612ee0258ebfb23103c99f75"/>
  <p:tag name="KSO_WM_CHIP_XID" val="612ee0258ebfb23103c99f76"/>
  <p:tag name="KSO_WM_CHIP_FILLAREA_FILL_RULE" val="{&quot;fill_align&quot;:&quot;cm&quot;,&quot;fill_mode&quot;:&quot;adaptive&quot;,&quot;sacle_strategy&quot;:&quot;smart&quot;}"/>
  <p:tag name="KSO_WM_ASSEMBLE_CHIP_INDEX" val="acd17be412594f46a66c4c89ecab2aa8"/>
  <p:tag name="KSO_WM_UNIT_TEXT_FILL_FORE_SCHEMECOLOR_INDEX_BRIGHTNESS" val="0.15"/>
  <p:tag name="KSO_WM_UNIT_TEXT_FILL_FORE_SCHEMECOLOR_INDEX" val="13"/>
  <p:tag name="KSO_WM_UNIT_TEXT_FILL_TYPE" val="1"/>
  <p:tag name="KSO_WM_TEMPLATE_ASSEMBLE_XID" val="61b954c27d221a2e4b6128e0"/>
  <p:tag name="KSO_WM_TEMPLATE_ASSEMBLE_GROUPID" val="61b07d62eadd3e7cad1c9f69"/>
</p:tagLst>
</file>

<file path=ppt/tags/tag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8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3*i*1"/>
  <p:tag name="KSO_WM_BEAUTIFY_FLAG" val="#wm#"/>
  <p:tag name="KSO_WM_TAG_VERSION" val="1.0"/>
  <p:tag name="KSO_WM_CHIP_GROUPID" val="61b07d62eadd3e7cad1c9f69"/>
  <p:tag name="KSO_WM_CHIP_XID" val="61b201608aab5289f067a9e1"/>
  <p:tag name="KSO_WM_UNIT_DEC_AREA_ID" val="fc7701a86b5241d6bb00326da49eb26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abef9f865640339c3450f82b1494e5"/>
</p:tagLst>
</file>

<file path=ppt/tags/tag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201608aab5289f067a9e2"/>
  <p:tag name="KSO_WM_UNIT_DEC_AREA_ID" val="eb9d21a448df4852b4ae31a722e2dc1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4f790088024231b26ebb5b21353ab9"/>
</p:tagLst>
</file>

<file path=ppt/tags/tag13.xml><?xml version="1.0" encoding="utf-8"?>
<p:tagLst xmlns:p="http://schemas.openxmlformats.org/presentationml/2006/main">
  <p:tag name="KSO_WM_UNIT_BLOCK" val="0"/>
  <p:tag name="KSO_WM_UNIT_DEC_AREA_ID" val="f5f22a9eac5042d7b89a4db80b4b4776"/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DEFAULT_FONT" val="66;72;2"/>
  <p:tag name="KSO_WM_CHIP_GROUPID" val="614314e91e630cfd8f11395a"/>
  <p:tag name="KSO_WM_CHIP_XID" val="614314e91e630cfd8f11395b"/>
  <p:tag name="KSO_WM_CHIP_FILLAREA_FILL_RULE" val="{&quot;fill_align&quot;:&quot;cm&quot;,&quot;fill_mode&quot;:&quot;adaptive&quot;,&quot;sacle_strategy&quot;:&quot;smart&quot;}"/>
  <p:tag name="KSO_WM_ASSEMBLE_CHIP_INDEX" val="89c39db8efe94c03b3c326dd1747cce2"/>
  <p:tag name="KSO_WM_UNIT_TEXT_FILL_FORE_SCHEMECOLOR_INDEX_BRIGHTNESS" val="0"/>
  <p:tag name="KSO_WM_UNIT_TEXT_FILL_FORE_SCHEMECOLOR_INDEX" val="13"/>
  <p:tag name="KSO_WM_UNIT_TEXT_FILL_TYPE" val="1"/>
  <p:tag name="KSO_WM_TEMPLATE_ASSEMBLE_XID" val="61b954c2c9524cd5e8bdfb55"/>
  <p:tag name="KSO_WM_TEMPLATE_ASSEMBLE_GROUPID" val="61b07d62eadd3e7cad1c9f69"/>
</p:tagLst>
</file>

<file path=ppt/tags/tag1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  <p:tag name="KSO_WM_SLIDE_BACKGROUND_TYPE" val="general"/>
</p:tagLst>
</file>

<file path=ppt/tags/tag15.xml><?xml version="1.0" encoding="utf-8"?>
<p:tagLst xmlns:p="http://schemas.openxmlformats.org/presentationml/2006/main">
  <p:tag name="KSO_WM_SLIDE_BACKGROUND_TYPE" val="general"/>
</p:tagLst>
</file>

<file path=ppt/tags/tag16.xml><?xml version="1.0" encoding="utf-8"?>
<p:tagLst xmlns:p="http://schemas.openxmlformats.org/presentationml/2006/main">
  <p:tag name="KSO_WM_SLIDE_BACKGROUND_TYPE" val="general"/>
</p:tagLst>
</file>

<file path=ppt/tags/tag17.xml><?xml version="1.0" encoding="utf-8"?>
<p:tagLst xmlns:p="http://schemas.openxmlformats.org/presentationml/2006/main">
  <p:tag name="KSO_WM_SLIDE_BACKGROUND_TYPE" val="general"/>
</p:tagLst>
</file>

<file path=ppt/tags/tag18.xml><?xml version="1.0" encoding="utf-8"?>
<p:tagLst xmlns:p="http://schemas.openxmlformats.org/presentationml/2006/main">
  <p:tag name="KSO_WM_SLIDE_BACKGROUND_TYPE" val="general"/>
</p:tagLst>
</file>

<file path=ppt/tags/tag1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336d489ff8354fde8fd9db8536a8589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63913b9d508446e95426d501bd36f65"/>
  <p:tag name="KSO_WM_SLIDE_BACKGROUND_TYPE" val="frame"/>
</p:tagLst>
</file>

<file path=ppt/tags/tag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p="http://schemas.openxmlformats.org/presentationml/2006/main">
  <p:tag name="KSO_WM_SLIDE_BACKGROUND_TYPE" val="frame"/>
</p:tagLst>
</file>

<file path=ppt/tags/tag22.xml><?xml version="1.0" encoding="utf-8"?>
<p:tagLst xmlns:p="http://schemas.openxmlformats.org/presentationml/2006/main">
  <p:tag name="KSO_WM_SLIDE_BACKGROUND_TYPE" val="frame"/>
</p:tagLst>
</file>

<file path=ppt/tags/tag23.xml><?xml version="1.0" encoding="utf-8"?>
<p:tagLst xmlns:p="http://schemas.openxmlformats.org/presentationml/2006/main">
  <p:tag name="KSO_WM_SLIDE_BACKGROUND_TYPE" val="frame"/>
</p:tagLst>
</file>

<file path=ppt/tags/tag24.xml><?xml version="1.0" encoding="utf-8"?>
<p:tagLst xmlns:p="http://schemas.openxmlformats.org/presentationml/2006/main">
  <p:tag name="KSO_WM_SLIDE_BACKGROUND_TYPE" val="frame"/>
</p:tagLst>
</file>

<file path=ppt/tags/tag25.xml><?xml version="1.0" encoding="utf-8"?>
<p:tagLst xmlns:p="http://schemas.openxmlformats.org/presentationml/2006/main">
  <p:tag name="KSO_WM_SLIDE_BACKGROUND_TYPE" val="frame"/>
</p:tagLst>
</file>

<file path=ppt/tags/tag2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b8ce8db9a4e849518bd74e925f91a08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e5f1dd0a612403d8944f05b213e91fa"/>
  <p:tag name="KSO_WM_SLIDE_BACKGROUND_TYPE" val="leftRight"/>
</p:tagLst>
</file>

<file path=ppt/tags/tag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p="http://schemas.openxmlformats.org/presentationml/2006/main">
  <p:tag name="KSO_WM_SLIDE_BACKGROUND_TYPE" val="leftRight"/>
</p:tagLst>
</file>

<file path=ppt/tags/tag29.xml><?xml version="1.0" encoding="utf-8"?>
<p:tagLst xmlns:p="http://schemas.openxmlformats.org/presentationml/2006/main">
  <p:tag name="KSO_WM_SLIDE_BACKGROUND_TYPE" val="leftRight"/>
</p:tagLst>
</file>

<file path=ppt/tags/tag30.xml><?xml version="1.0" encoding="utf-8"?>
<p:tagLst xmlns:p="http://schemas.openxmlformats.org/presentationml/2006/main">
  <p:tag name="KSO_WM_SLIDE_BACKGROUND_TYPE" val="leftRight"/>
</p:tagLst>
</file>

<file path=ppt/tags/tag31.xml><?xml version="1.0" encoding="utf-8"?>
<p:tagLst xmlns:p="http://schemas.openxmlformats.org/presentationml/2006/main">
  <p:tag name="KSO_WM_SLIDE_BACKGROUND_TYPE" val="leftRight"/>
</p:tagLst>
</file>

<file path=ppt/tags/tag32.xml><?xml version="1.0" encoding="utf-8"?>
<p:tagLst xmlns:p="http://schemas.openxmlformats.org/presentationml/2006/main">
  <p:tag name="KSO_WM_SLIDE_BACKGROUND_TYPE" val="leftRight"/>
</p:tagLst>
</file>

<file path=ppt/tags/tag33.xml><?xml version="1.0" encoding="utf-8"?>
<p:tagLst xmlns:p="http://schemas.openxmlformats.org/presentationml/2006/main">
  <p:tag name="KSO_WM_SLIDE_BACKGROUND_TYPE" val="leftRight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254441f44395496abbb199acc32603f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711a27506084096958fe2b85383011c"/>
  <p:tag name="KSO_WM_SLIDE_BACKGROUND_TYPE" val="topBottom"/>
</p:tagLst>
</file>

<file path=ppt/tags/tag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p="http://schemas.openxmlformats.org/presentationml/2006/main">
  <p:tag name="KSO_WM_SLIDE_BACKGROUND_TYPE" val="topBottom"/>
</p:tagLst>
</file>

<file path=ppt/tags/tag37.xml><?xml version="1.0" encoding="utf-8"?>
<p:tagLst xmlns:p="http://schemas.openxmlformats.org/presentationml/2006/main">
  <p:tag name="KSO_WM_SLIDE_BACKGROUND_TYPE" val="topBottom"/>
</p:tagLst>
</file>

<file path=ppt/tags/tag38.xml><?xml version="1.0" encoding="utf-8"?>
<p:tagLst xmlns:p="http://schemas.openxmlformats.org/presentationml/2006/main">
  <p:tag name="KSO_WM_SLIDE_BACKGROUND_TYPE" val="topBottom"/>
</p:tagLst>
</file>

<file path=ppt/tags/tag39.xml><?xml version="1.0" encoding="utf-8"?>
<p:tagLst xmlns:p="http://schemas.openxmlformats.org/presentationml/2006/main">
  <p:tag name="KSO_WM_SLIDE_BACKGROUND_TYPE" val="topBottom"/>
</p:tagLst>
</file>

<file path=ppt/tags/tag40.xml><?xml version="1.0" encoding="utf-8"?>
<p:tagLst xmlns:p="http://schemas.openxmlformats.org/presentationml/2006/main">
  <p:tag name="KSO_WM_SLIDE_BACKGROUND_TYPE" val="topBottom"/>
</p:tagLst>
</file>

<file path=ppt/tags/tag41.xml><?xml version="1.0" encoding="utf-8"?>
<p:tagLst xmlns:p="http://schemas.openxmlformats.org/presentationml/2006/main">
  <p:tag name="KSO_WM_SLIDE_BACKGROUND_TYPE" val="topBottom"/>
</p:tagLst>
</file>

<file path=ppt/tags/tag4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99e53d5217e47d8bfa9a8b396e1b9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0d5c35b21740209567d9729d26f0b2"/>
  <p:tag name="KSO_WM_SLIDE_BACKGROUND_TYPE" val="bottomTop"/>
</p:tagLst>
</file>

<file path=ppt/tags/tag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.xml><?xml version="1.0" encoding="utf-8"?>
<p:tagLst xmlns:p="http://schemas.openxmlformats.org/presentationml/2006/main">
  <p:tag name="KSO_WM_SLIDE_BACKGROUND_TYPE" val="bottomTop"/>
</p:tagLst>
</file>

<file path=ppt/tags/tag45.xml><?xml version="1.0" encoding="utf-8"?>
<p:tagLst xmlns:p="http://schemas.openxmlformats.org/presentationml/2006/main">
  <p:tag name="KSO_WM_SLIDE_BACKGROUND_TYPE" val="bottomTop"/>
</p:tagLst>
</file>

<file path=ppt/tags/tag46.xml><?xml version="1.0" encoding="utf-8"?>
<p:tagLst xmlns:p="http://schemas.openxmlformats.org/presentationml/2006/main">
  <p:tag name="KSO_WM_SLIDE_BACKGROUND_TYPE" val="bottomTop"/>
</p:tagLst>
</file>

<file path=ppt/tags/tag47.xml><?xml version="1.0" encoding="utf-8"?>
<p:tagLst xmlns:p="http://schemas.openxmlformats.org/presentationml/2006/main">
  <p:tag name="KSO_WM_SLIDE_BACKGROUND_TYPE" val="bottomTop"/>
</p:tagLst>
</file>

<file path=ppt/tags/tag48.xml><?xml version="1.0" encoding="utf-8"?>
<p:tagLst xmlns:p="http://schemas.openxmlformats.org/presentationml/2006/main">
  <p:tag name="KSO_WM_SLIDE_BACKGROUND_TYPE" val="bottomTop"/>
</p:tagLst>
</file>

<file path=ppt/tags/tag49.xml><?xml version="1.0" encoding="utf-8"?>
<p:tagLst xmlns:p="http://schemas.openxmlformats.org/presentationml/2006/main">
  <p:tag name="KSO_WM_SLIDE_BACKGROUND_TYPE" val="bottomTop"/>
</p:tagLst>
</file>

<file path=ppt/tags/tag5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ecdd12d5fe74cc792f8fbce3fb5524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74a59e0e76a48689f6cdd75e4fe0051"/>
  <p:tag name="KSO_WM_SLIDE_BACKGROUND_TYPE" val="navigation"/>
</p:tagLst>
</file>

<file path=ppt/tags/tag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.xml><?xml version="1.0" encoding="utf-8"?>
<p:tagLst xmlns:p="http://schemas.openxmlformats.org/presentationml/2006/main">
  <p:tag name="KSO_WM_SLIDE_BACKGROUND_TYPE" val="navigation"/>
</p:tagLst>
</file>

<file path=ppt/tags/tag53.xml><?xml version="1.0" encoding="utf-8"?>
<p:tagLst xmlns:p="http://schemas.openxmlformats.org/presentationml/2006/main">
  <p:tag name="KSO_WM_SLIDE_BACKGROUND_TYPE" val="navigation"/>
</p:tagLst>
</file>

<file path=ppt/tags/tag54.xml><?xml version="1.0" encoding="utf-8"?>
<p:tagLst xmlns:p="http://schemas.openxmlformats.org/presentationml/2006/main">
  <p:tag name="KSO_WM_SLIDE_BACKGROUND_TYPE" val="navigation"/>
</p:tagLst>
</file>

<file path=ppt/tags/tag55.xml><?xml version="1.0" encoding="utf-8"?>
<p:tagLst xmlns:p="http://schemas.openxmlformats.org/presentationml/2006/main">
  <p:tag name="KSO_WM_SLIDE_BACKGROUND_TYPE" val="navigation"/>
</p:tagLst>
</file>

<file path=ppt/tags/tag56.xml><?xml version="1.0" encoding="utf-8"?>
<p:tagLst xmlns:p="http://schemas.openxmlformats.org/presentationml/2006/main">
  <p:tag name="KSO_WM_SLIDE_BACKGROUND_TYPE" val="navigation"/>
</p:tagLst>
</file>

<file path=ppt/tags/tag57.xml><?xml version="1.0" encoding="utf-8"?>
<p:tagLst xmlns:p="http://schemas.openxmlformats.org/presentationml/2006/main">
  <p:tag name="KSO_WM_SLIDE_BACKGROUND_TYPE" val="navigation"/>
</p:tagLst>
</file>

<file path=ppt/tags/tag58.xml><?xml version="1.0" encoding="utf-8"?>
<p:tagLst xmlns:p="http://schemas.openxmlformats.org/presentationml/2006/main">
  <p:tag name="KSO_WM_SLIDE_BACKGROUND_TYPE" val="navigation"/>
</p:tagLst>
</file>

<file path=ppt/tags/tag59.xml><?xml version="1.0" encoding="utf-8"?>
<p:tagLst xmlns:p="http://schemas.openxmlformats.org/presentationml/2006/main">
  <p:tag name="KSO_WM_SLIDE_BACKGROUND_TYPE" val="navigation"/>
</p:tagLst>
</file>

<file path=ppt/tags/tag6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5609d34b6ef14c798e798dcaed47869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b98b2d0a2304f5e88a2f209fdec2b25"/>
  <p:tag name="KSO_WM_SLIDE_BACKGROUND_TYPE" val="belt"/>
</p:tagLst>
</file>

<file path=ppt/tags/tag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.xml><?xml version="1.0" encoding="utf-8"?>
<p:tagLst xmlns:p="http://schemas.openxmlformats.org/presentationml/2006/main">
  <p:tag name="KSO_WM_SLIDE_BACKGROUND_TYPE" val="belt"/>
</p:tagLst>
</file>

<file path=ppt/tags/tag63.xml><?xml version="1.0" encoding="utf-8"?>
<p:tagLst xmlns:p="http://schemas.openxmlformats.org/presentationml/2006/main">
  <p:tag name="KSO_WM_SLIDE_BACKGROUND_TYPE" val="belt"/>
</p:tagLst>
</file>

<file path=ppt/tags/tag64.xml><?xml version="1.0" encoding="utf-8"?>
<p:tagLst xmlns:p="http://schemas.openxmlformats.org/presentationml/2006/main">
  <p:tag name="KSO_WM_SLIDE_BACKGROUND_TYPE" val="belt"/>
</p:tagLst>
</file>

<file path=ppt/tags/tag65.xml><?xml version="1.0" encoding="utf-8"?>
<p:tagLst xmlns:p="http://schemas.openxmlformats.org/presentationml/2006/main">
  <p:tag name="KSO_WM_SLIDE_BACKGROUND_TYPE" val="belt"/>
</p:tagLst>
</file>

<file path=ppt/tags/tag66.xml><?xml version="1.0" encoding="utf-8"?>
<p:tagLst xmlns:p="http://schemas.openxmlformats.org/presentationml/2006/main">
  <p:tag name="KSO_WM_SLIDE_BACKGROUND_TYPE" val="belt"/>
</p:tagLst>
</file>

<file path=ppt/tags/tag67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8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188"/>
  <p:tag name="KSO_WM_CHIP_COLORING" val="2"/>
</p:tagLst>
</file>

<file path=ppt/tags/tag70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2"/>
  <p:tag name="KSO_WM_UNIT_DEC_AREA_ID" val="4919109d974749eb9ff8ad58c42428eb"/>
  <p:tag name="KSO_WM_UNIT_DECORATE_INFO" val="{&quot;DecorateInfoH&quot;:{&quot;IsAbs&quot;:false},&quot;DecorateInfoW&quot;:{&quot;IsAbs&quot;:false},&quot;DecorateInfoX&quot;:{&quot;IsAbs&quot;:false,&quot;Pos&quot;:2},&quot;DecorateInfoY&quot;:{&quot;IsAbs&quot;:false,&quot;Pos&quot;:1},&quot;ReferentInfo&quot;:{&quot;Id&quot;:&quot;2362748c66cf429b9b633d442677dee3&quot;,&quot;X&quot;:{&quot;Pos&quot;:0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2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2"/>
  <p:tag name="KSO_WM_UNIT_DEC_AREA_ID" val="ef6146ae6eeb48438a87c1becef53436"/>
  <p:tag name="KSO_WM_UNIT_DECORATE_INFO" val="{&quot;DecorateInfoH&quot;:{&quot;IsAbs&quot;:false},&quot;DecorateInfoW&quot;:{&quot;IsAbs&quot;:false},&quot;DecorateInfoX&quot;:{&quot;IsAbs&quot;:false,&quot;Pos&quot;:0},&quot;DecorateInfoY&quot;:{&quot;IsAbs&quot;:false,&quot;Pos&quot;:1},&quot;ReferentInfo&quot;:{&quot;Id&quot;:&quot;2362748c66cf429b9b633d442677dee3&quot;,&quot;X&quot;:{&quot;Pos&quot;:2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f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SUBTYPE" val="a"/>
  <p:tag name="KSO_WM_UNIT_PRESET_TEXT" val="单击此处添加文本具体内容"/>
  <p:tag name="KSO_WM_UNIT_NOCLEAR" val="0"/>
  <p:tag name="KSO_WM_UNIT_VALUE" val="17"/>
  <p:tag name="KSO_WM_UNIT_TYPE" val="f"/>
  <p:tag name="KSO_WM_UNIT_INDEX" val="1"/>
  <p:tag name="KSO_WM_UNIT_BLOCK" val="0"/>
  <p:tag name="KSO_WM_UNIT_DEC_AREA_ID" val="2362748c66cf429b9b633d442677dee3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SLIDE_ID" val="custom2022118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1188"/>
  <p:tag name="KSO_WM_SLIDE_LAYOUT" val="a_f"/>
  <p:tag name="KSO_WM_SLIDE_LAYOUT_CNT" val="1_2"/>
  <p:tag name="KSO_WM_CHIP_INFOS" val="{&quot;type&quot;:0,&quot;layout_type&quot;:&quot;1_NF_C_28&quot;,&quot;layout_feature&quot;:1,&quot;aspect_ratio&quot;:&quot;16:9&quot;,&quot;bg_feature&quot;:&quot;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itle&quot;,&quot;sectionTitle&quot;,&quot;endPage&quot;],&quot;useType&quot;:[&quot;ppt&quot;]}"/>
  <p:tag name="KSO_WM_CHIP_XID" val="618880f404b8904ebc644efc"/>
  <p:tag name="KSO_WM_CHIP_FILLPROP" val="[[{&quot;text_align&quot;:&quot;cm&quot;,&quot;text_direction&quot;:&quot;horizontal&quot;,&quot;support_big_font&quot;:false,&quot;picture_toward&quot;:0,&quot;picture_dockside&quot;:[],&quot;fill_id&quot;:&quot;1128234afb36477d8bcef739186f1162&quot;,&quot;fill_align&quot;:&quot;cm&quot;,&quot;chip_types&quot;:[&quot;header&quot;]}]]"/>
  <p:tag name="KSO_WM_CHIP_DECFILLPROP" val="[]"/>
  <p:tag name="KSO_WM_CHIP_GROUPID" val="618880f404b8904ebc644efe"/>
  <p:tag name="KSO_WM_SLIDE_LAYOUT_INFO" val="{&quot;id&quot;:&quot;2021-12-15T10:36:54&quot;,&quot;margin&quot;:{&quot;bottom&quot;:5.327558994293213,&quot;left&quot;:7.27256965637207,&quot;right&quot;:7.1554765701293945,&quot;top&quot;:5.964893817901611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2"/>
  <p:tag name="KSO_WM_SLIDE_SUBTYPE" val="pureTxt"/>
  <p:tag name="KSO_WM_TEMPLATE_ASSEMBLE_XID" val="61b954c27d221a2e4b612911"/>
  <p:tag name="KSO_WM_TEMPLATE_ASSEMBLE_GROUPID" val="61b07d62eadd3e7cad1c9f69"/>
  <p:tag name="KSO_WM_TEMPLATE_THUMBS_INDEX" val="1、2、3、4、7、40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5.xml><?xml version="1.0" encoding="utf-8"?>
<p:tagLst xmlns:p="http://schemas.openxmlformats.org/presentationml/2006/main">
  <p:tag name="KSO_WM_SPECIAL_SOURCE" val="bdnull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8.xml><?xml version="1.0" encoding="utf-8"?>
<p:tagLst xmlns:p="http://schemas.openxmlformats.org/presentationml/2006/main">
  <p:tag name="KSO_WM_UNIT_TABLE_BEAUTIFY" val="smartTable{fc62c892-7696-442d-918a-a3d9bb962ad8}"/>
  <p:tag name="TABLE_ENDDRAG_ORIGIN_RECT" val="551*246"/>
  <p:tag name="TABLE_ENDDRAG_RECT" val="253*245*551*246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0.xml><?xml version="1.0" encoding="utf-8"?>
<p:tagLst xmlns:p="http://schemas.openxmlformats.org/presentationml/2006/main">
  <p:tag name="KSO_WM_UNIT_TABLE_BEAUTIFY" val="smartTable{466fdf76-8335-4267-8055-bb9c3bc961d4}"/>
</p:tagLst>
</file>

<file path=ppt/tags/tag91.xml><?xml version="1.0" encoding="utf-8"?>
<p:tagLst xmlns:p="http://schemas.openxmlformats.org/presentationml/2006/main">
  <p:tag name="KSO_WM_UNIT_TABLE_BEAUTIFY" val="smartTable{19d155ff-f7d5-482f-adb9-fa82e9d1efa6}"/>
  <p:tag name="TABLE_ENDDRAG_ORIGIN_RECT" val="439*177"/>
  <p:tag name="TABLE_ENDDRAG_RECT" val="429*46*439*177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3.xml><?xml version="1.0" encoding="utf-8"?>
<p:tagLst xmlns:p="http://schemas.openxmlformats.org/presentationml/2006/main">
  <p:tag name="KSO_DOCER_TEMPLATE_OPEN_ONCE_MARK" val="1"/>
  <p:tag name="COMMONDATA" val="eyJoZGlkIjoiYjNmMWNjZTMxN2RmNGI0NzA5ZmNmZDdkYTA5YmZlYmMifQ=="/>
  <p:tag name="KSO_WPP_MARK_KEY" val="878bb638-cf8c-4196-8407-eb0712420233"/>
  <p:tag name="commondata" val="eyJoZGlkIjoiNWY1ZDkzYWNhYmNlNzhiYzUyNmY0NzUyNmFkZjRmYz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4A5F7F"/>
      </a:accent1>
      <a:accent2>
        <a:srgbClr val="565B7E"/>
      </a:accent2>
      <a:accent3>
        <a:srgbClr val="63567A"/>
      </a:accent3>
      <a:accent4>
        <a:srgbClr val="6E5173"/>
      </a:accent4>
      <a:accent5>
        <a:srgbClr val="774D69"/>
      </a:accent5>
      <a:accent6>
        <a:srgbClr val="7E495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3056</Words>
  <Application>WPS 演示</Application>
  <PresentationFormat>宽屏</PresentationFormat>
  <Paragraphs>768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汉仪君黑-35W</vt:lpstr>
      <vt:lpstr>黑体</vt:lpstr>
      <vt:lpstr>汉仪趣黑简</vt:lpstr>
      <vt:lpstr>优设标题黑</vt:lpstr>
      <vt:lpstr>Times New Roman</vt:lpstr>
      <vt:lpstr>微软雅黑</vt:lpstr>
      <vt:lpstr>Arial Unicode MS</vt:lpstr>
      <vt:lpstr>Calibri</vt:lpstr>
      <vt:lpstr>Office 主题</vt:lpstr>
      <vt:lpstr>1_Office 主题​​</vt:lpstr>
      <vt:lpstr>期末复习</vt:lpstr>
      <vt:lpstr>最终成绩构成</vt:lpstr>
      <vt:lpstr>期末试卷题型</vt:lpstr>
      <vt:lpstr>简答</vt:lpstr>
      <vt:lpstr>PowerPoint 演示文稿</vt:lpstr>
      <vt:lpstr>简答</vt:lpstr>
      <vt:lpstr>综合题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课后题6-3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何晓冰</dc:creator>
  <cp:lastModifiedBy>じωve+小布灬</cp:lastModifiedBy>
  <cp:revision>28</cp:revision>
  <dcterms:created xsi:type="dcterms:W3CDTF">2022-06-08T08:21:00Z</dcterms:created>
  <dcterms:modified xsi:type="dcterms:W3CDTF">2024-05-19T15:14:21Z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F3D6058552E64B8293C768533EF63BBB</vt:lpwstr>
  </property>
  <property fmtid="{D5CDD505-2E9C-101B-9397-08002B2CF9AE}" pid="3" name="KSOProductBuildVer">
    <vt:lpwstr>2052-12.1.0.16729</vt:lpwstr>
  </property>
</Properties>
</file>