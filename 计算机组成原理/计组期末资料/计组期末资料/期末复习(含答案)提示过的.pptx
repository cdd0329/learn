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7"/>
  </p:notesMasterIdLst>
  <p:sldIdLst>
    <p:sldId id="257" r:id="rId4"/>
    <p:sldId id="258" r:id="rId5"/>
    <p:sldId id="259" r:id="rId6"/>
    <p:sldId id="260" r:id="rId7"/>
    <p:sldId id="286" r:id="rId8"/>
    <p:sldId id="262" r:id="rId9"/>
    <p:sldId id="287" r:id="rId10"/>
    <p:sldId id="266" r:id="rId11"/>
    <p:sldId id="288" r:id="rId12"/>
    <p:sldId id="268" r:id="rId13"/>
    <p:sldId id="274" r:id="rId14"/>
    <p:sldId id="279" r:id="rId15"/>
    <p:sldId id="285" r:id="rId16"/>
    <p:sldId id="289" r:id="rId18"/>
    <p:sldId id="267" r:id="rId19"/>
    <p:sldId id="273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039" autoAdjust="0"/>
  </p:normalViewPr>
  <p:slideViewPr>
    <p:cSldViewPr snapToGrid="0">
      <p:cViewPr varScale="1">
        <p:scale>
          <a:sx n="84" d="100"/>
          <a:sy n="84" d="100"/>
        </p:scale>
        <p:origin x="7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94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tags" Target="../tags/tag5.xml"/><Relationship Id="rId3" Type="http://schemas.openxmlformats.org/officeDocument/2006/relationships/image" Target="../media/image3.jpeg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image" Target="../media/image5.jpe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2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2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2.jpeg"/><Relationship Id="rId2" Type="http://schemas.openxmlformats.org/officeDocument/2006/relationships/tags" Target="../tags/tag26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2.jpeg"/><Relationship Id="rId2" Type="http://schemas.openxmlformats.org/officeDocument/2006/relationships/tags" Target="../tags/tag34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image" Target="../media/image2.jpeg"/><Relationship Id="rId2" Type="http://schemas.openxmlformats.org/officeDocument/2006/relationships/tags" Target="../tags/tag42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image" Target="../media/image2.jpeg"/><Relationship Id="rId2" Type="http://schemas.openxmlformats.org/officeDocument/2006/relationships/tags" Target="../tags/tag5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image" Target="../media/image2.jpeg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1"/>
          <p:cNvSpPr>
            <a:spLocks noGrp="1"/>
          </p:cNvSpPr>
          <p:nvPr>
            <p:ph type="ctrTitle" idx="1" hasCustomPrompt="1"/>
            <p:custDataLst>
              <p:tags r:id="rId4"/>
            </p:custDataLst>
          </p:nvPr>
        </p:nvSpPr>
        <p:spPr>
          <a:xfrm>
            <a:off x="2618125" y="2147362"/>
            <a:ext cx="6997903" cy="1190625"/>
          </a:xfrm>
        </p:spPr>
        <p:txBody>
          <a:bodyPr vert="horz" wrap="square" lIns="101600" tIns="38100" rIns="762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88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500" b="0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70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2" y="109474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, 形状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" hasCustomPrompt="1"/>
            <p:custDataLst>
              <p:tags r:id="rId4"/>
            </p:custDataLst>
          </p:nvPr>
        </p:nvSpPr>
        <p:spPr>
          <a:xfrm>
            <a:off x="5452181" y="2454057"/>
            <a:ext cx="4728775" cy="1324610"/>
          </a:xfrm>
          <a:ln w="3175">
            <a:noFill/>
            <a:miter lim="400000"/>
          </a:ln>
        </p:spPr>
        <p:txBody>
          <a:bodyPr vert="horz" wrap="square" lIns="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7200" b="0" i="0" u="none" strike="noStrike" kern="1200" cap="none" spc="24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优设标题黑" panose="00000500000000000000" charset="-122"/>
                <a:sym typeface="优设标题黑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示&#10;&#10;低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低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987550" y="2405702"/>
            <a:ext cx="8216900" cy="1156970"/>
          </a:xfrm>
          <a:noFill/>
          <a:ln>
            <a:noFill/>
          </a:ln>
        </p:spPr>
        <p:txBody>
          <a:bodyPr vert="horz" wrap="square" lIns="101600" tIns="38100" rIns="63500" bIns="381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600" b="1" i="0" u="none" strike="noStrike" kern="1200" cap="none" spc="30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文本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2" Type="http://schemas.openxmlformats.org/officeDocument/2006/relationships/theme" Target="../theme/theme2.xml"/><Relationship Id="rId21" Type="http://schemas.openxmlformats.org/officeDocument/2006/relationships/tags" Target="../tags/tag69.xml"/><Relationship Id="rId20" Type="http://schemas.openxmlformats.org/officeDocument/2006/relationships/tags" Target="../tags/tag68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67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5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8.xml"/><Relationship Id="rId3" Type="http://schemas.openxmlformats.org/officeDocument/2006/relationships/tags" Target="../tags/tag8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8.xml"/><Relationship Id="rId2" Type="http://schemas.openxmlformats.org/officeDocument/2006/relationships/tags" Target="../tags/tag87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3.xml"/><Relationship Id="rId4" Type="http://schemas.openxmlformats.org/officeDocument/2006/relationships/image" Target="../media/image10.png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idx="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olidFill>
                  <a:schemeClr val="dk1"/>
                </a:solidFill>
              </a:rPr>
              <a:t>期末复习</a:t>
            </a:r>
            <a:endParaRPr lang="zh-CN" altLang="en-US">
              <a:solidFill>
                <a:schemeClr val="dk1"/>
              </a:solidFill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693833" y="3746499"/>
            <a:ext cx="1403009" cy="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>
            <p:custDataLst>
              <p:tags r:id="rId3"/>
            </p:custDataLst>
          </p:nvPr>
        </p:nvCxnSpPr>
        <p:spPr>
          <a:xfrm>
            <a:off x="8137346" y="3746499"/>
            <a:ext cx="1403009" cy="0"/>
          </a:xfrm>
          <a:prstGeom prst="line">
            <a:avLst/>
          </a:prstGeom>
          <a:ln w="1905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bject 103"/>
          <p:cNvSpPr txBox="1"/>
          <p:nvPr>
            <p:custDataLst>
              <p:tags r:id="rId4"/>
            </p:custDataLst>
          </p:nvPr>
        </p:nvSpPr>
        <p:spPr>
          <a:xfrm>
            <a:off x="4163715" y="3574207"/>
            <a:ext cx="3906088" cy="343878"/>
          </a:xfrm>
          <a:prstGeom prst="rect">
            <a:avLst/>
          </a:prstGeom>
        </p:spPr>
        <p:txBody>
          <a:bodyPr vert="horz" wrap="square" bIns="0" rtlCol="0" anchor="ctr" anchorCtr="0">
            <a:normAutofit/>
          </a:bodyPr>
          <a:lstStyle/>
          <a:p>
            <a:pPr algn="ctr">
              <a:lnSpc>
                <a:spcPct val="88000"/>
              </a:lnSpc>
            </a:pPr>
            <a:r>
              <a:rPr lang="en-US" altLang="zh-CN" sz="2000" spc="100" dirty="0">
                <a:solidFill>
                  <a:schemeClr val="dk1"/>
                </a:solidFill>
                <a:latin typeface="Arial" panose="020B0604020202020204" pitchFamily="34" charset="0"/>
                <a:ea typeface="汉仪君黑-35W" panose="00020600040101010101" charset="-122"/>
              </a:rPr>
              <a:t>2022-2023</a:t>
            </a:r>
            <a:r>
              <a:rPr lang="zh-CN" altLang="en-US" sz="2000" spc="100" dirty="0">
                <a:solidFill>
                  <a:schemeClr val="dk1"/>
                </a:solidFill>
                <a:latin typeface="Arial" panose="020B0604020202020204" pitchFamily="34" charset="0"/>
                <a:ea typeface="汉仪君黑-35W" panose="00020600040101010101" charset="-122"/>
              </a:rPr>
              <a:t>学年第二学期</a:t>
            </a:r>
            <a:endParaRPr lang="zh-CN" altLang="en-US" sz="2000" spc="100" dirty="0">
              <a:solidFill>
                <a:schemeClr val="dk1"/>
              </a:solidFill>
              <a:latin typeface="Arial" panose="020B0604020202020204" pitchFamily="34" charset="0"/>
              <a:ea typeface="汉仪君黑-35W" panose="0002060004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595634"/>
            <a:ext cx="10852237" cy="441964"/>
          </a:xfrm>
        </p:spPr>
        <p:txBody>
          <a:bodyPr/>
          <a:lstStyle/>
          <a:p>
            <a:r>
              <a:rPr lang="zh-CN" altLang="en-US"/>
              <a:t>最终成绩构成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69925" y="1210945"/>
            <a:ext cx="10852150" cy="3248660"/>
          </a:xfrm>
        </p:spPr>
        <p:txBody>
          <a:bodyPr/>
          <a:lstStyle/>
          <a:p>
            <a:r>
              <a:rPr lang="zh-CN" altLang="en-US" dirty="0"/>
              <a:t>理论课：</a:t>
            </a:r>
            <a:endParaRPr lang="zh-CN" altLang="en-US" dirty="0"/>
          </a:p>
          <a:p>
            <a:pPr lvl="2"/>
            <a:r>
              <a:rPr lang="zh-CN" altLang="en-US" dirty="0"/>
              <a:t>平时（</a:t>
            </a:r>
            <a:r>
              <a:rPr lang="en-US" altLang="zh-CN" dirty="0"/>
              <a:t>40%</a:t>
            </a:r>
            <a:r>
              <a:rPr dirty="0"/>
              <a:t>）</a:t>
            </a:r>
            <a:r>
              <a:rPr lang="en-US" altLang="zh-CN" dirty="0"/>
              <a:t>+</a:t>
            </a:r>
            <a:r>
              <a:rPr dirty="0"/>
              <a:t>期末（</a:t>
            </a:r>
            <a:r>
              <a:rPr lang="en-US" altLang="zh-CN" dirty="0"/>
              <a:t>60%</a:t>
            </a:r>
            <a:r>
              <a:rPr dirty="0"/>
              <a:t>）</a:t>
            </a:r>
            <a:endParaRPr dirty="0"/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平时成绩：</a:t>
            </a:r>
            <a:endParaRPr lang="zh-CN" altLang="en-US" dirty="0">
              <a:solidFill>
                <a:schemeClr val="tx1"/>
              </a:solidFill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课堂表现（</a:t>
            </a:r>
            <a:r>
              <a:rPr lang="en-US" altLang="zh-CN" dirty="0">
                <a:solidFill>
                  <a:schemeClr val="tx1"/>
                </a:solidFill>
              </a:rPr>
              <a:t>10%</a:t>
            </a:r>
            <a:r>
              <a:rPr dirty="0">
                <a:solidFill>
                  <a:schemeClr val="tx1"/>
                </a:solidFill>
              </a:rPr>
              <a:t>）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dirty="0">
                <a:solidFill>
                  <a:schemeClr val="tx1"/>
                </a:solidFill>
              </a:rPr>
              <a:t>实验报告</a:t>
            </a:r>
            <a:r>
              <a:rPr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60%</a:t>
            </a:r>
            <a:r>
              <a:rPr dirty="0">
                <a:sym typeface="+mn-ea"/>
              </a:rPr>
              <a:t>）</a:t>
            </a:r>
            <a:r>
              <a:rPr lang="en-US" altLang="zh-CN" dirty="0">
                <a:solidFill>
                  <a:schemeClr val="tx1"/>
                </a:solidFill>
              </a:rPr>
              <a:t>+</a:t>
            </a:r>
            <a:r>
              <a:rPr dirty="0">
                <a:solidFill>
                  <a:schemeClr val="tx1"/>
                </a:solidFill>
              </a:rPr>
              <a:t>雨课堂作业</a:t>
            </a:r>
            <a:r>
              <a:rPr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30%</a:t>
            </a:r>
            <a:r>
              <a:rPr dirty="0">
                <a:sym typeface="+mn-ea"/>
              </a:rPr>
              <a:t>）</a:t>
            </a:r>
            <a:endParaRPr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期末试卷题型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单选题：</a:t>
            </a:r>
            <a:r>
              <a:rPr lang="en-US" altLang="zh-CN"/>
              <a:t>15</a:t>
            </a:r>
            <a:r>
              <a:t>×</a:t>
            </a:r>
            <a:r>
              <a:rPr lang="en-US" altLang="zh-CN"/>
              <a:t>1</a:t>
            </a:r>
            <a:r>
              <a:t>分</a:t>
            </a:r>
            <a:endParaRPr lang="en-US" altLang="zh-CN"/>
          </a:p>
          <a:p>
            <a:r>
              <a:t>判断题：</a:t>
            </a:r>
            <a:r>
              <a:rPr lang="en-US" altLang="zh-CN"/>
              <a:t>10</a:t>
            </a:r>
            <a:r>
              <a:t>×</a:t>
            </a:r>
            <a:r>
              <a:rPr lang="en-US" altLang="zh-CN"/>
              <a:t>1</a:t>
            </a:r>
            <a:r>
              <a:t>分</a:t>
            </a:r>
          </a:p>
          <a:p>
            <a:r>
              <a:t>填空题：</a:t>
            </a:r>
            <a:r>
              <a:rPr lang="en-US" altLang="zh-CN"/>
              <a:t>10</a:t>
            </a:r>
            <a:r>
              <a:t>×</a:t>
            </a:r>
            <a:r>
              <a:rPr lang="en-US" altLang="zh-CN"/>
              <a:t>1</a:t>
            </a:r>
            <a:r>
              <a:t>分</a:t>
            </a:r>
            <a:r>
              <a:t>雨课堂。。</a:t>
            </a:r>
          </a:p>
          <a:p>
            <a:r>
              <a:t>简答题：</a:t>
            </a:r>
            <a:r>
              <a:rPr lang="en-US" altLang="zh-CN"/>
              <a:t>5</a:t>
            </a:r>
            <a:r>
              <a:t>×</a:t>
            </a:r>
            <a:r>
              <a:rPr lang="en-US" altLang="zh-CN"/>
              <a:t>5</a:t>
            </a:r>
            <a:r>
              <a:t>分</a:t>
            </a:r>
          </a:p>
          <a:p>
            <a:r>
              <a:t>综合题：</a:t>
            </a:r>
            <a:r>
              <a:rPr lang="en-US" altLang="zh-CN"/>
              <a:t>5</a:t>
            </a:r>
            <a:r>
              <a:t>×</a:t>
            </a:r>
            <a:r>
              <a:rPr lang="en-US" altLang="zh-CN"/>
              <a:t>8</a:t>
            </a:r>
            <a:r>
              <a:t>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39235" y="13754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1236325" cy="5388610"/>
          </a:xfrm>
        </p:spPr>
        <p:txBody>
          <a:bodyPr>
            <a:normAutofit/>
          </a:bodyPr>
          <a:lstStyle/>
          <a:p>
            <a:r>
              <a:rPr lang="zh-CN" altLang="en-US" dirty="0"/>
              <a:t>冯·诺依曼型计算机的设计思想是什么？</a:t>
            </a:r>
            <a:r>
              <a:rPr lang="en-US" altLang="zh-CN" dirty="0"/>
              <a:t>P2</a:t>
            </a:r>
            <a:r>
              <a:rPr dirty="0"/>
              <a:t>。。。</a:t>
            </a:r>
            <a:endParaRPr lang="zh-CN" altLang="en-US" dirty="0"/>
          </a:p>
          <a:p>
            <a:r>
              <a:rPr lang="zh-CN" altLang="en-US" dirty="0"/>
              <a:t>简述什么是存储程序工作方式？</a:t>
            </a:r>
            <a:r>
              <a:rPr lang="en-US" altLang="zh-CN" dirty="0"/>
              <a:t>P3</a:t>
            </a:r>
            <a:endParaRPr lang="zh-CN" altLang="en-US" dirty="0"/>
          </a:p>
          <a:p>
            <a:r>
              <a:rPr lang="zh-CN" altLang="en-US" dirty="0"/>
              <a:t>计算机硬件系统包括哪些部分？</a:t>
            </a:r>
            <a:r>
              <a:rPr lang="en-US" altLang="zh-CN" dirty="0"/>
              <a:t>P6-8</a:t>
            </a:r>
            <a:endParaRPr lang="zh-CN" altLang="en-US" dirty="0"/>
          </a:p>
          <a:p>
            <a:r>
              <a:rPr lang="zh-CN" altLang="en-US" dirty="0"/>
              <a:t>列</a:t>
            </a:r>
            <a:r>
              <a:rPr dirty="0">
                <a:sym typeface="+mn-ea"/>
              </a:rPr>
              <a:t>举4种衡量计算机性能的基本指标，并简要说明。</a:t>
            </a:r>
            <a:r>
              <a:rPr lang="en-US" altLang="zh-CN" dirty="0">
                <a:sym typeface="+mn-ea"/>
              </a:rPr>
              <a:t>P19</a:t>
            </a:r>
            <a:endParaRPr lang="en-US" altLang="zh-CN" dirty="0">
              <a:sym typeface="+mn-ea"/>
            </a:endParaRPr>
          </a:p>
          <a:p>
            <a:r>
              <a:rPr lang="zh-CN" altLang="en-US" dirty="0"/>
              <a:t>指令中的基本信息有哪些？</a:t>
            </a:r>
            <a:r>
              <a:rPr lang="en-US" altLang="zh-CN" dirty="0"/>
              <a:t>P42</a:t>
            </a:r>
            <a:endParaRPr lang="en-US" altLang="zh-CN" dirty="0"/>
          </a:p>
          <a:p>
            <a:r>
              <a:rPr lang="zh-CN" altLang="en-US" dirty="0"/>
              <a:t>常用的寻址方式。</a:t>
            </a:r>
            <a:r>
              <a:rPr lang="en-US" altLang="zh-CN" dirty="0"/>
              <a:t>P46</a:t>
            </a:r>
            <a:r>
              <a:rPr dirty="0"/>
              <a:t>。。</a:t>
            </a:r>
            <a:r>
              <a:rPr lang="en-US" altLang="zh-CN" dirty="0"/>
              <a:t>..</a:t>
            </a:r>
            <a:r>
              <a:rPr dirty="0"/>
              <a:t>四种以及功能</a:t>
            </a:r>
            <a:r>
              <a:rPr lang="en-US" altLang="zh-CN" dirty="0"/>
              <a:t>(</a:t>
            </a:r>
            <a:r>
              <a:rPr dirty="0"/>
              <a:t>书上有原题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简述指令的执行过程。</a:t>
            </a:r>
            <a:r>
              <a:rPr lang="en-US" altLang="zh-CN" dirty="0"/>
              <a:t>P64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简答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1236325" cy="538861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同步控制方式下的多级时序系统。</a:t>
            </a:r>
            <a:r>
              <a:rPr lang="en-US" altLang="zh-CN" dirty="0"/>
              <a:t>P66</a:t>
            </a:r>
            <a:endParaRPr lang="en-US" altLang="zh-CN" dirty="0"/>
          </a:p>
          <a:p>
            <a:r>
              <a:rPr lang="zh-CN" altLang="en-US" dirty="0"/>
              <a:t>什么是全加器、半加器？</a:t>
            </a:r>
            <a:r>
              <a:rPr lang="en-US" altLang="zh-CN" dirty="0"/>
              <a:t>P70</a:t>
            </a:r>
            <a:endParaRPr lang="en-US" altLang="zh-CN" dirty="0"/>
          </a:p>
          <a:p>
            <a:r>
              <a:rPr lang="zh-CN" altLang="en-US" dirty="0"/>
              <a:t>模型机的工作周期划分及指令流程。</a:t>
            </a:r>
            <a:r>
              <a:rPr lang="en-US" altLang="zh-CN" dirty="0"/>
              <a:t>P94</a:t>
            </a:r>
            <a:endParaRPr lang="zh-CN" altLang="en-US" dirty="0"/>
          </a:p>
          <a:p>
            <a:r>
              <a:rPr lang="en-US" altLang="zh-CN" dirty="0" err="1">
                <a:sym typeface="+mn-ea"/>
              </a:rPr>
              <a:t>请简述进入</a:t>
            </a:r>
            <a:r>
              <a:rPr lang="en-US" altLang="zh-CN" dirty="0">
                <a:sym typeface="+mn-ea"/>
              </a:rPr>
              <a:t> FT </a:t>
            </a:r>
            <a:r>
              <a:rPr lang="en-US" altLang="zh-CN" dirty="0" err="1">
                <a:sym typeface="+mn-ea"/>
              </a:rPr>
              <a:t>的条件</a:t>
            </a:r>
            <a:r>
              <a:rPr dirty="0">
                <a:sym typeface="+mn-ea"/>
              </a:rPr>
              <a:t>是什么？。。。</a:t>
            </a:r>
            <a:r>
              <a:rPr lang="en-US" altLang="zh-CN" dirty="0">
                <a:sym typeface="+mn-ea"/>
              </a:rPr>
              <a:t>则其逻辑条件表达式是什么？P96FT</a:t>
            </a:r>
            <a:r>
              <a:rPr dirty="0">
                <a:sym typeface="+mn-ea"/>
              </a:rPr>
              <a:t>同步？</a:t>
            </a:r>
            <a:endParaRPr lang="en-US" altLang="zh-CN" dirty="0">
              <a:sym typeface="+mn-ea"/>
            </a:endParaRPr>
          </a:p>
          <a:p>
            <a:r>
              <a:rPr lang="zh-CN" altLang="en-US" dirty="0"/>
              <a:t>什么是组合逻辑控制器？什么是微程序控制器？试比较它们的优缺点。</a:t>
            </a:r>
            <a:r>
              <a:rPr lang="en-US" altLang="zh-CN" dirty="0"/>
              <a:t>P89  P101</a:t>
            </a:r>
            <a:endParaRPr lang="en-US" altLang="zh-CN" dirty="0">
              <a:sym typeface="+mn-ea"/>
            </a:endParaRPr>
          </a:p>
          <a:p>
            <a:r>
              <a:rPr lang="zh-CN" altLang="en-US" dirty="0"/>
              <a:t>什么是精简指令集、复杂指令集。</a:t>
            </a:r>
            <a:r>
              <a:rPr lang="en-US" altLang="zh-CN" dirty="0"/>
              <a:t>P109</a:t>
            </a:r>
            <a:endParaRPr lang="en-US" altLang="zh-CN" dirty="0"/>
          </a:p>
          <a:p>
            <a:endParaRPr dirty="0">
              <a:sym typeface="+mn-ea"/>
            </a:endParaRPr>
          </a:p>
          <a:p>
            <a:endParaRPr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588009" y="726809"/>
            <a:ext cx="1871345" cy="44196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r>
              <a:rPr dirty="0">
                <a:sym typeface="+mn-ea"/>
              </a:rPr>
              <a:t>简答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88009" y="1280795"/>
            <a:ext cx="10970895" cy="5165725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00" dirty="0">
                <a:sym typeface="+mn-ea"/>
              </a:rPr>
              <a:t>实模式</a:t>
            </a:r>
            <a:r>
              <a:rPr lang="en-US" altLang="zh-CN" sz="2900" dirty="0" err="1">
                <a:sym typeface="+mn-ea"/>
              </a:rPr>
              <a:t>下逻辑地址</a:t>
            </a:r>
            <a:r>
              <a:rPr sz="2900" dirty="0">
                <a:sym typeface="+mn-ea"/>
              </a:rPr>
              <a:t>分别</a:t>
            </a:r>
            <a:r>
              <a:rPr lang="en-US" altLang="zh-CN" sz="2900" dirty="0" err="1">
                <a:sym typeface="+mn-ea"/>
              </a:rPr>
              <a:t>由哪</a:t>
            </a:r>
            <a:r>
              <a:rPr sz="2900" dirty="0">
                <a:sym typeface="+mn-ea"/>
              </a:rPr>
              <a:t>两部分组成，并简述过程</a:t>
            </a:r>
            <a:r>
              <a:rPr lang="zh-CN" altLang="en-US" sz="2900" dirty="0">
                <a:sym typeface="+mn-ea"/>
              </a:rPr>
              <a:t>  </a:t>
            </a:r>
            <a:r>
              <a:rPr lang="en-US" altLang="zh-CN" sz="2900" dirty="0">
                <a:sym typeface="+mn-ea"/>
              </a:rPr>
              <a:t>P132</a:t>
            </a:r>
            <a:r>
              <a:rPr sz="2900" dirty="0">
                <a:sym typeface="+mn-ea"/>
              </a:rPr>
              <a:t>。。。</a:t>
            </a:r>
            <a:endParaRPr lang="en-US" altLang="zh-CN" sz="2900" dirty="0">
              <a:sym typeface="+mn-ea"/>
            </a:endParaRPr>
          </a:p>
          <a:p>
            <a:r>
              <a:rPr lang="zh-CN" altLang="en-US" sz="2900" dirty="0"/>
              <a:t>保护模式下逻辑地址分别由哪两部分组成，并简述过程  </a:t>
            </a:r>
            <a:r>
              <a:rPr lang="en-US" altLang="zh-CN" sz="2900" dirty="0"/>
              <a:t>P135</a:t>
            </a:r>
            <a:endParaRPr lang="zh-CN" altLang="en-US" sz="2900" dirty="0"/>
          </a:p>
          <a:p>
            <a:r>
              <a:rPr sz="2900" dirty="0">
                <a:sym typeface="+mn-ea"/>
              </a:rPr>
              <a:t>简述</a:t>
            </a:r>
            <a:r>
              <a:rPr lang="en-US" altLang="zh-CN" sz="2900" dirty="0">
                <a:sym typeface="+mn-ea"/>
              </a:rPr>
              <a:t>80X86</a:t>
            </a:r>
            <a:r>
              <a:rPr sz="2900" dirty="0">
                <a:sym typeface="+mn-ea"/>
              </a:rPr>
              <a:t>的寻址方式有哪些？</a:t>
            </a:r>
            <a:r>
              <a:rPr lang="en-US" altLang="zh-CN" sz="2900" dirty="0">
                <a:sym typeface="+mn-ea"/>
              </a:rPr>
              <a:t>...</a:t>
            </a:r>
            <a:r>
              <a:rPr sz="2900" dirty="0">
                <a:sym typeface="+mn-ea"/>
              </a:rPr>
              <a:t>（</a:t>
            </a:r>
            <a:r>
              <a:rPr lang="en-US" altLang="zh-CN" sz="2900" dirty="0">
                <a:sym typeface="+mn-ea"/>
              </a:rPr>
              <a:t>P141-147</a:t>
            </a:r>
            <a:r>
              <a:rPr sz="2900" dirty="0">
                <a:sym typeface="+mn-ea"/>
              </a:rPr>
              <a:t>）</a:t>
            </a:r>
            <a:endParaRPr lang="en-US" altLang="zh-CN" sz="2900" dirty="0">
              <a:sym typeface="+mn-ea"/>
            </a:endParaRPr>
          </a:p>
          <a:p>
            <a:r>
              <a:rPr lang="en-US" altLang="zh-CN" sz="2900" dirty="0"/>
              <a:t>80×86CPU</a:t>
            </a:r>
            <a:r>
              <a:rPr lang="zh-CN" altLang="en-US" sz="2900" dirty="0"/>
              <a:t>基本结构寄存器组包括哪些寄存器，各有什么用途？（</a:t>
            </a:r>
            <a:r>
              <a:rPr lang="en-US" altLang="zh-CN" sz="2900" dirty="0"/>
              <a:t>P126</a:t>
            </a:r>
            <a:r>
              <a:rPr lang="zh-CN" altLang="en-US" sz="2900" dirty="0"/>
              <a:t>）</a:t>
            </a:r>
            <a:endParaRPr lang="zh-CN" altLang="en-US" sz="2900" dirty="0"/>
          </a:p>
          <a:p>
            <a:r>
              <a:rPr lang="zh-CN" altLang="en-US" sz="2900" dirty="0"/>
              <a:t>存储器的分类。</a:t>
            </a:r>
            <a:r>
              <a:rPr lang="en-US" altLang="zh-CN" sz="2900" dirty="0"/>
              <a:t>P254-255</a:t>
            </a:r>
            <a:endParaRPr lang="en-US" altLang="zh-CN" sz="2900" dirty="0"/>
          </a:p>
          <a:p>
            <a:r>
              <a:rPr lang="zh-CN" altLang="en-US" sz="2900" dirty="0"/>
              <a:t>半导体存储器的存储原理。</a:t>
            </a:r>
            <a:r>
              <a:rPr lang="en-US" altLang="zh-CN" sz="2900" dirty="0"/>
              <a:t>P256</a:t>
            </a:r>
            <a:endParaRPr lang="zh-CN" altLang="en-US" sz="2900" dirty="0"/>
          </a:p>
          <a:p>
            <a:endParaRPr sz="3000" dirty="0">
              <a:sym typeface="+mn-ea"/>
            </a:endParaRPr>
          </a:p>
          <a:p>
            <a:endParaRPr lang="en-US" altLang="zh-CN" sz="3000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/>
        </p:nvSpPr>
        <p:spPr>
          <a:xfrm>
            <a:off x="588009" y="726809"/>
            <a:ext cx="1871345" cy="44196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20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rPr>
              <a:t>简答</a:t>
            </a:r>
            <a:endParaRPr kumimoji="0" lang="zh-CN" altLang="en-US" sz="3200" b="1" i="0" u="none" strike="noStrike" kern="1200" cap="none" spc="20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汉仪君黑-35W" panose="00020600040101010101" charset="-122"/>
              <a:cs typeface="+mj-cs"/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588009" y="1280795"/>
            <a:ext cx="10970895" cy="5165725"/>
          </a:xfrm>
          <a:prstGeom prst="rect">
            <a:avLst/>
          </a:prstGeom>
        </p:spPr>
        <p:txBody>
          <a:bodyPr vert="horz" wrap="square" lIns="90170" tIns="46990" rIns="90170" bIns="46990" rtlCol="0">
            <a:normAutofit fontScale="975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Cache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有哪</a:t>
            </a: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3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种基本映像方式，分别是什么？各自的主要特点是什么？（</a:t>
            </a: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P277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）</a:t>
            </a:r>
            <a:endParaRPr kumimoji="0" lang="zh-CN" altLang="en-US" sz="2900" b="0" i="0" u="none" strike="noStrike" kern="1200" cap="none" spc="15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汉仪君黑-35W" panose="00020600040101010101" charset="-122"/>
              <a:cs typeface="+mn-cs"/>
              <a:sym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简述中断和</a:t>
            </a: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DMA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模式的过程。。。。。（</a:t>
            </a: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P321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、</a:t>
            </a:r>
            <a:r>
              <a:rPr kumimoji="0" lang="en-US" altLang="zh-CN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336</a:t>
            </a:r>
            <a:r>
              <a:rPr kumimoji="0" lang="zh-CN" altLang="en-US" sz="2900" b="0" i="0" u="none" strike="noStrike" kern="1200" cap="none" spc="15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rPr>
              <a:t>）</a:t>
            </a:r>
            <a:endParaRPr kumimoji="0" lang="zh-CN" altLang="en-US" sz="2900" b="0" i="0" u="none" strike="noStrike" kern="1200" cap="none" spc="15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汉仪君黑-35W" panose="00020600040101010101" charset="-122"/>
              <a:cs typeface="+mn-cs"/>
              <a:sym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3000" b="0" i="0" u="none" strike="noStrike" kern="1200" cap="none" spc="15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汉仪君黑-35W" panose="00020600040101010101" charset="-122"/>
              <a:cs typeface="+mn-cs"/>
              <a:sym typeface="+mn-ea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3000" b="0" i="0" u="none" strike="noStrike" kern="1200" cap="none" spc="15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汉仪君黑-35W" panose="00020600040101010101" charset="-122"/>
              <a:cs typeface="+mn-cs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综合题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浮点数的表示方式，类似书</a:t>
            </a:r>
            <a:r>
              <a:rPr lang="en-US" altLang="zh-CN" dirty="0"/>
              <a:t>P38</a:t>
            </a:r>
            <a:r>
              <a:rPr dirty="0"/>
              <a:t>例题</a:t>
            </a:r>
            <a:r>
              <a:rPr lang="en-US" altLang="zh-CN" dirty="0"/>
              <a:t>2-20</a:t>
            </a:r>
            <a:r>
              <a:rPr dirty="0"/>
              <a:t>。。。</a:t>
            </a:r>
            <a:endParaRPr lang="zh-CN" altLang="en-US" dirty="0"/>
          </a:p>
          <a:p>
            <a:r>
              <a:rPr lang="zh-CN" altLang="en-US" dirty="0"/>
              <a:t>进制转换，原码，补码加减法，判断溢出及标志位</a:t>
            </a:r>
            <a:endParaRPr lang="zh-CN" altLang="en-US" dirty="0"/>
          </a:p>
          <a:p>
            <a:r>
              <a:rPr dirty="0"/>
              <a:t>指令的读取与执行流程</a:t>
            </a:r>
            <a:r>
              <a:rPr lang="en-US" altLang="zh-CN" dirty="0"/>
              <a:t>FT</a:t>
            </a:r>
            <a:r>
              <a:rPr dirty="0"/>
              <a:t>，</a:t>
            </a:r>
            <a:r>
              <a:rPr lang="en-US" altLang="zh-CN" dirty="0"/>
              <a:t>ST</a:t>
            </a:r>
            <a:r>
              <a:rPr dirty="0"/>
              <a:t>，</a:t>
            </a:r>
            <a:r>
              <a:rPr lang="en-US" altLang="zh-CN" dirty="0"/>
              <a:t>DT</a:t>
            </a:r>
            <a:r>
              <a:rPr dirty="0"/>
              <a:t>，</a:t>
            </a:r>
            <a:r>
              <a:rPr lang="en-US" altLang="zh-CN" dirty="0"/>
              <a:t>ET</a:t>
            </a:r>
            <a:r>
              <a:rPr dirty="0"/>
              <a:t>，类似于课后题</a:t>
            </a:r>
            <a:r>
              <a:rPr lang="en-US" altLang="zh-CN" dirty="0"/>
              <a:t>3-12</a:t>
            </a:r>
            <a:r>
              <a:rPr dirty="0"/>
              <a:t>，</a:t>
            </a:r>
            <a:r>
              <a:rPr lang="en-US" altLang="zh-CN" dirty="0"/>
              <a:t>3-13</a:t>
            </a:r>
            <a:endParaRPr lang="en-US" altLang="zh-CN" dirty="0"/>
          </a:p>
          <a:p>
            <a:r>
              <a:rPr dirty="0"/>
              <a:t>寻址方式与指令的结合，类似于</a:t>
            </a:r>
            <a:r>
              <a:rPr dirty="0">
                <a:sym typeface="+mn-ea"/>
              </a:rPr>
              <a:t>书课后题</a:t>
            </a:r>
            <a:r>
              <a:rPr lang="en-US" altLang="zh-CN" dirty="0"/>
              <a:t>4-15</a:t>
            </a:r>
            <a:r>
              <a:rPr dirty="0"/>
              <a:t>，</a:t>
            </a:r>
            <a:r>
              <a:rPr lang="en-US" altLang="zh-CN" dirty="0"/>
              <a:t>4-19</a:t>
            </a:r>
            <a:r>
              <a:rPr dirty="0"/>
              <a:t>等</a:t>
            </a:r>
            <a:endParaRPr dirty="0"/>
          </a:p>
          <a:p>
            <a:r>
              <a:rPr dirty="0"/>
              <a:t>汇编程序填空或结果，类似于</a:t>
            </a:r>
            <a:r>
              <a:rPr dirty="0">
                <a:sym typeface="+mn-ea"/>
              </a:rPr>
              <a:t>书课后题</a:t>
            </a:r>
            <a:r>
              <a:rPr lang="en-US" altLang="zh-CN" dirty="0"/>
              <a:t>5-1</a:t>
            </a:r>
            <a:r>
              <a:rPr lang="zh-CN" altLang="en-US" dirty="0"/>
              <a:t> ，</a:t>
            </a:r>
            <a:r>
              <a:rPr lang="en-US" altLang="zh-CN" dirty="0"/>
              <a:t>5-16 </a:t>
            </a:r>
            <a:r>
              <a:rPr dirty="0"/>
              <a:t>，</a:t>
            </a:r>
            <a:r>
              <a:rPr lang="en-US" altLang="zh-CN" dirty="0"/>
              <a:t>5-17</a:t>
            </a:r>
            <a:r>
              <a:rPr dirty="0"/>
              <a:t>、</a:t>
            </a:r>
            <a:r>
              <a:rPr lang="en-US" altLang="zh-CN" dirty="0"/>
              <a:t>5-18</a:t>
            </a:r>
            <a:r>
              <a:rPr dirty="0"/>
              <a:t>等</a:t>
            </a:r>
            <a:endParaRPr dirty="0"/>
          </a:p>
          <a:p>
            <a:r>
              <a:rPr dirty="0"/>
              <a:t>存储容量的扩展，类似例题</a:t>
            </a:r>
            <a:r>
              <a:rPr lang="en-US" altLang="zh-CN" dirty="0"/>
              <a:t>6-3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48892" y="876611"/>
            <a:ext cx="10494216" cy="1900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试将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–(0.11)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IEEE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短实数浮点格式表示出来。。。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 flipH="1">
            <a:off x="2687955" y="2459673"/>
            <a:ext cx="381000" cy="3048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80808"/>
              </a:solidFill>
              <a:ea typeface="宋体" panose="02010600030101010101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199255" y="2747010"/>
            <a:ext cx="962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阶码</a:t>
            </a:r>
            <a:endParaRPr kumimoji="1"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975293" y="1738948"/>
            <a:ext cx="5545137" cy="679450"/>
          </a:xfrm>
          <a:prstGeom prst="rect">
            <a:avLst/>
          </a:prstGeom>
          <a:noFill/>
          <a:ln w="38100">
            <a:solidFill>
              <a:srgbClr val="080808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S     </a:t>
            </a: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  <a:sym typeface="Symbol" panose="05050102010706020507" pitchFamily="18" charset="2"/>
              </a:rPr>
              <a:t>         </a:t>
            </a:r>
            <a:r>
              <a: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</a:t>
            </a:r>
            <a:endParaRPr kumimoji="1" lang="en-US" altLang="zh-CN" sz="3600" b="1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3624580" y="1738948"/>
            <a:ext cx="3175" cy="685800"/>
          </a:xfrm>
          <a:prstGeom prst="line">
            <a:avLst/>
          </a:prstGeom>
          <a:noFill/>
          <a:ln w="57150" cmpd="thinThick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4272280" y="1738948"/>
            <a:ext cx="1588" cy="685800"/>
          </a:xfrm>
          <a:prstGeom prst="line">
            <a:avLst/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5351780" y="1738948"/>
            <a:ext cx="1588" cy="685800"/>
          </a:xfrm>
          <a:prstGeom prst="line">
            <a:avLst/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5856605" y="1738948"/>
            <a:ext cx="3175" cy="685800"/>
          </a:xfrm>
          <a:prstGeom prst="line">
            <a:avLst/>
          </a:prstGeom>
          <a:noFill/>
          <a:ln w="57150" cmpd="thinThick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6504305" y="1738948"/>
            <a:ext cx="1588" cy="685800"/>
          </a:xfrm>
          <a:prstGeom prst="line">
            <a:avLst/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>
            <a:off x="7871143" y="1738948"/>
            <a:ext cx="1587" cy="685800"/>
          </a:xfrm>
          <a:prstGeom prst="line">
            <a:avLst/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sp>
        <p:nvSpPr>
          <p:cNvPr id="14" name="AutoShape 13"/>
          <p:cNvSpPr/>
          <p:nvPr/>
        </p:nvSpPr>
        <p:spPr bwMode="auto">
          <a:xfrm rot="16200000">
            <a:off x="4610418" y="1616710"/>
            <a:ext cx="228600" cy="2057400"/>
          </a:xfrm>
          <a:prstGeom prst="leftBrace">
            <a:avLst>
              <a:gd name="adj1" fmla="val 75000"/>
              <a:gd name="adj2" fmla="val 50000"/>
            </a:avLst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AutoShape 14"/>
          <p:cNvSpPr/>
          <p:nvPr/>
        </p:nvSpPr>
        <p:spPr bwMode="auto">
          <a:xfrm rot="16200000">
            <a:off x="7073424" y="1385729"/>
            <a:ext cx="228600" cy="2519362"/>
          </a:xfrm>
          <a:prstGeom prst="leftBrace">
            <a:avLst>
              <a:gd name="adj1" fmla="val 91840"/>
              <a:gd name="adj2" fmla="val 50000"/>
            </a:avLst>
          </a:prstGeom>
          <a:noFill/>
          <a:ln w="38100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6791643" y="2747010"/>
            <a:ext cx="104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尾数</a:t>
            </a:r>
            <a:endParaRPr kumimoji="1"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1967230" y="2747010"/>
            <a:ext cx="10080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zh-CN" sz="2800" b="1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数符</a:t>
            </a:r>
            <a:endParaRPr kumimoji="1" lang="zh-CN" altLang="en-US" sz="2800" b="1">
              <a:solidFill>
                <a:srgbClr val="0039A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2975293" y="1378585"/>
            <a:ext cx="554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31       30                       23    22                             0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" name="Group 29"/>
          <p:cNvGrpSpPr/>
          <p:nvPr/>
        </p:nvGrpSpPr>
        <p:grpSpPr bwMode="auto">
          <a:xfrm>
            <a:off x="1637823" y="3478848"/>
            <a:ext cx="6084888" cy="798512"/>
            <a:chOff x="0" y="2115"/>
            <a:chExt cx="3833" cy="503"/>
          </a:xfrm>
        </p:grpSpPr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0" y="2251"/>
              <a:ext cx="3833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800" b="1" dirty="0">
                  <a:latin typeface="黑体" panose="02010609060101010101" charset="-122"/>
                  <a:ea typeface="黑体" panose="02010609060101010101" charset="-122"/>
                </a:rPr>
                <a:t>解：</a:t>
              </a:r>
              <a:r>
                <a:rPr kumimoji="1" lang="en-US" altLang="zh-CN" sz="2800" b="1" dirty="0">
                  <a:latin typeface="黑体" panose="02010609060101010101" charset="-122"/>
                  <a:ea typeface="黑体" panose="02010609060101010101" charset="-122"/>
                </a:rPr>
                <a:t>-</a:t>
              </a:r>
              <a:r>
                <a:rPr kumimoji="1" lang="zh-CN" altLang="en-US" sz="2800" b="1" dirty="0">
                  <a:latin typeface="黑体" panose="02010609060101010101" charset="-122"/>
                  <a:ea typeface="黑体" panose="02010609060101010101" charset="-122"/>
                </a:rPr>
                <a:t>（</a:t>
              </a:r>
              <a:r>
                <a:rPr kumimoji="1" lang="en-US" altLang="zh-CN" sz="2800" b="1" dirty="0">
                  <a:latin typeface="黑体" panose="02010609060101010101" charset="-122"/>
                  <a:ea typeface="黑体" panose="02010609060101010101" charset="-122"/>
                </a:rPr>
                <a:t>0.11) = -</a:t>
              </a:r>
              <a:r>
                <a:rPr kumimoji="1" lang="zh-CN" altLang="en-US" sz="2800" b="1" dirty="0">
                  <a:latin typeface="黑体" panose="02010609060101010101" charset="-122"/>
                  <a:ea typeface="黑体" panose="02010609060101010101" charset="-122"/>
                </a:rPr>
                <a:t>（</a:t>
              </a:r>
              <a:r>
                <a:rPr kumimoji="1" lang="en-US" altLang="zh-CN" sz="2800" b="1" dirty="0">
                  <a:latin typeface="黑体" panose="02010609060101010101" charset="-122"/>
                  <a:ea typeface="黑体" panose="02010609060101010101" charset="-122"/>
                </a:rPr>
                <a:t>1 + 0.1</a:t>
              </a:r>
              <a:r>
                <a:rPr kumimoji="1" lang="zh-CN" altLang="en-US" sz="2800" b="1" dirty="0">
                  <a:latin typeface="黑体" panose="02010609060101010101" charset="-122"/>
                  <a:ea typeface="黑体" panose="02010609060101010101" charset="-122"/>
                </a:rPr>
                <a:t>）</a:t>
              </a:r>
              <a:r>
                <a:rPr lang="zh-CN" altLang="en-US" b="1" dirty="0">
                  <a:sym typeface="Symbol" panose="05050102010706020507" pitchFamily="18" charset="2"/>
                </a:rPr>
                <a:t> </a:t>
              </a:r>
              <a:r>
                <a:rPr lang="en-US" altLang="zh-CN" b="1" dirty="0">
                  <a:sym typeface="Symbol" panose="05050102010706020507" pitchFamily="18" charset="2"/>
                </a:rPr>
                <a:t>2</a:t>
              </a:r>
              <a:endParaRPr lang="en-US" altLang="zh-CN" b="1" dirty="0">
                <a:sym typeface="Symbol" panose="05050102010706020507" pitchFamily="18" charset="2"/>
              </a:endParaRPr>
            </a:p>
          </p:txBody>
        </p:sp>
        <p:sp>
          <p:nvSpPr>
            <p:cNvPr id="21" name="Text Box 27"/>
            <p:cNvSpPr txBox="1">
              <a:spLocks noChangeArrowheads="1"/>
            </p:cNvSpPr>
            <p:nvPr/>
          </p:nvSpPr>
          <p:spPr bwMode="auto">
            <a:xfrm>
              <a:off x="1292" y="2387"/>
              <a:ext cx="18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2</a:t>
              </a:r>
              <a:endParaRPr lang="en-US" altLang="zh-CN" sz="1800" b="1"/>
            </a:p>
          </p:txBody>
        </p:sp>
        <p:sp>
          <p:nvSpPr>
            <p:cNvPr id="22" name="Text Box 28"/>
            <p:cNvSpPr txBox="1">
              <a:spLocks noChangeArrowheads="1"/>
            </p:cNvSpPr>
            <p:nvPr/>
          </p:nvSpPr>
          <p:spPr bwMode="auto">
            <a:xfrm>
              <a:off x="3424" y="2115"/>
              <a:ext cx="3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800" b="1"/>
                <a:t>-1</a:t>
              </a:r>
              <a:endParaRPr lang="en-US" altLang="zh-CN" sz="1800" b="1"/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1571148" y="4655594"/>
            <a:ext cx="9144000" cy="34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阶码：阶码 </a:t>
            </a:r>
            <a:r>
              <a:rPr kumimoji="1" lang="en-US" altLang="zh-CN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= </a:t>
            </a:r>
            <a:r>
              <a:rPr kumimoji="1" lang="zh-CN" altLang="en-US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阶码真值 </a:t>
            </a:r>
            <a:r>
              <a:rPr kumimoji="1" lang="en-US" altLang="zh-CN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+ 127= -1+127 = 126 =</a:t>
            </a:r>
            <a:r>
              <a:rPr kumimoji="1" lang="zh-CN" altLang="en-US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kumimoji="1" lang="en-US" altLang="zh-CN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01111110)</a:t>
            </a:r>
            <a:r>
              <a:rPr kumimoji="1" lang="en-US" altLang="zh-CN" sz="2400" b="1" baseline="-25000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kumimoji="1" lang="zh-CN" altLang="en-US" sz="2400" b="1" baseline="-25000" dirty="0">
              <a:solidFill>
                <a:srgbClr val="0039A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auto">
          <a:xfrm>
            <a:off x="1571148" y="5087394"/>
            <a:ext cx="561657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39AC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尾数：原码表示，为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39AC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0.100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39A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0</a:t>
            </a:r>
            <a:endParaRPr kumimoji="1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39AC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8" name="Text Box 30"/>
          <p:cNvSpPr txBox="1">
            <a:spLocks noChangeArrowheads="1"/>
          </p:cNvSpPr>
          <p:nvPr/>
        </p:nvSpPr>
        <p:spPr bwMode="auto">
          <a:xfrm>
            <a:off x="1571148" y="4079331"/>
            <a:ext cx="2233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zh-CN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数符</a:t>
            </a:r>
            <a:r>
              <a:rPr kumimoji="1" lang="zh-CN" altLang="en-US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：为</a:t>
            </a:r>
            <a:r>
              <a:rPr kumimoji="1" lang="en-US" altLang="zh-CN" sz="2400" b="1" dirty="0">
                <a:solidFill>
                  <a:srgbClr val="0039AC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kumimoji="1" lang="en-US" altLang="zh-CN" sz="2400" b="1" dirty="0">
              <a:solidFill>
                <a:srgbClr val="0039A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1571148" y="5601699"/>
            <a:ext cx="6480175" cy="390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该浮点代码为 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1,01111110,100 </a:t>
            </a: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  0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4" grpId="0" animBg="1"/>
      <p:bldP spid="15" grpId="0" animBg="1"/>
      <p:bldP spid="16" grpId="0" autoUpdateAnimBg="0"/>
      <p:bldP spid="17" grpId="0" autoUpdateAnimBg="0"/>
      <p:bldP spid="26" grpId="0" autoUpdateAnimBg="0"/>
      <p:bldP spid="27" grpId="0" autoUpdateAnimBg="0"/>
      <p:bldP spid="28" grpId="0" autoUpdateAnimBg="0"/>
      <p:bldP spid="2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48892" y="648011"/>
            <a:ext cx="10494216" cy="6331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2.已知机器字长8位，有两个十进制X=71，Y=59，请用补码运算求X+Y的结果，分析判断是否发生溢出，并写出标志寄存器中CF、ZF、SF、OF的值。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。。。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=0100 0111,Y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补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=0011 1011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X+Y=1000 0010，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溢出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CF=0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（最高位没有进位）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（结果不等于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  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SF=1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（结果最高位是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            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OF=1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两个正数相加为负数，溢出；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最高位和次高位，一个有进位，一个没有，溢出；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变形补码，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，结果正溢）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01010" y="2280628"/>
            <a:ext cx="28854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00 1000111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  00 0111011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--------------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r"/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01 0000010</a:t>
            </a:r>
            <a:endParaRPr lang="en-US" altLang="zh-CN" sz="2800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658495"/>
            <a:ext cx="10852150" cy="582485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3.写出下列指令在模型机上的读取和执行流程，并指出该指令中源操作数的寻址方式分别是什么？</a:t>
            </a: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。。。取地址方式</a:t>
            </a:r>
            <a:endParaRPr lang="en-US" altLang="zh-CN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（1）MOV (R0)+, R1</a:t>
            </a:r>
            <a:endParaRPr lang="en-US" altLang="zh-CN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FT0   PC—&gt;MAR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FT1   M—&gt;MDR—&gt;IR, PC+1—&gt;PC  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ST0   R1—&gt;C                     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DT0   R0—&gt;MAR                 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DT1   R0+1—&gt;Z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DT2   Z—&gt;R0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ET0   C—&gt;MDR</a:t>
            </a:r>
            <a:endParaRPr lang="zh-CN" altLang="en-US" sz="51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39750" indent="0">
              <a:buNone/>
            </a:pPr>
            <a:r>
              <a:rPr sz="51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ET1   MDR—&gt;M       </a:t>
            </a:r>
            <a:r>
              <a:rPr lang="zh-CN" altLang="en-US" sz="2000" dirty="0"/>
              <a:t>   </a:t>
            </a:r>
            <a:r>
              <a:rPr lang="zh-CN" altLang="en-US" dirty="0"/>
              <a:t>       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2707" y="420378"/>
            <a:ext cx="10852237" cy="53889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4-15  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实模式下，假设（DS）=091DH，（SS）=1E4AH，（AX）=1234H，（BX）=0024H，（CX）=5678H，（BP）=0024H，（SI）=0012H，（DI）=0032H，（09226H）=00F6H，（09228H）=1E40H，（1E4E6H）=091DH。请分别给出下列各指令或程序段的执行结果。。。。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（1）MOV CL,20H[BX][SI]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 [BP][DI],CX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）LEA BX,20H[BX][SI]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22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MOV AX,2[BX]</a:t>
            </a:r>
            <a:endParaRPr lang="zh-CN" altLang="en-US" sz="222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5587365" y="641350"/>
            <a:ext cx="5050155" cy="72618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/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  <a:endParaRPr lang="zh-CN" altLang="en-US"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0421" y="862909"/>
            <a:ext cx="11167690" cy="7293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5-1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DATA SEGMENT </a:t>
            </a:r>
            <a:r>
              <a:rPr lang="zh-CN" altLang="en-US" sz="2400" dirty="0"/>
              <a:t>。。。原题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[</a:t>
            </a:r>
            <a:r>
              <a:rPr lang="zh-CN" altLang="en-US" sz="2400" dirty="0"/>
              <a:t>填空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DA1 DB 12H,34H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DA2 DB 56H,78H </a:t>
            </a:r>
            <a:r>
              <a:rPr lang="zh-CN" altLang="en-US" sz="2400" dirty="0"/>
              <a:t>注释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ADDR DW DA1,DA2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为使</a:t>
            </a:r>
            <a:r>
              <a:rPr lang="en-US" altLang="zh-CN" sz="2400" dirty="0"/>
              <a:t>ADDR+2</a:t>
            </a:r>
            <a:r>
              <a:rPr lang="zh-CN" altLang="en-US" sz="2400" dirty="0"/>
              <a:t>存储单元中存放的内容为</a:t>
            </a:r>
            <a:r>
              <a:rPr lang="en-US" altLang="zh-CN" sz="2400" dirty="0"/>
              <a:t>0022H</a:t>
            </a:r>
            <a:r>
              <a:rPr lang="zh-CN" altLang="en-US" sz="2400" dirty="0"/>
              <a:t>，</a:t>
            </a:r>
            <a:r>
              <a:rPr lang="zh-CN" sz="2400" dirty="0"/>
              <a:t>试用</a:t>
            </a:r>
            <a:r>
              <a:rPr lang="en-US" altLang="zh-CN" sz="2400" dirty="0"/>
              <a:t>2</a:t>
            </a:r>
            <a:r>
              <a:rPr lang="zh-CN" altLang="en-US" sz="2400" dirty="0"/>
              <a:t>种不同的语句填写上面的空格。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xor</a:t>
            </a:r>
            <a:r>
              <a:rPr lang="zh-CN" altLang="en-US" sz="2400" dirty="0"/>
              <a:t>（代码</a:t>
            </a:r>
            <a:r>
              <a:rPr lang="zh-CN" altLang="en-US" sz="2400" dirty="0"/>
              <a:t>语句）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代码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汇编</a:t>
            </a:r>
            <a:r>
              <a:rPr lang="zh-CN" altLang="en-US" sz="2400" dirty="0"/>
              <a:t>语言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判断两个值</a:t>
            </a:r>
            <a:r>
              <a:rPr lang="zh-CN" altLang="en-US" sz="2400" dirty="0"/>
              <a:t>是否相等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jump next </a:t>
            </a:r>
            <a:r>
              <a:rPr lang="zh-CN" altLang="en-US" sz="2400" dirty="0"/>
              <a:t>注释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lum bright="12000"/>
          </a:blip>
          <a:srcRect t="21464"/>
          <a:stretch>
            <a:fillRect/>
          </a:stretch>
        </p:blipFill>
        <p:spPr>
          <a:xfrm>
            <a:off x="2470785" y="5006975"/>
            <a:ext cx="6991985" cy="18192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lum bright="12000"/>
          </a:blip>
          <a:stretch>
            <a:fillRect/>
          </a:stretch>
        </p:blipFill>
        <p:spPr>
          <a:xfrm>
            <a:off x="4788535" y="221615"/>
            <a:ext cx="7053580" cy="41484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979785" y="1996440"/>
            <a:ext cx="749300" cy="6915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/>
              <a:t>001E</a:t>
            </a:r>
            <a:endParaRPr lang="en-US" altLang="zh-CN"/>
          </a:p>
          <a:p>
            <a:pPr>
              <a:lnSpc>
                <a:spcPct val="110000"/>
              </a:lnSpc>
            </a:pPr>
            <a:r>
              <a:rPr lang="en-US" altLang="zh-CN"/>
              <a:t>001F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02884" y="3429000"/>
            <a:ext cx="6958036" cy="101479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/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/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/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/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  <a:endParaRPr lang="zh-CN" altLang="en-US"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6761" y="1095954"/>
            <a:ext cx="11167690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5-6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/>
              <a:t>DB  8  DUP(3  DUP (2),  2 DUP (3))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在上述数据定义中，数据</a:t>
            </a:r>
            <a:r>
              <a:rPr lang="en-US" altLang="zh-CN" sz="2400" dirty="0"/>
              <a:t>0302H</a:t>
            </a:r>
            <a:r>
              <a:rPr lang="zh-CN" altLang="en-US" sz="2400" dirty="0"/>
              <a:t>的字存储单元有多少个？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语法： </a:t>
            </a:r>
            <a:r>
              <a:rPr lang="en-US" altLang="zh-CN" sz="2400" dirty="0">
                <a:solidFill>
                  <a:schemeClr val="bg1"/>
                </a:solidFill>
              </a:rPr>
              <a:t>DB/DW/DD   </a:t>
            </a:r>
            <a:r>
              <a:rPr lang="zh-CN" altLang="en-US" sz="2400" dirty="0">
                <a:solidFill>
                  <a:schemeClr val="bg1"/>
                </a:solidFill>
              </a:rPr>
              <a:t>表达式</a:t>
            </a:r>
            <a:r>
              <a:rPr lang="en-US" altLang="zh-CN" sz="2400" dirty="0">
                <a:solidFill>
                  <a:schemeClr val="bg1"/>
                </a:solidFill>
              </a:rPr>
              <a:t>1   DUP   </a:t>
            </a:r>
            <a:r>
              <a:rPr lang="zh-CN" altLang="en-US" sz="2400" dirty="0">
                <a:solidFill>
                  <a:schemeClr val="bg1"/>
                </a:solidFill>
              </a:rPr>
              <a:t>表达式</a:t>
            </a: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endParaRPr lang="en-US" altLang="zh-CN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</a:rPr>
              <a:t>表达式</a:t>
            </a:r>
            <a:r>
              <a:rPr lang="en-US" altLang="zh-CN" sz="2400" dirty="0">
                <a:solidFill>
                  <a:schemeClr val="bg1"/>
                </a:solidFill>
              </a:rPr>
              <a:t>1</a:t>
            </a:r>
            <a:r>
              <a:rPr lang="zh-CN" altLang="en-US" sz="2400" dirty="0">
                <a:solidFill>
                  <a:schemeClr val="bg1"/>
                </a:solidFill>
              </a:rPr>
              <a:t>为重复次数，表达式</a:t>
            </a:r>
            <a:r>
              <a:rPr lang="en-US" altLang="zh-CN" sz="2400" dirty="0">
                <a:solidFill>
                  <a:schemeClr val="bg1"/>
                </a:solidFill>
              </a:rPr>
              <a:t>2</a:t>
            </a:r>
            <a:r>
              <a:rPr lang="zh-CN" altLang="en-US" sz="2400" dirty="0">
                <a:solidFill>
                  <a:schemeClr val="bg1"/>
                </a:solidFill>
              </a:rPr>
              <a:t>为重复内容。</a:t>
            </a:r>
            <a:r>
              <a:rPr lang="en-US" altLang="zh-CN" sz="2400" dirty="0">
                <a:solidFill>
                  <a:schemeClr val="bg1"/>
                </a:solidFill>
              </a:rPr>
              <a:t>P187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3" t="9895" r="19300" b="12167"/>
          <a:stretch>
            <a:fillRect/>
          </a:stretch>
        </p:blipFill>
        <p:spPr>
          <a:xfrm>
            <a:off x="8291074" y="416011"/>
            <a:ext cx="3623311" cy="5344983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课后题</a:t>
            </a:r>
            <a:r>
              <a:rPr lang="en-US" altLang="zh-CN"/>
              <a:t>6-3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094740"/>
            <a:ext cx="10852150" cy="1680210"/>
          </a:xfrm>
        </p:spPr>
        <p:txBody>
          <a:bodyPr>
            <a:normAutofit fontScale="92500"/>
          </a:bodyPr>
          <a:lstStyle/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某半导体存储容量为15K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，其中固化区8K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，选用EPROM芯片为4K×8位/片；随机读写区7K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位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，可选SRAM芯片有4K×4位/片、2K×4位/片、1K×4位/片。地址总线A15～A0（低），双向数据总线D7～D0（低），R/W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控制读写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。请设计并画出该存储器逻辑图，注明地址分配、片选逻辑式及片选信号。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45465" y="2528570"/>
            <a:ext cx="1110107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152400"/>
            <a:r>
              <a:rPr lang="zh-CN" sz="2000" b="0">
                <a:ea typeface="宋体" panose="02010600030101010101" pitchFamily="2" charset="-122"/>
              </a:rPr>
              <a:t>答：计算芯片数 </a:t>
            </a:r>
            <a:r>
              <a:rPr lang="en-US" sz="2000" b="0">
                <a:latin typeface="Times New Roman" panose="02020603050405020304" charset="0"/>
              </a:rPr>
              <a:t> EPROM</a:t>
            </a:r>
            <a:r>
              <a:rPr lang="zh-CN" sz="2000" b="0">
                <a:ea typeface="宋体" panose="02010600030101010101" pitchFamily="2" charset="-122"/>
              </a:rPr>
              <a:t>选用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4K×8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片的</a:t>
            </a:r>
            <a:r>
              <a:rPr lang="en-US" sz="2000" b="0">
                <a:latin typeface="Times New Roman" panose="02020603050405020304" charset="0"/>
              </a:rPr>
              <a:t>EPROM</a:t>
            </a:r>
            <a:r>
              <a:rPr lang="zh-CN" sz="2000" b="0">
                <a:ea typeface="宋体" panose="02010600030101010101" pitchFamily="2" charset="-122"/>
              </a:rPr>
              <a:t>；</a:t>
            </a:r>
            <a:r>
              <a:rPr lang="en-US" sz="2000" b="0">
                <a:latin typeface="Times New Roman" panose="02020603050405020304" charset="0"/>
              </a:rPr>
              <a:t>SRAM</a:t>
            </a:r>
            <a:r>
              <a:rPr lang="zh-CN" sz="2000" b="0">
                <a:ea typeface="宋体" panose="02010600030101010101" pitchFamily="2" charset="-122"/>
              </a:rPr>
              <a:t>选用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4K×4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片、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</a:t>
            </a:r>
            <a:r>
              <a:rPr lang="en-US" sz="2000" b="0">
                <a:latin typeface="Times New Roman" panose="02020603050405020304" charset="0"/>
              </a:rPr>
              <a:t>2K×4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片、</a:t>
            </a:r>
            <a:r>
              <a:rPr lang="en-US" sz="2000" b="0">
                <a:latin typeface="Times New Roman" panose="02020603050405020304" charset="0"/>
              </a:rPr>
              <a:t>2</a:t>
            </a:r>
            <a:r>
              <a:rPr lang="zh-CN" sz="2000" b="0">
                <a:ea typeface="宋体" panose="02010600030101010101" pitchFamily="2" charset="-122"/>
              </a:rPr>
              <a:t>片的</a:t>
            </a:r>
            <a:r>
              <a:rPr lang="en-US" sz="2000" b="0">
                <a:latin typeface="Times New Roman" panose="02020603050405020304" charset="0"/>
              </a:rPr>
              <a:t>1K×4</a:t>
            </a:r>
            <a:r>
              <a:rPr lang="zh-CN" sz="2000" b="0">
                <a:ea typeface="宋体" panose="02010600030101010101" pitchFamily="2" charset="-122"/>
              </a:rPr>
              <a:t>位</a:t>
            </a:r>
            <a:r>
              <a:rPr lang="en-US" sz="2000" b="0">
                <a:latin typeface="Times New Roman" panose="02020603050405020304" charset="0"/>
              </a:rPr>
              <a:t>/</a:t>
            </a:r>
            <a:r>
              <a:rPr lang="zh-CN" sz="2000" b="0">
                <a:ea typeface="宋体" panose="02010600030101010101" pitchFamily="2" charset="-122"/>
              </a:rPr>
              <a:t>片。</a:t>
            </a:r>
            <a:endParaRPr lang="zh-CN" sz="2000" b="0">
              <a:ea typeface="宋体" panose="02010600030101010101" pitchFamily="2" charset="-122"/>
            </a:endParaRPr>
          </a:p>
          <a:p>
            <a:pPr indent="152400"/>
            <a:r>
              <a:rPr lang="zh-CN" sz="2000" b="0">
                <a:ea typeface="宋体" panose="02010600030101010101" pitchFamily="2" charset="-122"/>
              </a:rPr>
              <a:t>地址分配： </a:t>
            </a:r>
            <a:r>
              <a:rPr lang="en-US" sz="2000" b="0">
                <a:latin typeface="Times New Roman" panose="02020603050405020304" charset="0"/>
              </a:rPr>
              <a:t> </a:t>
            </a:r>
            <a:endParaRPr lang="zh-CN" altLang="en-US" sz="200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216275" y="3114675"/>
          <a:ext cx="7009130" cy="3141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785"/>
                <a:gridCol w="438150"/>
                <a:gridCol w="436245"/>
                <a:gridCol w="438785"/>
                <a:gridCol w="437515"/>
                <a:gridCol w="439420"/>
                <a:gridCol w="438150"/>
                <a:gridCol w="436245"/>
                <a:gridCol w="438785"/>
                <a:gridCol w="438150"/>
                <a:gridCol w="439420"/>
                <a:gridCol w="437515"/>
                <a:gridCol w="436245"/>
                <a:gridCol w="438785"/>
                <a:gridCol w="438150"/>
                <a:gridCol w="438785"/>
              </a:tblGrid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15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14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13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12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10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9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8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7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6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11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X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en-US" altLang="en-US" sz="1000" b="1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 gridSpan="16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……</a:t>
                      </a:r>
                      <a:endParaRPr lang="en-US" altLang="en-US" sz="10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X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0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1">
                          <a:solidFill>
                            <a:srgbClr val="00B0F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B0F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702627" y="662305"/>
          <a:ext cx="2014538" cy="195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6475"/>
                <a:gridCol w="1008063"/>
              </a:tblGrid>
              <a:tr h="279400"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4K×8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4K×8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1K×4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3692525" y="492760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zh-CN" sz="2000" b="0">
                <a:ea typeface="宋体" panose="02010600030101010101" pitchFamily="2" charset="-122"/>
              </a:rPr>
              <a:t>片选逻辑：</a:t>
            </a:r>
            <a:endParaRPr lang="zh-CN" altLang="en-US" sz="2000" b="0">
              <a:ea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450205" y="592455"/>
          <a:ext cx="5575300" cy="2251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7460"/>
                <a:gridCol w="1267460"/>
                <a:gridCol w="1266825"/>
                <a:gridCol w="1773555"/>
              </a:tblGrid>
              <a:tr h="3746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  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芯片容量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芯片地址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片选信号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片选逻辑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r>
                        <a:rPr lang="zh-CN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（</a:t>
                      </a:r>
                      <a:r>
                        <a:rPr lang="en-US" altLang="zh-CN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2^12</a:t>
                      </a:r>
                      <a:r>
                        <a:rPr lang="zh-CN" alt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）</a:t>
                      </a:r>
                      <a:endParaRPr lang="zh-CN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 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CS0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A13A12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0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CS1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A13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A12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4KB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CS2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A12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2KB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A10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 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CS3 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A13A12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A11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1KB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A9</a:t>
                      </a: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～</a:t>
                      </a: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CS4</a:t>
                      </a:r>
                      <a:endParaRPr lang="en-US" altLang="en-US" sz="1200" b="0">
                        <a:solidFill>
                          <a:srgbClr val="FF0000"/>
                        </a:solidFill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A13A12A11</a:t>
                      </a:r>
                      <a:r>
                        <a:rPr lang="en-US" sz="1200" b="0">
                          <a:solidFill>
                            <a:srgbClr val="FF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A10</a:t>
                      </a:r>
                      <a:endParaRPr lang="en-US" altLang="en-US" sz="1200" b="0">
                        <a:latin typeface="Times New Roman" panose="0202060305040502030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96900" y="3159125"/>
            <a:ext cx="15868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000" b="0">
                <a:ea typeface="宋体" panose="02010600030101010101" pitchFamily="2" charset="-122"/>
              </a:rPr>
              <a:t>逻辑框图：</a:t>
            </a:r>
            <a:endParaRPr lang="zh-CN" altLang="en-US" sz="2000" b="0"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96440" y="2954655"/>
            <a:ext cx="8471535" cy="39033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1*i*1"/>
  <p:tag name="KSO_WM_BEAUTIFY_FLAG" val="#wm#"/>
  <p:tag name="KSO_WM_TAG_VERSION" val="1.0"/>
  <p:tag name="KSO_WM_CHIP_GROUPID" val="61b07d62eadd3e7cad1c9f69"/>
  <p:tag name="KSO_WM_CHIP_XID" val="61b201608aab5289f067a9e5"/>
  <p:tag name="KSO_WM_UNIT_DEC_AREA_ID" val="fa4fbd77b2bf4711b924b16abb4633c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9fa6c582b6746239d9b33c0534c6416"/>
</p:tagLst>
</file>

<file path=ppt/tags/tag2.xml><?xml version="1.0" encoding="utf-8"?>
<p:tagLst xmlns:p="http://schemas.openxmlformats.org/presentationml/2006/main">
  <p:tag name="KSO_WM_UNIT_DEFAULT_FONT" val="66;72;2"/>
  <p:tag name="KSO_WM_UNIT_BLOCK" val="0"/>
  <p:tag name="KSO_WM_UNIT_DEC_AREA_ID" val="f55cbd6c30544572b14e90da2501e9ba"/>
  <p:tag name="KSO_WM_UNIT_ISCONTENTSTITLE" val="0"/>
  <p:tag name="KSO_WM_UNIT_ISNUMDGMTITLE" val="0"/>
  <p:tag name="KSO_WM_UNIT_PRESET_TEXT" val="我们的校园生活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  <p:tag name="KSO_WM_TEMPLATE_ASSEMBLE_XID" val="61b954c27d221a2e4b612911"/>
  <p:tag name="KSO_WM_TEMPLATE_ASSEMBLE_GROUPID" val="61b07d62eadd3e7cad1c9f69"/>
</p:tagLst>
</file>

<file path=ppt/tags/tag3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5*i*1"/>
  <p:tag name="KSO_WM_BEAUTIFY_FLAG" val="#wm#"/>
  <p:tag name="KSO_WM_TAG_VERSION" val="1.0"/>
  <p:tag name="KSO_WM_CHIP_GROUPID" val="61b07d62eadd3e7cad1c9f69"/>
  <p:tag name="KSO_WM_CHIP_XID" val="61b201608aab5289f067a9e3"/>
  <p:tag name="KSO_WM_UNIT_DEC_AREA_ID" val="9072ad4634bf41c498d853dd9b01224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074d8dda694467197f4e6d67e8021eb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BLOCK" val="0"/>
  <p:tag name="KSO_WM_UNIT_DEC_AREA_ID" val="b23f4b3f41a347c6a6ac134e5c2d0e5e"/>
  <p:tag name="KSO_WM_UNIT_DEFAULT_FONT" val="60;72;2"/>
  <p:tag name="KSO_WM_CHIP_GROUPID" val="612ee0258ebfb23103c99f75"/>
  <p:tag name="KSO_WM_CHIP_XID" val="612ee0258ebfb23103c99f76"/>
  <p:tag name="KSO_WM_CHIP_FILLAREA_FILL_RULE" val="{&quot;fill_align&quot;:&quot;cm&quot;,&quot;fill_mode&quot;:&quot;adaptive&quot;,&quot;sacle_strategy&quot;:&quot;smart&quot;}"/>
  <p:tag name="KSO_WM_ASSEMBLE_CHIP_INDEX" val="acd17be412594f46a66c4c89ecab2aa8"/>
  <p:tag name="KSO_WM_UNIT_TEXT_FILL_FORE_SCHEMECOLOR_INDEX_BRIGHTNESS" val="0.15"/>
  <p:tag name="KSO_WM_UNIT_TEXT_FILL_FORE_SCHEMECOLOR_INDEX" val="13"/>
  <p:tag name="KSO_WM_UNIT_TEXT_FILL_TYPE" val="1"/>
  <p:tag name="KSO_WM_TEMPLATE_ASSEMBLE_XID" val="61b954c27d221a2e4b6128e0"/>
  <p:tag name="KSO_WM_TEMPLATE_ASSEMBLE_GROUPID" val="61b07d62eadd3e7cad1c9f69"/>
</p:tagLst>
</file>

<file path=ppt/tags/tag6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7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8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3*i*1"/>
  <p:tag name="KSO_WM_BEAUTIFY_FLAG" val="#wm#"/>
  <p:tag name="KSO_WM_TAG_VERSION" val="1.0"/>
  <p:tag name="KSO_WM_CHIP_GROUPID" val="61b07d62eadd3e7cad1c9f69"/>
  <p:tag name="KSO_WM_CHIP_XID" val="61b201608aab5289f067a9e1"/>
  <p:tag name="KSO_WM_UNIT_DEC_AREA_ID" val="fc7701a86b5241d6bb00326da49eb26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0abef9f865640339c3450f82b1494e5"/>
</p:tagLst>
</file>

<file path=ppt/tags/tag9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1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</p:tagLst>
</file>

<file path=ppt/tags/tag12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201608aab5289f067a9e2"/>
  <p:tag name="KSO_WM_UNIT_DEC_AREA_ID" val="eb9d21a448df4852b4ae31a722e2dc15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c4f790088024231b26ebb5b21353ab9"/>
</p:tagLst>
</file>

<file path=ppt/tags/tag13.xml><?xml version="1.0" encoding="utf-8"?>
<p:tagLst xmlns:p="http://schemas.openxmlformats.org/presentationml/2006/main">
  <p:tag name="KSO_WM_UNIT_BLOCK" val="0"/>
  <p:tag name="KSO_WM_UNIT_DEC_AREA_ID" val="f5f22a9eac5042d7b89a4db80b4b4776"/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DEFAULT_FONT" val="66;72;2"/>
  <p:tag name="KSO_WM_CHIP_GROUPID" val="614314e91e630cfd8f11395a"/>
  <p:tag name="KSO_WM_CHIP_XID" val="614314e91e630cfd8f11395b"/>
  <p:tag name="KSO_WM_CHIP_FILLAREA_FILL_RULE" val="{&quot;fill_align&quot;:&quot;cm&quot;,&quot;fill_mode&quot;:&quot;adaptive&quot;,&quot;sacle_strategy&quot;:&quot;smart&quot;}"/>
  <p:tag name="KSO_WM_ASSEMBLE_CHIP_INDEX" val="89c39db8efe94c03b3c326dd1747cce2"/>
  <p:tag name="KSO_WM_UNIT_TEXT_FILL_FORE_SCHEMECOLOR_INDEX_BRIGHTNESS" val="0"/>
  <p:tag name="KSO_WM_UNIT_TEXT_FILL_FORE_SCHEMECOLOR_INDEX" val="13"/>
  <p:tag name="KSO_WM_UNIT_TEXT_FILL_TYPE" val="1"/>
  <p:tag name="KSO_WM_TEMPLATE_ASSEMBLE_XID" val="61b954c2c9524cd5e8bdfb55"/>
  <p:tag name="KSO_WM_TEMPLATE_ASSEMBLE_GROUPID" val="61b07d62eadd3e7cad1c9f69"/>
</p:tagLst>
</file>

<file path=ppt/tags/tag1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7eb0e7195e1647a0931d11d6450b473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8bd44ebcf624eb3bb82c67e22faa9ca"/>
  <p:tag name="KSO_WM_SLIDE_BACKGROUND_TYPE" val="general"/>
</p:tagLst>
</file>

<file path=ppt/tags/tag15.xml><?xml version="1.0" encoding="utf-8"?>
<p:tagLst xmlns:p="http://schemas.openxmlformats.org/presentationml/2006/main">
  <p:tag name="KSO_WM_SLIDE_BACKGROUND_TYPE" val="general"/>
</p:tagLst>
</file>

<file path=ppt/tags/tag16.xml><?xml version="1.0" encoding="utf-8"?>
<p:tagLst xmlns:p="http://schemas.openxmlformats.org/presentationml/2006/main">
  <p:tag name="KSO_WM_SLIDE_BACKGROUND_TYPE" val="general"/>
</p:tagLst>
</file>

<file path=ppt/tags/tag17.xml><?xml version="1.0" encoding="utf-8"?>
<p:tagLst xmlns:p="http://schemas.openxmlformats.org/presentationml/2006/main">
  <p:tag name="KSO_WM_SLIDE_BACKGROUND_TYPE" val="general"/>
</p:tagLst>
</file>

<file path=ppt/tags/tag18.xml><?xml version="1.0" encoding="utf-8"?>
<p:tagLst xmlns:p="http://schemas.openxmlformats.org/presentationml/2006/main">
  <p:tag name="KSO_WM_SLIDE_BACKGROUND_TYPE" val="general"/>
</p:tagLst>
</file>

<file path=ppt/tags/tag19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336d489ff8354fde8fd9db8536a8589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863913b9d508446e95426d501bd36f65"/>
  <p:tag name="KSO_WM_SLIDE_BACKGROUND_TYPE" val="frame"/>
</p:tagLst>
</file>

<file path=ppt/tags/tag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286"/>
  <p:tag name="KSO_WM_CHIP_GROUPID" val="612f6a61c37455bdf62a9584"/>
  <p:tag name="KSO_WM_CHIP_XID" val="612f6a61c37455bdf62a9586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p="http://schemas.openxmlformats.org/presentationml/2006/main">
  <p:tag name="KSO_WM_SLIDE_BACKGROUND_TYPE" val="frame"/>
</p:tagLst>
</file>

<file path=ppt/tags/tag22.xml><?xml version="1.0" encoding="utf-8"?>
<p:tagLst xmlns:p="http://schemas.openxmlformats.org/presentationml/2006/main">
  <p:tag name="KSO_WM_SLIDE_BACKGROUND_TYPE" val="frame"/>
</p:tagLst>
</file>

<file path=ppt/tags/tag23.xml><?xml version="1.0" encoding="utf-8"?>
<p:tagLst xmlns:p="http://schemas.openxmlformats.org/presentationml/2006/main">
  <p:tag name="KSO_WM_SLIDE_BACKGROUND_TYPE" val="frame"/>
</p:tagLst>
</file>

<file path=ppt/tags/tag24.xml><?xml version="1.0" encoding="utf-8"?>
<p:tagLst xmlns:p="http://schemas.openxmlformats.org/presentationml/2006/main">
  <p:tag name="KSO_WM_SLIDE_BACKGROUND_TYPE" val="frame"/>
</p:tagLst>
</file>

<file path=ppt/tags/tag25.xml><?xml version="1.0" encoding="utf-8"?>
<p:tagLst xmlns:p="http://schemas.openxmlformats.org/presentationml/2006/main">
  <p:tag name="KSO_WM_SLIDE_BACKGROUND_TYPE" val="frame"/>
</p:tagLst>
</file>

<file path=ppt/tags/tag26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b8ce8db9a4e849518bd74e925f91a08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e5f1dd0a612403d8944f05b213e91fa"/>
  <p:tag name="KSO_WM_SLIDE_BACKGROUND_TYPE" val="leftRight"/>
</p:tagLst>
</file>

<file path=ppt/tags/tag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.xml><?xml version="1.0" encoding="utf-8"?>
<p:tagLst xmlns:p="http://schemas.openxmlformats.org/presentationml/2006/main">
  <p:tag name="KSO_WM_SLIDE_BACKGROUND_TYPE" val="leftRight"/>
</p:tagLst>
</file>

<file path=ppt/tags/tag29.xml><?xml version="1.0" encoding="utf-8"?>
<p:tagLst xmlns:p="http://schemas.openxmlformats.org/presentationml/2006/main">
  <p:tag name="KSO_WM_SLIDE_BACKGROUND_TYPE" val="leftRight"/>
</p:tagLst>
</file>

<file path=ppt/tags/tag30.xml><?xml version="1.0" encoding="utf-8"?>
<p:tagLst xmlns:p="http://schemas.openxmlformats.org/presentationml/2006/main">
  <p:tag name="KSO_WM_SLIDE_BACKGROUND_TYPE" val="leftRight"/>
</p:tagLst>
</file>

<file path=ppt/tags/tag31.xml><?xml version="1.0" encoding="utf-8"?>
<p:tagLst xmlns:p="http://schemas.openxmlformats.org/presentationml/2006/main">
  <p:tag name="KSO_WM_SLIDE_BACKGROUND_TYPE" val="leftRight"/>
</p:tagLst>
</file>

<file path=ppt/tags/tag32.xml><?xml version="1.0" encoding="utf-8"?>
<p:tagLst xmlns:p="http://schemas.openxmlformats.org/presentationml/2006/main">
  <p:tag name="KSO_WM_SLIDE_BACKGROUND_TYPE" val="leftRight"/>
</p:tagLst>
</file>

<file path=ppt/tags/tag33.xml><?xml version="1.0" encoding="utf-8"?>
<p:tagLst xmlns:p="http://schemas.openxmlformats.org/presentationml/2006/main">
  <p:tag name="KSO_WM_SLIDE_BACKGROUND_TYPE" val="leftRight"/>
</p:tagLst>
</file>

<file path=ppt/tags/tag34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254441f44395496abbb199acc32603f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711a27506084096958fe2b85383011c"/>
  <p:tag name="KSO_WM_SLIDE_BACKGROUND_TYPE" val="topBottom"/>
</p:tagLst>
</file>

<file path=ppt/tags/tag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.xml><?xml version="1.0" encoding="utf-8"?>
<p:tagLst xmlns:p="http://schemas.openxmlformats.org/presentationml/2006/main">
  <p:tag name="KSO_WM_SLIDE_BACKGROUND_TYPE" val="topBottom"/>
</p:tagLst>
</file>

<file path=ppt/tags/tag37.xml><?xml version="1.0" encoding="utf-8"?>
<p:tagLst xmlns:p="http://schemas.openxmlformats.org/presentationml/2006/main">
  <p:tag name="KSO_WM_SLIDE_BACKGROUND_TYPE" val="topBottom"/>
</p:tagLst>
</file>

<file path=ppt/tags/tag38.xml><?xml version="1.0" encoding="utf-8"?>
<p:tagLst xmlns:p="http://schemas.openxmlformats.org/presentationml/2006/main">
  <p:tag name="KSO_WM_SLIDE_BACKGROUND_TYPE" val="topBottom"/>
</p:tagLst>
</file>

<file path=ppt/tags/tag39.xml><?xml version="1.0" encoding="utf-8"?>
<p:tagLst xmlns:p="http://schemas.openxmlformats.org/presentationml/2006/main">
  <p:tag name="KSO_WM_SLIDE_BACKGROUND_TYPE" val="topBottom"/>
</p:tagLst>
</file>

<file path=ppt/tags/tag40.xml><?xml version="1.0" encoding="utf-8"?>
<p:tagLst xmlns:p="http://schemas.openxmlformats.org/presentationml/2006/main">
  <p:tag name="KSO_WM_SLIDE_BACKGROUND_TYPE" val="topBottom"/>
</p:tagLst>
</file>

<file path=ppt/tags/tag41.xml><?xml version="1.0" encoding="utf-8"?>
<p:tagLst xmlns:p="http://schemas.openxmlformats.org/presentationml/2006/main">
  <p:tag name="KSO_WM_SLIDE_BACKGROUND_TYPE" val="topBottom"/>
</p:tagLst>
</file>

<file path=ppt/tags/tag42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d99e53d5217e47d8bfa9a8b396e1b9e3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30d5c35b21740209567d9729d26f0b2"/>
  <p:tag name="KSO_WM_SLIDE_BACKGROUND_TYPE" val="bottomTop"/>
</p:tagLst>
</file>

<file path=ppt/tags/tag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.xml><?xml version="1.0" encoding="utf-8"?>
<p:tagLst xmlns:p="http://schemas.openxmlformats.org/presentationml/2006/main">
  <p:tag name="KSO_WM_SLIDE_BACKGROUND_TYPE" val="bottomTop"/>
</p:tagLst>
</file>

<file path=ppt/tags/tag45.xml><?xml version="1.0" encoding="utf-8"?>
<p:tagLst xmlns:p="http://schemas.openxmlformats.org/presentationml/2006/main">
  <p:tag name="KSO_WM_SLIDE_BACKGROUND_TYPE" val="bottomTop"/>
</p:tagLst>
</file>

<file path=ppt/tags/tag46.xml><?xml version="1.0" encoding="utf-8"?>
<p:tagLst xmlns:p="http://schemas.openxmlformats.org/presentationml/2006/main">
  <p:tag name="KSO_WM_SLIDE_BACKGROUND_TYPE" val="bottomTop"/>
</p:tagLst>
</file>

<file path=ppt/tags/tag47.xml><?xml version="1.0" encoding="utf-8"?>
<p:tagLst xmlns:p="http://schemas.openxmlformats.org/presentationml/2006/main">
  <p:tag name="KSO_WM_SLIDE_BACKGROUND_TYPE" val="bottomTop"/>
</p:tagLst>
</file>

<file path=ppt/tags/tag48.xml><?xml version="1.0" encoding="utf-8"?>
<p:tagLst xmlns:p="http://schemas.openxmlformats.org/presentationml/2006/main">
  <p:tag name="KSO_WM_SLIDE_BACKGROUND_TYPE" val="bottomTop"/>
</p:tagLst>
</file>

<file path=ppt/tags/tag49.xml><?xml version="1.0" encoding="utf-8"?>
<p:tagLst xmlns:p="http://schemas.openxmlformats.org/presentationml/2006/main">
  <p:tag name="KSO_WM_SLIDE_BACKGROUND_TYPE" val="bottomTop"/>
</p:tagLst>
</file>

<file path=ppt/tags/tag5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decdd12d5fe74cc792f8fbce3fb5524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74a59e0e76a48689f6cdd75e4fe0051"/>
  <p:tag name="KSO_WM_SLIDE_BACKGROUND_TYPE" val="navigation"/>
</p:tagLst>
</file>

<file path=ppt/tags/tag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a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2.xml><?xml version="1.0" encoding="utf-8"?>
<p:tagLst xmlns:p="http://schemas.openxmlformats.org/presentationml/2006/main">
  <p:tag name="KSO_WM_SLIDE_BACKGROUND_TYPE" val="navigation"/>
</p:tagLst>
</file>

<file path=ppt/tags/tag53.xml><?xml version="1.0" encoding="utf-8"?>
<p:tagLst xmlns:p="http://schemas.openxmlformats.org/presentationml/2006/main">
  <p:tag name="KSO_WM_SLIDE_BACKGROUND_TYPE" val="navigation"/>
</p:tagLst>
</file>

<file path=ppt/tags/tag54.xml><?xml version="1.0" encoding="utf-8"?>
<p:tagLst xmlns:p="http://schemas.openxmlformats.org/presentationml/2006/main">
  <p:tag name="KSO_WM_SLIDE_BACKGROUND_TYPE" val="navigation"/>
</p:tagLst>
</file>

<file path=ppt/tags/tag55.xml><?xml version="1.0" encoding="utf-8"?>
<p:tagLst xmlns:p="http://schemas.openxmlformats.org/presentationml/2006/main">
  <p:tag name="KSO_WM_SLIDE_BACKGROUND_TYPE" val="navigation"/>
</p:tagLst>
</file>

<file path=ppt/tags/tag56.xml><?xml version="1.0" encoding="utf-8"?>
<p:tagLst xmlns:p="http://schemas.openxmlformats.org/presentationml/2006/main">
  <p:tag name="KSO_WM_SLIDE_BACKGROUND_TYPE" val="navigation"/>
</p:tagLst>
</file>

<file path=ppt/tags/tag57.xml><?xml version="1.0" encoding="utf-8"?>
<p:tagLst xmlns:p="http://schemas.openxmlformats.org/presentationml/2006/main">
  <p:tag name="KSO_WM_SLIDE_BACKGROUND_TYPE" val="navigation"/>
</p:tagLst>
</file>

<file path=ppt/tags/tag58.xml><?xml version="1.0" encoding="utf-8"?>
<p:tagLst xmlns:p="http://schemas.openxmlformats.org/presentationml/2006/main">
  <p:tag name="KSO_WM_SLIDE_BACKGROUND_TYPE" val="navigation"/>
</p:tagLst>
</file>

<file path=ppt/tags/tag59.xml><?xml version="1.0" encoding="utf-8"?>
<p:tagLst xmlns:p="http://schemas.openxmlformats.org/presentationml/2006/main">
  <p:tag name="KSO_WM_SLIDE_BACKGROUND_TYPE" val="navigation"/>
</p:tagLst>
</file>

<file path=ppt/tags/tag60.xml><?xml version="1.0" encoding="utf-8"?>
<p:tagLst xmlns:p="http://schemas.openxmlformats.org/presentationml/2006/main">
  <p:tag name="KSO_WM_UNIT_SUBTYPE" val="v"/>
  <p:tag name="KSO_WM_TEMPLATE_CATEGORY" val="chip"/>
  <p:tag name="KSO_WM_TEMPLATE_INDEX" val="20221188"/>
  <p:tag name="KSO_WM_UNIT_TYPE" val="i"/>
  <p:tag name="KSO_WM_UNIT_INDEX" val="1"/>
  <p:tag name="KSO_WM_UNIT_ID" val="chip20221188_2*i*1"/>
  <p:tag name="KSO_WM_BEAUTIFY_FLAG" val="#wm#"/>
  <p:tag name="KSO_WM_TAG_VERSION" val="1.0"/>
  <p:tag name="KSO_WM_CHIP_GROUPID" val="61b07d62eadd3e7cad1c9f69"/>
  <p:tag name="KSO_WM_CHIP_XID" val="61b1e62aeadd3e7cad1cb8f1"/>
  <p:tag name="KSO_WM_UNIT_DEC_AREA_ID" val="5609d34b6ef14c798e798dcaed47869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0b98b2d0a2304f5e88a2f209fdec2b25"/>
  <p:tag name="KSO_WM_SLIDE_BACKGROUND_TYPE" val="belt"/>
</p:tagLst>
</file>

<file path=ppt/tags/tag6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b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.xml><?xml version="1.0" encoding="utf-8"?>
<p:tagLst xmlns:p="http://schemas.openxmlformats.org/presentationml/2006/main">
  <p:tag name="KSO_WM_SLIDE_BACKGROUND_TYPE" val="belt"/>
</p:tagLst>
</file>

<file path=ppt/tags/tag63.xml><?xml version="1.0" encoding="utf-8"?>
<p:tagLst xmlns:p="http://schemas.openxmlformats.org/presentationml/2006/main">
  <p:tag name="KSO_WM_SLIDE_BACKGROUND_TYPE" val="belt"/>
</p:tagLst>
</file>

<file path=ppt/tags/tag64.xml><?xml version="1.0" encoding="utf-8"?>
<p:tagLst xmlns:p="http://schemas.openxmlformats.org/presentationml/2006/main">
  <p:tag name="KSO_WM_SLIDE_BACKGROUND_TYPE" val="belt"/>
</p:tagLst>
</file>

<file path=ppt/tags/tag65.xml><?xml version="1.0" encoding="utf-8"?>
<p:tagLst xmlns:p="http://schemas.openxmlformats.org/presentationml/2006/main">
  <p:tag name="KSO_WM_SLIDE_BACKGROUND_TYPE" val="belt"/>
</p:tagLst>
</file>

<file path=ppt/tags/tag66.xml><?xml version="1.0" encoding="utf-8"?>
<p:tagLst xmlns:p="http://schemas.openxmlformats.org/presentationml/2006/main">
  <p:tag name="KSO_WM_SLIDE_BACKGROUND_TYPE" val="belt"/>
</p:tagLst>
</file>

<file path=ppt/tags/tag67.xml><?xml version="1.0" encoding="utf-8"?>
<p:tagLst xmlns:p="http://schemas.openxmlformats.org/presentationml/2006/main">
  <p:tag name="KSO_WM_TEMPLATE_CATEGORY" val="custom"/>
  <p:tag name="KSO_WM_TEMPLATE_INDEX" val="20221188"/>
</p:tagLst>
</file>

<file path=ppt/tags/tag68.xml><?xml version="1.0" encoding="utf-8"?>
<p:tagLst xmlns:p="http://schemas.openxmlformats.org/presentationml/2006/main">
  <p:tag name="KSO_WM_TEMPLATE_CATEGORY" val="custom"/>
  <p:tag name="KSO_WM_TEMPLATE_INDEX" val="20221188"/>
</p:tagLst>
</file>

<file path=ppt/tags/tag6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1188"/>
  <p:tag name="KSO_WM_CHIP_COLORING" val="2"/>
</p:tagLst>
</file>

<file path=ppt/tags/tag70.xml><?xml version="1.0" encoding="utf-8"?>
<p:tagLst xmlns:p="http://schemas.openxmlformats.org/presentationml/2006/main">
  <p:tag name="KSO_WM_UNIT_DEFAULT_FONT" val="66;72;2"/>
  <p:tag name="KSO_WM_UNIT_BLOCK" val="0"/>
  <p:tag name="KSO_WM_UNIT_DEC_AREA_ID" val="f55cbd6c30544572b14e90da2501e9ba"/>
  <p:tag name="KSO_WM_UNIT_ISCONTENTSTITLE" val="0"/>
  <p:tag name="KSO_WM_UNIT_ISNUMDGMTITLE" val="0"/>
  <p:tag name="KSO_WM_UNIT_PRESET_TEXT" val="我们的校园生活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188_1*a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i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TYPE" val="i"/>
  <p:tag name="KSO_WM_UNIT_INDEX" val="1"/>
  <p:tag name="KSO_WM_UNIT_BLOCK" val="0"/>
  <p:tag name="KSO_WM_UNIT_SM_LIMIT_TYPE" val="2"/>
  <p:tag name="KSO_WM_UNIT_DEC_AREA_ID" val="4919109d974749eb9ff8ad58c42428eb"/>
  <p:tag name="KSO_WM_UNIT_DECORATE_INFO" val="{&quot;DecorateInfoH&quot;:{&quot;IsAbs&quot;:false},&quot;DecorateInfoW&quot;:{&quot;IsAbs&quot;:false},&quot;DecorateInfoX&quot;:{&quot;IsAbs&quot;:false,&quot;Pos&quot;:2},&quot;DecorateInfoY&quot;:{&quot;IsAbs&quot;:false,&quot;Pos&quot;:1},&quot;ReferentInfo&quot;:{&quot;Id&quot;:&quot;2362748c66cf429b9b633d442677dee3&quot;,&quot;X&quot;:{&quot;Pos&quot;:0},&quot;Y&quot;:{&quot;Pos&quot;:1}},&quot;whChangeMode&quot;:0}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99735b5ab62549cd9926a9f538f6c19f"/>
  <p:tag name="KSO_WM_UNIT_LINE_FORE_SCHEMECOLOR_INDEX_BRIGHTNESS" val="0"/>
  <p:tag name="KSO_WM_UNIT_LINE_FORE_SCHEMECOLOR_INDEX" val="13"/>
  <p:tag name="KSO_WM_UNIT_LINE_FILL_TYPE" val="2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i*2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TYPE" val="i"/>
  <p:tag name="KSO_WM_UNIT_INDEX" val="2"/>
  <p:tag name="KSO_WM_UNIT_BLOCK" val="0"/>
  <p:tag name="KSO_WM_UNIT_SM_LIMIT_TYPE" val="2"/>
  <p:tag name="KSO_WM_UNIT_DEC_AREA_ID" val="ef6146ae6eeb48438a87c1becef53436"/>
  <p:tag name="KSO_WM_UNIT_DECORATE_INFO" val="{&quot;DecorateInfoH&quot;:{&quot;IsAbs&quot;:false},&quot;DecorateInfoW&quot;:{&quot;IsAbs&quot;:false},&quot;DecorateInfoX&quot;:{&quot;IsAbs&quot;:false,&quot;Pos&quot;:0},&quot;DecorateInfoY&quot;:{&quot;IsAbs&quot;:false,&quot;Pos&quot;:1},&quot;ReferentInfo&quot;:{&quot;Id&quot;:&quot;2362748c66cf429b9b633d442677dee3&quot;,&quot;X&quot;:{&quot;Pos&quot;:2},&quot;Y&quot;:{&quot;Pos&quot;:1}},&quot;whChangeMode&quot;:0}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UNIT_DEC_SUPPORTCHANGEPIC" val="0"/>
  <p:tag name="KSO_WM_UNIT_DEC_CHANGEPICRESERVED" val="0"/>
  <p:tag name="KSO_WM_ASSEMBLE_CHIP_INDEX" val="99735b5ab62549cd9926a9f538f6c19f"/>
  <p:tag name="KSO_WM_UNIT_LINE_FORE_SCHEMECOLOR_INDEX_BRIGHTNESS" val="0"/>
  <p:tag name="KSO_WM_UNIT_LINE_FORE_SCHEMECOLOR_INDEX" val="13"/>
  <p:tag name="KSO_WM_UNIT_LINE_FILL_TYPE" val="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21188_1*f*1"/>
  <p:tag name="KSO_WM_TEMPLATE_CATEGORY" val="custom"/>
  <p:tag name="KSO_WM_TEMPLATE_INDEX" val="20221188"/>
  <p:tag name="KSO_WM_UNIT_LAYERLEVEL" val="1"/>
  <p:tag name="KSO_WM_TAG_VERSION" val="1.0"/>
  <p:tag name="KSO_WM_BEAUTIFY_FLAG" val="#wm#"/>
  <p:tag name="KSO_WM_UNIT_SUBTYPE" val="a"/>
  <p:tag name="KSO_WM_UNIT_PRESET_TEXT" val="单击此处添加文本具体内容"/>
  <p:tag name="KSO_WM_UNIT_NOCLEAR" val="0"/>
  <p:tag name="KSO_WM_UNIT_VALUE" val="17"/>
  <p:tag name="KSO_WM_UNIT_TYPE" val="f"/>
  <p:tag name="KSO_WM_UNIT_INDEX" val="1"/>
  <p:tag name="KSO_WM_UNIT_BLOCK" val="0"/>
  <p:tag name="KSO_WM_UNIT_DEC_AREA_ID" val="2362748c66cf429b9b633d442677dee3"/>
  <p:tag name="KSO_WM_CHIP_GROUPID" val="6184d045a6a891b1f9dbb8ea"/>
  <p:tag name="KSO_WM_CHIP_XID" val="6184d045a6a891b1f9dbb8e7"/>
  <p:tag name="KSO_WM_CHIP_FILLAREA_FILL_RULE" val="{&quot;fill_align&quot;:&quot;cm&quot;,&quot;fill_mode&quot;:&quot;adaptive&quot;,&quot;sacle_strategy&quot;:&quot;smart&quot;}"/>
  <p:tag name="KSO_WM_ASSEMBLE_CHIP_INDEX" val="99735b5ab62549cd9926a9f538f6c19f"/>
  <p:tag name="KSO_WM_UNIT_TEXT_FILL_FORE_SCHEMECOLOR_INDEX_BRIGHTNESS" val="0"/>
  <p:tag name="KSO_WM_UNIT_TEXT_FILL_FORE_SCHEMECOLOR_INDEX" val="13"/>
  <p:tag name="KSO_WM_UNIT_TEXT_FILL_TYPE" val="1"/>
</p:tagLst>
</file>

<file path=ppt/tags/tag74.xml><?xml version="1.0" encoding="utf-8"?>
<p:tagLst xmlns:p="http://schemas.openxmlformats.org/presentationml/2006/main">
  <p:tag name="KSO_WM_SLIDE_ID" val="custom20221188_1"/>
  <p:tag name="KSO_WM_TEMPLATE_SUBCATEGORY" val="21"/>
  <p:tag name="KSO_WM_TEMPLATE_MASTER_TYPE" val="1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1188"/>
  <p:tag name="KSO_WM_SLIDE_LAYOUT" val="a_f"/>
  <p:tag name="KSO_WM_SLIDE_LAYOUT_CNT" val="1_2"/>
  <p:tag name="KSO_WM_CHIP_INFOS" val="{&quot;type&quot;:0,&quot;layout_type&quot;:&quot;1_NF_C_28&quot;,&quot;layout_feature&quot;:1,&quot;aspect_ratio&quot;:&quot;16:9&quot;,&quot;bg_feature&quot;:&quot;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itle&quot;,&quot;sectionTitle&quot;,&quot;endPage&quot;],&quot;useType&quot;:[&quot;ppt&quot;]}"/>
  <p:tag name="KSO_WM_CHIP_XID" val="618880f404b8904ebc644efc"/>
  <p:tag name="KSO_WM_CHIP_FILLPROP" val="[[{&quot;text_align&quot;:&quot;cm&quot;,&quot;text_direction&quot;:&quot;horizontal&quot;,&quot;support_big_font&quot;:false,&quot;picture_toward&quot;:0,&quot;picture_dockside&quot;:[],&quot;fill_id&quot;:&quot;1128234afb36477d8bcef739186f1162&quot;,&quot;fill_align&quot;:&quot;cm&quot;,&quot;chip_types&quot;:[&quot;header&quot;]}]]"/>
  <p:tag name="KSO_WM_CHIP_DECFILLPROP" val="[]"/>
  <p:tag name="KSO_WM_CHIP_GROUPID" val="618880f404b8904ebc644efe"/>
  <p:tag name="KSO_WM_SLIDE_LAYOUT_INFO" val="{&quot;id&quot;:&quot;2021-12-15T10:36:54&quot;,&quot;margin&quot;:{&quot;bottom&quot;:5.327558994293213,&quot;left&quot;:7.27256965637207,&quot;right&quot;:7.1554765701293945,&quot;top&quot;:5.964893817901611},&quot;type&quot;:0}"/>
  <p:tag name="KSO_WM_SLIDE_BK_DARK_LIGHT" val="2"/>
  <p:tag name="KSO_WM_SLIDE_BACKGROUND_TYPE" val="general"/>
  <p:tag name="KSO_WM_SLIDE_SUPPORT_FEATURE_TYPE" val="0"/>
  <p:tag name="KSO_WM_SLIDE_TYPE" val="title"/>
  <p:tag name="KSO_WM_TEMPLATE_MASTER_THUMB_INDEX" val="13"/>
  <p:tag name="KSO_WM_CHIP_COLORING" val="2"/>
  <p:tag name="KSO_WM_SLIDE_SUBTYPE" val="pureTxt"/>
  <p:tag name="KSO_WM_TEMPLATE_ASSEMBLE_XID" val="61b954c27d221a2e4b612911"/>
  <p:tag name="KSO_WM_TEMPLATE_ASSEMBLE_GROUPID" val="61b07d62eadd3e7cad1c9f69"/>
  <p:tag name="KSO_WM_TEMPLATE_THUMBS_INDEX" val="1、2、3、4、7、40"/>
  <p:tag name="KSO_WM_SPECIAL_SOURCE" val="bdnull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86.xml><?xml version="1.0" encoding="utf-8"?>
<p:tagLst xmlns:p="http://schemas.openxmlformats.org/presentationml/2006/main">
  <p:tag name="KSO_WM_SPECIAL_SOURCE" val="bdnull"/>
</p:tagLst>
</file>

<file path=ppt/tags/tag87.xml><?xml version="1.0" encoding="utf-8"?>
<p:tagLst xmlns:p="http://schemas.openxmlformats.org/presentationml/2006/main">
  <p:tag name="KSO_WM_SPECIAL_SOURCE" val="bdnull"/>
</p:tagLst>
</file>

<file path=ppt/tags/tag88.xml><?xml version="1.0" encoding="utf-8"?>
<p:tagLst xmlns:p="http://schemas.openxmlformats.org/presentationml/2006/main">
  <p:tag name="KSO_WM_UNIT_TABLE_BEAUTIFY" val="smartTable{fc62c892-7696-442d-918a-a3d9bb962ad8}"/>
  <p:tag name="TABLE_ENDDRAG_ORIGIN_RECT" val="551*246"/>
  <p:tag name="TABLE_ENDDRAG_RECT" val="253*245*551*246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0.xml><?xml version="1.0" encoding="utf-8"?>
<p:tagLst xmlns:p="http://schemas.openxmlformats.org/presentationml/2006/main">
  <p:tag name="KSO_WM_UNIT_TABLE_BEAUTIFY" val="smartTable{849f6d88-8675-4a0c-a669-ca05d9b614a9}"/>
</p:tagLst>
</file>

<file path=ppt/tags/tag91.xml><?xml version="1.0" encoding="utf-8"?>
<p:tagLst xmlns:p="http://schemas.openxmlformats.org/presentationml/2006/main">
  <p:tag name="KSO_WM_UNIT_TABLE_BEAUTIFY" val="smartTable{66d825fa-435d-41e8-8349-8ee4e620dd80}"/>
  <p:tag name="TABLE_ENDDRAG_ORIGIN_RECT" val="439*177"/>
  <p:tag name="TABLE_ENDDRAG_RECT" val="429*46*439*177"/>
</p:tagLst>
</file>

<file path=ppt/tags/tag92.xml><?xml version="1.0" encoding="utf-8"?>
<p:tagLst xmlns:p="http://schemas.openxmlformats.org/presentationml/2006/main">
  <p:tag name="KSO_WM_UNIT_PLACING_PICTURE_USER_VIEWPORT" val="{&quot;height&quot;:6147,&quot;width&quot;:13341}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21188"/>
  <p:tag name="KSO_WM_SPECIAL_SOURCE" val="bdnull"/>
</p:tagLst>
</file>

<file path=ppt/tags/tag94.xml><?xml version="1.0" encoding="utf-8"?>
<p:tagLst xmlns:p="http://schemas.openxmlformats.org/presentationml/2006/main">
  <p:tag name="KSO_DOCER_TEMPLATE_OPEN_ONCE_MARK" val="1"/>
  <p:tag name="COMMONDATA" val="eyJoZGlkIjoiNGNmMTdlZTc0NTUyNjAxMjk5MjA0NzQ0ZDIzZWM1OTAifQ=="/>
  <p:tag name="KSO_WPP_MARK_KEY" val="878bb638-cf8c-4196-8407-eb0712420233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4A5F7F"/>
      </a:accent1>
      <a:accent2>
        <a:srgbClr val="565B7E"/>
      </a:accent2>
      <a:accent3>
        <a:srgbClr val="63567A"/>
      </a:accent3>
      <a:accent4>
        <a:srgbClr val="6E5173"/>
      </a:accent4>
      <a:accent5>
        <a:srgbClr val="774D69"/>
      </a:accent5>
      <a:accent6>
        <a:srgbClr val="7E495E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2967</Words>
  <Application>WPS 演示</Application>
  <PresentationFormat>宽屏</PresentationFormat>
  <Paragraphs>783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汉仪君黑-35W</vt:lpstr>
      <vt:lpstr>黑体</vt:lpstr>
      <vt:lpstr>汉仪趣黑简</vt:lpstr>
      <vt:lpstr>优设标题黑</vt:lpstr>
      <vt:lpstr>Wingdings 2</vt:lpstr>
      <vt:lpstr>Symbol</vt:lpstr>
      <vt:lpstr>Times New Roman</vt:lpstr>
      <vt:lpstr>微软雅黑</vt:lpstr>
      <vt:lpstr>Arial Unicode MS</vt:lpstr>
      <vt:lpstr>Calibri</vt:lpstr>
      <vt:lpstr>Office 主题</vt:lpstr>
      <vt:lpstr>1_Office 主题​​</vt:lpstr>
      <vt:lpstr>期末复习</vt:lpstr>
      <vt:lpstr>最终成绩构成</vt:lpstr>
      <vt:lpstr>期末试卷题型</vt:lpstr>
      <vt:lpstr>简答</vt:lpstr>
      <vt:lpstr>简答</vt:lpstr>
      <vt:lpstr>PowerPoint 演示文稿</vt:lpstr>
      <vt:lpstr>PowerPoint 演示文稿</vt:lpstr>
      <vt:lpstr>综合题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课后题6-3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期末复习</dc:title>
  <dc:creator>何晓冰</dc:creator>
  <cp:lastModifiedBy>负熵为生·</cp:lastModifiedBy>
  <cp:revision>37</cp:revision>
  <dcterms:created xsi:type="dcterms:W3CDTF">2022-06-08T08:21:00Z</dcterms:created>
  <dcterms:modified xsi:type="dcterms:W3CDTF">2023-09-14T13:31:42Z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F3D6058552E64B8293C768533EF63BBB</vt:lpwstr>
  </property>
  <property fmtid="{D5CDD505-2E9C-101B-9397-08002B2CF9AE}" pid="3" name="KSOProductBuildVer">
    <vt:lpwstr>2052-12.1.0.15374</vt:lpwstr>
  </property>
</Properties>
</file>